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12192000" cy="6858000"/>
  <p:embeddedFontLst>
    <p:embeddedFont>
      <p:font typeface="Inter"/>
      <p:regular r:id="rId24"/>
      <p:bold r:id="rId25"/>
      <p:italic r:id="rId26"/>
      <p:boldItalic r:id="rId27"/>
    </p:embeddedFont>
    <p:embeddedFont>
      <p:font typeface="Tahoma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30" roundtripDataSignature="AMtx7miBurmLxb1iF8Aa+BGNScz4Av6R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59B66E9-D3FF-4525-8101-91DAEDBC5747}">
  <a:tblStyle styleId="{B59B66E9-D3FF-4525-8101-91DAEDBC574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Inter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Tahoma-regular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Tahoma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title"/>
          </p:nvPr>
        </p:nvSpPr>
        <p:spPr>
          <a:xfrm>
            <a:off x="4450461" y="1780539"/>
            <a:ext cx="3291077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200">
                <a:solidFill>
                  <a:srgbClr val="F9F9F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body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15125" y="2609850"/>
            <a:ext cx="1619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2850" y="3228975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0825" y="37338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2850" y="4352925"/>
            <a:ext cx="10477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0"/>
          <p:cNvSpPr txBox="1"/>
          <p:nvPr>
            <p:ph type="title"/>
          </p:nvPr>
        </p:nvSpPr>
        <p:spPr>
          <a:xfrm>
            <a:off x="4450461" y="1780539"/>
            <a:ext cx="3291077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200">
                <a:solidFill>
                  <a:srgbClr val="F9F9F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200">
                <a:solidFill>
                  <a:srgbClr val="F9F9F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/>
          <p:nvPr>
            <p:ph type="title"/>
          </p:nvPr>
        </p:nvSpPr>
        <p:spPr>
          <a:xfrm>
            <a:off x="4450461" y="1780539"/>
            <a:ext cx="3291077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200">
                <a:solidFill>
                  <a:srgbClr val="F9F9F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450461" y="1780539"/>
            <a:ext cx="3291077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200" u="none" cap="none" strike="noStrike">
                <a:solidFill>
                  <a:srgbClr val="F9F9F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8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3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2.png"/><Relationship Id="rId10" Type="http://schemas.openxmlformats.org/officeDocument/2006/relationships/image" Target="../media/image29.png"/><Relationship Id="rId9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3.png"/><Relationship Id="rId7" Type="http://schemas.openxmlformats.org/officeDocument/2006/relationships/image" Target="../media/image19.png"/><Relationship Id="rId8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jpg"/><Relationship Id="rId4" Type="http://schemas.openxmlformats.org/officeDocument/2006/relationships/image" Target="../media/image3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Relationship Id="rId4" Type="http://schemas.openxmlformats.org/officeDocument/2006/relationships/image" Target="../media/image24.png"/><Relationship Id="rId11" Type="http://schemas.openxmlformats.org/officeDocument/2006/relationships/image" Target="../media/image45.png"/><Relationship Id="rId10" Type="http://schemas.openxmlformats.org/officeDocument/2006/relationships/image" Target="../media/image35.png"/><Relationship Id="rId9" Type="http://schemas.openxmlformats.org/officeDocument/2006/relationships/image" Target="../media/image34.png"/><Relationship Id="rId5" Type="http://schemas.openxmlformats.org/officeDocument/2006/relationships/image" Target="../media/image20.png"/><Relationship Id="rId6" Type="http://schemas.openxmlformats.org/officeDocument/2006/relationships/image" Target="../media/image27.jpg"/><Relationship Id="rId7" Type="http://schemas.openxmlformats.org/officeDocument/2006/relationships/image" Target="../media/image33.jpg"/><Relationship Id="rId8" Type="http://schemas.openxmlformats.org/officeDocument/2006/relationships/image" Target="../media/image3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Relationship Id="rId4" Type="http://schemas.openxmlformats.org/officeDocument/2006/relationships/image" Target="../media/image20.png"/><Relationship Id="rId5" Type="http://schemas.openxmlformats.org/officeDocument/2006/relationships/image" Target="../media/image36.jpg"/><Relationship Id="rId6" Type="http://schemas.openxmlformats.org/officeDocument/2006/relationships/image" Target="../media/image38.jpg"/><Relationship Id="rId7" Type="http://schemas.openxmlformats.org/officeDocument/2006/relationships/image" Target="../media/image41.png"/><Relationship Id="rId8" Type="http://schemas.openxmlformats.org/officeDocument/2006/relationships/image" Target="../media/image4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4.png"/><Relationship Id="rId4" Type="http://schemas.openxmlformats.org/officeDocument/2006/relationships/image" Target="../media/image39.png"/><Relationship Id="rId10" Type="http://schemas.openxmlformats.org/officeDocument/2006/relationships/image" Target="../media/image49.png"/><Relationship Id="rId9" Type="http://schemas.openxmlformats.org/officeDocument/2006/relationships/image" Target="../media/image50.png"/><Relationship Id="rId5" Type="http://schemas.openxmlformats.org/officeDocument/2006/relationships/image" Target="../media/image42.png"/><Relationship Id="rId6" Type="http://schemas.openxmlformats.org/officeDocument/2006/relationships/image" Target="../media/image40.png"/><Relationship Id="rId7" Type="http://schemas.openxmlformats.org/officeDocument/2006/relationships/image" Target="../media/image48.png"/><Relationship Id="rId8" Type="http://schemas.openxmlformats.org/officeDocument/2006/relationships/image" Target="../media/image4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C181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" name="Google Shape;4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914525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"/>
          <p:cNvSpPr txBox="1"/>
          <p:nvPr/>
        </p:nvSpPr>
        <p:spPr>
          <a:xfrm>
            <a:off x="978535" y="1864740"/>
            <a:ext cx="4369435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59E0A"/>
                </a:solidFill>
                <a:latin typeface="Arial"/>
                <a:ea typeface="Arial"/>
                <a:cs typeface="Arial"/>
                <a:sym typeface="Arial"/>
              </a:rPr>
              <a:t>CAPSTONE_011V — INGENIERÍA EN INFORMÁTICA • DUOC UC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50" name="Google Shape;50;p1"/>
          <p:cNvSpPr txBox="1"/>
          <p:nvPr>
            <p:ph type="title"/>
          </p:nvPr>
        </p:nvSpPr>
        <p:spPr>
          <a:xfrm>
            <a:off x="749934" y="2236152"/>
            <a:ext cx="3745865" cy="758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FerreMundo</a:t>
            </a:r>
            <a:endParaRPr sz="4800"/>
          </a:p>
        </p:txBody>
      </p:sp>
      <p:pic>
        <p:nvPicPr>
          <p:cNvPr descr="image.png" id="51" name="Google Shape;5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48615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"/>
          <p:cNvSpPr txBox="1"/>
          <p:nvPr/>
        </p:nvSpPr>
        <p:spPr>
          <a:xfrm>
            <a:off x="749934" y="3050857"/>
            <a:ext cx="4285615" cy="608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5D2D1"/>
                </a:solidFill>
                <a:latin typeface="Tahoma"/>
                <a:ea typeface="Tahoma"/>
                <a:cs typeface="Tahoma"/>
                <a:sym typeface="Tahoma"/>
              </a:rPr>
              <a:t>Seguimiento del Proyecto — Semana 11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  <a:p>
            <a:pPr indent="0" lvl="0" marL="222250" rtl="0" algn="l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59E0A"/>
                </a:solidFill>
                <a:latin typeface="Arial"/>
                <a:ea typeface="Arial"/>
                <a:cs typeface="Arial"/>
                <a:sym typeface="Arial"/>
              </a:rPr>
              <a:t>Fecha de presentación: 23 de octubre de 2026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762000" y="4000500"/>
            <a:ext cx="10668000" cy="9525"/>
          </a:xfrm>
          <a:custGeom>
            <a:rect b="b" l="l" r="r" t="t"/>
            <a:pathLst>
              <a:path extrusionOk="0" h="9525" w="10668000">
                <a:moveTo>
                  <a:pt x="10668000" y="0"/>
                </a:moveTo>
                <a:lnTo>
                  <a:pt x="0" y="0"/>
                </a:lnTo>
                <a:lnTo>
                  <a:pt x="0" y="9525"/>
                </a:lnTo>
                <a:lnTo>
                  <a:pt x="10668000" y="9525"/>
                </a:lnTo>
                <a:lnTo>
                  <a:pt x="10668000" y="0"/>
                </a:lnTo>
                <a:close/>
              </a:path>
            </a:pathLst>
          </a:custGeom>
          <a:solidFill>
            <a:srgbClr val="FFFFFF">
              <a:alpha val="14902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"/>
          <p:cNvSpPr txBox="1"/>
          <p:nvPr/>
        </p:nvSpPr>
        <p:spPr>
          <a:xfrm>
            <a:off x="749934" y="4254200"/>
            <a:ext cx="2646045" cy="735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A8A19E"/>
                </a:solidFill>
                <a:latin typeface="Tahoma"/>
                <a:ea typeface="Tahoma"/>
                <a:cs typeface="Tahoma"/>
                <a:sym typeface="Tahoma"/>
              </a:rPr>
              <a:t>INTEGRANTES DEL EQUIPO</a:t>
            </a:r>
            <a:endParaRPr sz="10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465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9F9F8"/>
                </a:solidFill>
                <a:latin typeface="Arial"/>
                <a:ea typeface="Arial"/>
                <a:cs typeface="Arial"/>
                <a:sym typeface="Arial"/>
              </a:rPr>
              <a:t>Jonatan Gordillo </a:t>
            </a:r>
            <a:r>
              <a:rPr lang="en-US" sz="1100">
                <a:solidFill>
                  <a:srgbClr val="A8A19E"/>
                </a:solidFill>
                <a:latin typeface="Tahoma"/>
                <a:ea typeface="Tahoma"/>
                <a:cs typeface="Tahoma"/>
                <a:sym typeface="Tahoma"/>
              </a:rPr>
              <a:t>(Desarrollo &amp; QA)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59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9F9F8"/>
                </a:solidFill>
                <a:latin typeface="Arial"/>
                <a:ea typeface="Arial"/>
                <a:cs typeface="Arial"/>
                <a:sym typeface="Arial"/>
              </a:rPr>
              <a:t>Alan Cruz </a:t>
            </a:r>
            <a:r>
              <a:rPr lang="en-US" sz="1100">
                <a:solidFill>
                  <a:srgbClr val="A8A19E"/>
                </a:solidFill>
                <a:latin typeface="Tahoma"/>
                <a:ea typeface="Tahoma"/>
                <a:cs typeface="Tahoma"/>
                <a:sym typeface="Tahoma"/>
              </a:rPr>
              <a:t>(Jefe de Proyecto)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8175625" y="4254200"/>
            <a:ext cx="3357879" cy="497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A8A19E"/>
                </a:solidFill>
                <a:latin typeface="Tahoma"/>
                <a:ea typeface="Tahoma"/>
                <a:cs typeface="Tahoma"/>
                <a:sym typeface="Tahoma"/>
              </a:rPr>
              <a:t>PROFESOR GUÍA</a:t>
            </a:r>
            <a:endParaRPr sz="10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465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9F9F8"/>
                </a:solidFill>
                <a:latin typeface="Arial"/>
                <a:ea typeface="Arial"/>
                <a:cs typeface="Arial"/>
                <a:sym typeface="Arial"/>
              </a:rPr>
              <a:t>Fernando Gonzalo Herrera Francesconi</a:t>
            </a:r>
            <a:endParaRPr sz="13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/>
        </p:nvSpPr>
        <p:spPr>
          <a:xfrm>
            <a:off x="673734" y="474090"/>
            <a:ext cx="1433195" cy="18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D97705"/>
                </a:solidFill>
                <a:latin typeface="Arial"/>
                <a:ea typeface="Arial"/>
                <a:cs typeface="Arial"/>
                <a:sym typeface="Arial"/>
              </a:rPr>
              <a:t>MARCO DE TRABAJO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61" name="Google Shape;61;p2"/>
          <p:cNvSpPr txBox="1"/>
          <p:nvPr>
            <p:ph type="title"/>
          </p:nvPr>
        </p:nvSpPr>
        <p:spPr>
          <a:xfrm>
            <a:off x="673734" y="693356"/>
            <a:ext cx="7110095" cy="414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1C1817"/>
                </a:solidFill>
              </a:rPr>
              <a:t>Metodología Waterfall (Cascada tradicional)</a:t>
            </a:r>
            <a:endParaRPr sz="2550"/>
          </a:p>
        </p:txBody>
      </p:sp>
      <p:grpSp>
        <p:nvGrpSpPr>
          <p:cNvPr id="62" name="Google Shape;62;p2"/>
          <p:cNvGrpSpPr/>
          <p:nvPr/>
        </p:nvGrpSpPr>
        <p:grpSpPr>
          <a:xfrm>
            <a:off x="685800" y="1333499"/>
            <a:ext cx="10820400" cy="1047751"/>
            <a:chOff x="685800" y="1333499"/>
            <a:chExt cx="10820400" cy="1047751"/>
          </a:xfrm>
        </p:grpSpPr>
        <p:sp>
          <p:nvSpPr>
            <p:cNvPr id="63" name="Google Shape;63;p2"/>
            <p:cNvSpPr/>
            <p:nvPr/>
          </p:nvSpPr>
          <p:spPr>
            <a:xfrm>
              <a:off x="685800" y="1333500"/>
              <a:ext cx="10820400" cy="1047750"/>
            </a:xfrm>
            <a:custGeom>
              <a:rect b="b" l="l" r="r" t="t"/>
              <a:pathLst>
                <a:path extrusionOk="0" h="1047750" w="10820400">
                  <a:moveTo>
                    <a:pt x="10743946" y="0"/>
                  </a:moveTo>
                  <a:lnTo>
                    <a:pt x="76479" y="0"/>
                  </a:lnTo>
                  <a:lnTo>
                    <a:pt x="46709" y="6016"/>
                  </a:lnTo>
                  <a:lnTo>
                    <a:pt x="22399" y="22415"/>
                  </a:lnTo>
                  <a:lnTo>
                    <a:pt x="6009" y="46720"/>
                  </a:lnTo>
                  <a:lnTo>
                    <a:pt x="0" y="76453"/>
                  </a:lnTo>
                  <a:lnTo>
                    <a:pt x="0" y="971296"/>
                  </a:lnTo>
                  <a:lnTo>
                    <a:pt x="6009" y="1001029"/>
                  </a:lnTo>
                  <a:lnTo>
                    <a:pt x="22399" y="1025334"/>
                  </a:lnTo>
                  <a:lnTo>
                    <a:pt x="46709" y="1041733"/>
                  </a:lnTo>
                  <a:lnTo>
                    <a:pt x="76479" y="1047750"/>
                  </a:lnTo>
                  <a:lnTo>
                    <a:pt x="10743946" y="1047750"/>
                  </a:lnTo>
                  <a:lnTo>
                    <a:pt x="10773679" y="1041733"/>
                  </a:lnTo>
                  <a:lnTo>
                    <a:pt x="10797984" y="1025334"/>
                  </a:lnTo>
                  <a:lnTo>
                    <a:pt x="10814383" y="1001029"/>
                  </a:lnTo>
                  <a:lnTo>
                    <a:pt x="10820400" y="971296"/>
                  </a:lnTo>
                  <a:lnTo>
                    <a:pt x="10820400" y="76453"/>
                  </a:lnTo>
                  <a:lnTo>
                    <a:pt x="10814383" y="46720"/>
                  </a:lnTo>
                  <a:lnTo>
                    <a:pt x="10797984" y="22415"/>
                  </a:lnTo>
                  <a:lnTo>
                    <a:pt x="10773679" y="6016"/>
                  </a:lnTo>
                  <a:lnTo>
                    <a:pt x="10743946" y="0"/>
                  </a:lnTo>
                  <a:close/>
                </a:path>
              </a:pathLst>
            </a:custGeom>
            <a:solidFill>
              <a:srgbClr val="FFFA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685800" y="1333499"/>
              <a:ext cx="10820400" cy="1047750"/>
            </a:xfrm>
            <a:custGeom>
              <a:rect b="b" l="l" r="r" t="t"/>
              <a:pathLst>
                <a:path extrusionOk="0" h="1047750" w="10820400">
                  <a:moveTo>
                    <a:pt x="10820400" y="1038225"/>
                  </a:moveTo>
                  <a:lnTo>
                    <a:pt x="0" y="1038225"/>
                  </a:lnTo>
                  <a:lnTo>
                    <a:pt x="0" y="1047750"/>
                  </a:lnTo>
                  <a:lnTo>
                    <a:pt x="10820400" y="1047750"/>
                  </a:lnTo>
                  <a:lnTo>
                    <a:pt x="10820400" y="1038225"/>
                  </a:lnTo>
                  <a:close/>
                </a:path>
                <a:path extrusionOk="0" h="1047750" w="10820400">
                  <a:moveTo>
                    <a:pt x="108204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0820400" y="9525"/>
                  </a:lnTo>
                  <a:lnTo>
                    <a:pt x="10820400" y="0"/>
                  </a:lnTo>
                  <a:close/>
                </a:path>
              </a:pathLst>
            </a:custGeom>
            <a:solidFill>
              <a:srgbClr val="FCE68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685800" y="1333500"/>
              <a:ext cx="47625" cy="1047750"/>
            </a:xfrm>
            <a:custGeom>
              <a:rect b="b" l="l" r="r" t="t"/>
              <a:pathLst>
                <a:path extrusionOk="0" h="1047750" w="47625">
                  <a:moveTo>
                    <a:pt x="47625" y="0"/>
                  </a:moveTo>
                  <a:lnTo>
                    <a:pt x="0" y="0"/>
                  </a:lnTo>
                  <a:lnTo>
                    <a:pt x="0" y="1047750"/>
                  </a:lnTo>
                  <a:lnTo>
                    <a:pt x="47625" y="1047750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D9770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11496675" y="1333500"/>
              <a:ext cx="9525" cy="1047750"/>
            </a:xfrm>
            <a:custGeom>
              <a:rect b="b" l="l" r="r" t="t"/>
              <a:pathLst>
                <a:path extrusionOk="0" h="1047750" w="9525">
                  <a:moveTo>
                    <a:pt x="9525" y="0"/>
                  </a:moveTo>
                  <a:lnTo>
                    <a:pt x="0" y="0"/>
                  </a:lnTo>
                  <a:lnTo>
                    <a:pt x="0" y="1047750"/>
                  </a:lnTo>
                  <a:lnTo>
                    <a:pt x="9525" y="104775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CE68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" name="Google Shape;67;p2"/>
          <p:cNvSpPr txBox="1"/>
          <p:nvPr/>
        </p:nvSpPr>
        <p:spPr>
          <a:xfrm>
            <a:off x="949960" y="1461445"/>
            <a:ext cx="7521575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7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D97705"/>
                </a:solidFill>
                <a:latin typeface="Arial"/>
                <a:ea typeface="Arial"/>
                <a:cs typeface="Arial"/>
                <a:sym typeface="Arial"/>
              </a:rPr>
              <a:t>DEFINICIÓN METODOLÓGICA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78350E"/>
                </a:solidFill>
                <a:latin typeface="Tahoma"/>
                <a:ea typeface="Tahoma"/>
                <a:cs typeface="Tahoma"/>
                <a:sym typeface="Tahoma"/>
              </a:rPr>
              <a:t>“Waterfall es una metodología de desarrollo secuencial, donde cada etapa se planifica y completa</a:t>
            </a:r>
            <a:endParaRPr sz="12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78350E"/>
                </a:solidFill>
                <a:latin typeface="Tahoma"/>
                <a:ea typeface="Tahoma"/>
                <a:cs typeface="Tahoma"/>
                <a:sym typeface="Tahoma"/>
              </a:rPr>
              <a:t>antes de avanzar a la siguiente”.</a:t>
            </a:r>
            <a:endParaRPr sz="12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68" name="Google Shape;68;p2"/>
          <p:cNvGrpSpPr/>
          <p:nvPr/>
        </p:nvGrpSpPr>
        <p:grpSpPr>
          <a:xfrm>
            <a:off x="9301226" y="1547875"/>
            <a:ext cx="1971695" cy="285750"/>
            <a:chOff x="9301226" y="1547875"/>
            <a:chExt cx="1971695" cy="285750"/>
          </a:xfrm>
        </p:grpSpPr>
        <p:sp>
          <p:nvSpPr>
            <p:cNvPr id="69" name="Google Shape;69;p2"/>
            <p:cNvSpPr/>
            <p:nvPr/>
          </p:nvSpPr>
          <p:spPr>
            <a:xfrm>
              <a:off x="9301246" y="1547875"/>
              <a:ext cx="1971675" cy="285750"/>
            </a:xfrm>
            <a:custGeom>
              <a:rect b="b" l="l" r="r" t="t"/>
              <a:pathLst>
                <a:path extrusionOk="0" h="285750" w="1971675">
                  <a:moveTo>
                    <a:pt x="1828779" y="0"/>
                  </a:moveTo>
                  <a:lnTo>
                    <a:pt x="142854" y="0"/>
                  </a:lnTo>
                  <a:lnTo>
                    <a:pt x="97661" y="7275"/>
                  </a:lnTo>
                  <a:lnTo>
                    <a:pt x="58437" y="27541"/>
                  </a:lnTo>
                  <a:lnTo>
                    <a:pt x="27521" y="58457"/>
                  </a:lnTo>
                  <a:lnTo>
                    <a:pt x="7255" y="97682"/>
                  </a:lnTo>
                  <a:lnTo>
                    <a:pt x="0" y="142875"/>
                  </a:lnTo>
                  <a:lnTo>
                    <a:pt x="7288" y="188018"/>
                  </a:lnTo>
                  <a:lnTo>
                    <a:pt x="27548" y="227237"/>
                  </a:lnTo>
                  <a:lnTo>
                    <a:pt x="58452" y="258171"/>
                  </a:lnTo>
                  <a:lnTo>
                    <a:pt x="97668" y="278462"/>
                  </a:lnTo>
                  <a:lnTo>
                    <a:pt x="142854" y="285750"/>
                  </a:lnTo>
                  <a:lnTo>
                    <a:pt x="1828779" y="285750"/>
                  </a:lnTo>
                  <a:lnTo>
                    <a:pt x="1873923" y="278462"/>
                  </a:lnTo>
                  <a:lnTo>
                    <a:pt x="1913142" y="258171"/>
                  </a:lnTo>
                  <a:lnTo>
                    <a:pt x="1944076" y="227237"/>
                  </a:lnTo>
                  <a:lnTo>
                    <a:pt x="1964366" y="188018"/>
                  </a:lnTo>
                  <a:lnTo>
                    <a:pt x="1971654" y="142875"/>
                  </a:lnTo>
                  <a:lnTo>
                    <a:pt x="1964366" y="97682"/>
                  </a:lnTo>
                  <a:lnTo>
                    <a:pt x="1944076" y="58457"/>
                  </a:lnTo>
                  <a:lnTo>
                    <a:pt x="1913142" y="27541"/>
                  </a:lnTo>
                  <a:lnTo>
                    <a:pt x="1873923" y="7275"/>
                  </a:lnTo>
                  <a:lnTo>
                    <a:pt x="1828779" y="0"/>
                  </a:lnTo>
                  <a:close/>
                </a:path>
              </a:pathLst>
            </a:custGeom>
            <a:solidFill>
              <a:srgbClr val="FDF3C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9301226" y="1547875"/>
              <a:ext cx="1971675" cy="285750"/>
            </a:xfrm>
            <a:custGeom>
              <a:rect b="b" l="l" r="r" t="t"/>
              <a:pathLst>
                <a:path extrusionOk="0" h="285750" w="1971675">
                  <a:moveTo>
                    <a:pt x="0" y="142875"/>
                  </a:moveTo>
                  <a:lnTo>
                    <a:pt x="7275" y="97682"/>
                  </a:lnTo>
                  <a:lnTo>
                    <a:pt x="27541" y="58457"/>
                  </a:lnTo>
                  <a:lnTo>
                    <a:pt x="58457" y="27541"/>
                  </a:lnTo>
                  <a:lnTo>
                    <a:pt x="97682" y="7275"/>
                  </a:lnTo>
                  <a:lnTo>
                    <a:pt x="142875" y="0"/>
                  </a:lnTo>
                  <a:lnTo>
                    <a:pt x="1828800" y="0"/>
                  </a:lnTo>
                  <a:lnTo>
                    <a:pt x="1873943" y="7275"/>
                  </a:lnTo>
                  <a:lnTo>
                    <a:pt x="1913162" y="27541"/>
                  </a:lnTo>
                  <a:lnTo>
                    <a:pt x="1944096" y="58457"/>
                  </a:lnTo>
                  <a:lnTo>
                    <a:pt x="1964387" y="97682"/>
                  </a:lnTo>
                  <a:lnTo>
                    <a:pt x="1971675" y="142875"/>
                  </a:lnTo>
                  <a:lnTo>
                    <a:pt x="1964387" y="188018"/>
                  </a:lnTo>
                  <a:lnTo>
                    <a:pt x="1944096" y="227237"/>
                  </a:lnTo>
                  <a:lnTo>
                    <a:pt x="1913162" y="258171"/>
                  </a:lnTo>
                  <a:lnTo>
                    <a:pt x="1873943" y="278462"/>
                  </a:lnTo>
                  <a:lnTo>
                    <a:pt x="1828800" y="285750"/>
                  </a:lnTo>
                  <a:lnTo>
                    <a:pt x="142875" y="285750"/>
                  </a:lnTo>
                  <a:lnTo>
                    <a:pt x="97682" y="278461"/>
                  </a:lnTo>
                  <a:lnTo>
                    <a:pt x="58457" y="258163"/>
                  </a:lnTo>
                  <a:lnTo>
                    <a:pt x="27541" y="227210"/>
                  </a:lnTo>
                  <a:lnTo>
                    <a:pt x="7275" y="187953"/>
                  </a:lnTo>
                  <a:lnTo>
                    <a:pt x="0" y="142748"/>
                  </a:lnTo>
                  <a:close/>
                </a:path>
              </a:pathLst>
            </a:custGeom>
            <a:noFill/>
            <a:ln cap="flat" cmpd="sng" w="9525">
              <a:solidFill>
                <a:srgbClr val="F59E0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" name="Google Shape;71;p2"/>
          <p:cNvSpPr txBox="1"/>
          <p:nvPr/>
        </p:nvSpPr>
        <p:spPr>
          <a:xfrm>
            <a:off x="9456166" y="1587436"/>
            <a:ext cx="1676400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92400D"/>
                </a:solidFill>
                <a:latin typeface="Arial"/>
                <a:ea typeface="Arial"/>
                <a:cs typeface="Arial"/>
                <a:sym typeface="Arial"/>
              </a:rPr>
              <a:t>Duración total: 18 semanas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" name="Google Shape;72;p2"/>
          <p:cNvGrpSpPr/>
          <p:nvPr/>
        </p:nvGrpSpPr>
        <p:grpSpPr>
          <a:xfrm>
            <a:off x="8796401" y="1890776"/>
            <a:ext cx="2476520" cy="285750"/>
            <a:chOff x="8796401" y="1890776"/>
            <a:chExt cx="2476520" cy="285750"/>
          </a:xfrm>
        </p:grpSpPr>
        <p:sp>
          <p:nvSpPr>
            <p:cNvPr id="73" name="Google Shape;73;p2"/>
            <p:cNvSpPr/>
            <p:nvPr/>
          </p:nvSpPr>
          <p:spPr>
            <a:xfrm>
              <a:off x="8796421" y="1890776"/>
              <a:ext cx="2476500" cy="285750"/>
            </a:xfrm>
            <a:custGeom>
              <a:rect b="b" l="l" r="r" t="t"/>
              <a:pathLst>
                <a:path extrusionOk="0" h="285750" w="2476500">
                  <a:moveTo>
                    <a:pt x="2333604" y="0"/>
                  </a:moveTo>
                  <a:lnTo>
                    <a:pt x="142854" y="0"/>
                  </a:lnTo>
                  <a:lnTo>
                    <a:pt x="97661" y="7275"/>
                  </a:lnTo>
                  <a:lnTo>
                    <a:pt x="58437" y="27541"/>
                  </a:lnTo>
                  <a:lnTo>
                    <a:pt x="27521" y="58457"/>
                  </a:lnTo>
                  <a:lnTo>
                    <a:pt x="7255" y="97682"/>
                  </a:lnTo>
                  <a:lnTo>
                    <a:pt x="0" y="142875"/>
                  </a:lnTo>
                  <a:lnTo>
                    <a:pt x="7288" y="188018"/>
                  </a:lnTo>
                  <a:lnTo>
                    <a:pt x="27548" y="227237"/>
                  </a:lnTo>
                  <a:lnTo>
                    <a:pt x="58452" y="258171"/>
                  </a:lnTo>
                  <a:lnTo>
                    <a:pt x="97668" y="278462"/>
                  </a:lnTo>
                  <a:lnTo>
                    <a:pt x="142854" y="285750"/>
                  </a:lnTo>
                  <a:lnTo>
                    <a:pt x="2333477" y="285750"/>
                  </a:lnTo>
                  <a:lnTo>
                    <a:pt x="2378683" y="278462"/>
                  </a:lnTo>
                  <a:lnTo>
                    <a:pt x="2417939" y="258171"/>
                  </a:lnTo>
                  <a:lnTo>
                    <a:pt x="2448893" y="227237"/>
                  </a:lnTo>
                  <a:lnTo>
                    <a:pt x="2469190" y="188018"/>
                  </a:lnTo>
                  <a:lnTo>
                    <a:pt x="2476479" y="142875"/>
                  </a:lnTo>
                  <a:lnTo>
                    <a:pt x="2469191" y="97682"/>
                  </a:lnTo>
                  <a:lnTo>
                    <a:pt x="2448901" y="58457"/>
                  </a:lnTo>
                  <a:lnTo>
                    <a:pt x="2417967" y="27541"/>
                  </a:lnTo>
                  <a:lnTo>
                    <a:pt x="2378748" y="7275"/>
                  </a:lnTo>
                  <a:lnTo>
                    <a:pt x="23336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8796401" y="1890776"/>
              <a:ext cx="2476500" cy="285750"/>
            </a:xfrm>
            <a:custGeom>
              <a:rect b="b" l="l" r="r" t="t"/>
              <a:pathLst>
                <a:path extrusionOk="0" h="285750" w="2476500">
                  <a:moveTo>
                    <a:pt x="0" y="142875"/>
                  </a:moveTo>
                  <a:lnTo>
                    <a:pt x="7275" y="97682"/>
                  </a:lnTo>
                  <a:lnTo>
                    <a:pt x="27541" y="58457"/>
                  </a:lnTo>
                  <a:lnTo>
                    <a:pt x="58457" y="27541"/>
                  </a:lnTo>
                  <a:lnTo>
                    <a:pt x="97682" y="7275"/>
                  </a:lnTo>
                  <a:lnTo>
                    <a:pt x="142875" y="0"/>
                  </a:lnTo>
                  <a:lnTo>
                    <a:pt x="2333625" y="0"/>
                  </a:lnTo>
                  <a:lnTo>
                    <a:pt x="2378768" y="7275"/>
                  </a:lnTo>
                  <a:lnTo>
                    <a:pt x="2417987" y="27541"/>
                  </a:lnTo>
                  <a:lnTo>
                    <a:pt x="2448921" y="58457"/>
                  </a:lnTo>
                  <a:lnTo>
                    <a:pt x="2469212" y="97682"/>
                  </a:lnTo>
                  <a:lnTo>
                    <a:pt x="2476500" y="142875"/>
                  </a:lnTo>
                  <a:lnTo>
                    <a:pt x="2469211" y="188018"/>
                  </a:lnTo>
                  <a:lnTo>
                    <a:pt x="2448913" y="227237"/>
                  </a:lnTo>
                  <a:lnTo>
                    <a:pt x="2417960" y="258171"/>
                  </a:lnTo>
                  <a:lnTo>
                    <a:pt x="2378703" y="278462"/>
                  </a:lnTo>
                  <a:lnTo>
                    <a:pt x="2333498" y="285750"/>
                  </a:lnTo>
                  <a:lnTo>
                    <a:pt x="142875" y="285750"/>
                  </a:lnTo>
                  <a:lnTo>
                    <a:pt x="97682" y="278461"/>
                  </a:lnTo>
                  <a:lnTo>
                    <a:pt x="58457" y="258163"/>
                  </a:lnTo>
                  <a:lnTo>
                    <a:pt x="27541" y="227210"/>
                  </a:lnTo>
                  <a:lnTo>
                    <a:pt x="7275" y="187953"/>
                  </a:lnTo>
                  <a:lnTo>
                    <a:pt x="0" y="142748"/>
                  </a:lnTo>
                  <a:close/>
                </a:path>
              </a:pathLst>
            </a:custGeom>
            <a:noFill/>
            <a:ln cap="flat" cmpd="sng" w="9525">
              <a:solidFill>
                <a:srgbClr val="FCE6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2"/>
          <p:cNvSpPr txBox="1"/>
          <p:nvPr/>
        </p:nvSpPr>
        <p:spPr>
          <a:xfrm>
            <a:off x="8873235" y="1931415"/>
            <a:ext cx="2257425" cy="17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78350E"/>
                </a:solidFill>
                <a:latin typeface="Arial"/>
                <a:ea typeface="Arial"/>
                <a:cs typeface="Arial"/>
                <a:sym typeface="Arial"/>
              </a:rPr>
              <a:t>Fecha actual: 23 de octubre de 2026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673734" y="2663507"/>
            <a:ext cx="3296920" cy="197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65469"/>
                </a:solidFill>
                <a:latin typeface="Arial"/>
                <a:ea typeface="Arial"/>
                <a:cs typeface="Arial"/>
                <a:sym typeface="Arial"/>
              </a:rPr>
              <a:t>SECUENCIA DE LAS 6 ETAPAS DEL PROYECTO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85800" y="3038475"/>
            <a:ext cx="1514475" cy="847725"/>
          </a:xfrm>
          <a:custGeom>
            <a:rect b="b" l="l" r="r" t="t"/>
            <a:pathLst>
              <a:path extrusionOk="0" h="847725" w="1514475">
                <a:moveTo>
                  <a:pt x="1438275" y="0"/>
                </a:moveTo>
                <a:lnTo>
                  <a:pt x="76200" y="0"/>
                </a:lnTo>
                <a:lnTo>
                  <a:pt x="46537" y="5994"/>
                </a:lnTo>
                <a:lnTo>
                  <a:pt x="22317" y="22336"/>
                </a:lnTo>
                <a:lnTo>
                  <a:pt x="5987" y="46559"/>
                </a:lnTo>
                <a:lnTo>
                  <a:pt x="0" y="76200"/>
                </a:lnTo>
                <a:lnTo>
                  <a:pt x="0" y="771525"/>
                </a:lnTo>
                <a:lnTo>
                  <a:pt x="5987" y="801165"/>
                </a:lnTo>
                <a:lnTo>
                  <a:pt x="22317" y="825388"/>
                </a:lnTo>
                <a:lnTo>
                  <a:pt x="46537" y="841730"/>
                </a:lnTo>
                <a:lnTo>
                  <a:pt x="76200" y="847725"/>
                </a:lnTo>
                <a:lnTo>
                  <a:pt x="1438275" y="847725"/>
                </a:lnTo>
                <a:lnTo>
                  <a:pt x="1467915" y="841730"/>
                </a:lnTo>
                <a:lnTo>
                  <a:pt x="1492138" y="825388"/>
                </a:lnTo>
                <a:lnTo>
                  <a:pt x="1508480" y="801165"/>
                </a:lnTo>
                <a:lnTo>
                  <a:pt x="1514475" y="771525"/>
                </a:lnTo>
                <a:lnTo>
                  <a:pt x="1514475" y="76200"/>
                </a:lnTo>
                <a:lnTo>
                  <a:pt x="1508480" y="46559"/>
                </a:lnTo>
                <a:lnTo>
                  <a:pt x="1492138" y="22336"/>
                </a:lnTo>
                <a:lnTo>
                  <a:pt x="1467915" y="5994"/>
                </a:lnTo>
                <a:lnTo>
                  <a:pt x="1438275" y="0"/>
                </a:lnTo>
                <a:close/>
              </a:path>
            </a:pathLst>
          </a:custGeom>
          <a:solidFill>
            <a:srgbClr val="F0F5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 txBox="1"/>
          <p:nvPr/>
        </p:nvSpPr>
        <p:spPr>
          <a:xfrm>
            <a:off x="815022" y="3188017"/>
            <a:ext cx="126555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34154"/>
                </a:solidFill>
                <a:latin typeface="Arial"/>
                <a:ea typeface="Arial"/>
                <a:cs typeface="Arial"/>
                <a:sym typeface="Arial"/>
              </a:rPr>
              <a:t>1. Levantamiento y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0" marR="635" rtl="0" algn="ctr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34154"/>
                </a:solidFill>
                <a:latin typeface="Arial"/>
                <a:ea typeface="Arial"/>
                <a:cs typeface="Arial"/>
                <a:sym typeface="Arial"/>
              </a:rPr>
              <a:t>diseño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Completado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.png" id="79" name="Google Shape;7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5050" y="3381375"/>
            <a:ext cx="857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"/>
          <p:cNvSpPr/>
          <p:nvPr/>
        </p:nvSpPr>
        <p:spPr>
          <a:xfrm>
            <a:off x="2486025" y="3114675"/>
            <a:ext cx="1514475" cy="685800"/>
          </a:xfrm>
          <a:custGeom>
            <a:rect b="b" l="l" r="r" t="t"/>
            <a:pathLst>
              <a:path extrusionOk="0" h="685800" w="1514475">
                <a:moveTo>
                  <a:pt x="1438275" y="0"/>
                </a:moveTo>
                <a:lnTo>
                  <a:pt x="76200" y="0"/>
                </a:lnTo>
                <a:lnTo>
                  <a:pt x="46559" y="5994"/>
                </a:lnTo>
                <a:lnTo>
                  <a:pt x="22336" y="22336"/>
                </a:lnTo>
                <a:lnTo>
                  <a:pt x="5994" y="46559"/>
                </a:lnTo>
                <a:lnTo>
                  <a:pt x="0" y="76200"/>
                </a:lnTo>
                <a:lnTo>
                  <a:pt x="0" y="609600"/>
                </a:lnTo>
                <a:lnTo>
                  <a:pt x="5994" y="639240"/>
                </a:lnTo>
                <a:lnTo>
                  <a:pt x="22336" y="663463"/>
                </a:lnTo>
                <a:lnTo>
                  <a:pt x="46559" y="679805"/>
                </a:lnTo>
                <a:lnTo>
                  <a:pt x="76200" y="685800"/>
                </a:lnTo>
                <a:lnTo>
                  <a:pt x="1438275" y="685800"/>
                </a:lnTo>
                <a:lnTo>
                  <a:pt x="1467915" y="679805"/>
                </a:lnTo>
                <a:lnTo>
                  <a:pt x="1492138" y="663463"/>
                </a:lnTo>
                <a:lnTo>
                  <a:pt x="1508480" y="639240"/>
                </a:lnTo>
                <a:lnTo>
                  <a:pt x="1514475" y="609600"/>
                </a:lnTo>
                <a:lnTo>
                  <a:pt x="1514475" y="76200"/>
                </a:lnTo>
                <a:lnTo>
                  <a:pt x="1508480" y="46559"/>
                </a:lnTo>
                <a:lnTo>
                  <a:pt x="1492138" y="22336"/>
                </a:lnTo>
                <a:lnTo>
                  <a:pt x="1467915" y="5994"/>
                </a:lnTo>
                <a:lnTo>
                  <a:pt x="1438275" y="0"/>
                </a:lnTo>
                <a:close/>
              </a:path>
            </a:pathLst>
          </a:custGeom>
          <a:solidFill>
            <a:srgbClr val="F0F5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"/>
          <p:cNvSpPr txBox="1"/>
          <p:nvPr/>
        </p:nvSpPr>
        <p:spPr>
          <a:xfrm>
            <a:off x="2810891" y="3211385"/>
            <a:ext cx="869950" cy="431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04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34154"/>
                </a:solidFill>
                <a:latin typeface="Arial"/>
                <a:ea typeface="Arial"/>
                <a:cs typeface="Arial"/>
                <a:sym typeface="Arial"/>
              </a:rPr>
              <a:t>2. Desarrollo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10668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Completado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.png"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5275" y="3381375"/>
            <a:ext cx="85725" cy="142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" name="Google Shape;83;p2"/>
          <p:cNvGrpSpPr/>
          <p:nvPr/>
        </p:nvGrpSpPr>
        <p:grpSpPr>
          <a:xfrm>
            <a:off x="4286250" y="3086100"/>
            <a:ext cx="1819275" cy="752475"/>
            <a:chOff x="4286250" y="3086100"/>
            <a:chExt cx="1819275" cy="752475"/>
          </a:xfrm>
        </p:grpSpPr>
        <p:sp>
          <p:nvSpPr>
            <p:cNvPr id="84" name="Google Shape;84;p2"/>
            <p:cNvSpPr/>
            <p:nvPr/>
          </p:nvSpPr>
          <p:spPr>
            <a:xfrm>
              <a:off x="4286250" y="3086100"/>
              <a:ext cx="1819275" cy="752475"/>
            </a:xfrm>
            <a:custGeom>
              <a:rect b="b" l="l" r="r" t="t"/>
              <a:pathLst>
                <a:path extrusionOk="0" h="752475" w="1819275">
                  <a:moveTo>
                    <a:pt x="1743075" y="0"/>
                  </a:moveTo>
                  <a:lnTo>
                    <a:pt x="76200" y="0"/>
                  </a:lnTo>
                  <a:lnTo>
                    <a:pt x="46559" y="5994"/>
                  </a:lnTo>
                  <a:lnTo>
                    <a:pt x="22336" y="22336"/>
                  </a:lnTo>
                  <a:lnTo>
                    <a:pt x="5994" y="46559"/>
                  </a:lnTo>
                  <a:lnTo>
                    <a:pt x="0" y="76200"/>
                  </a:lnTo>
                  <a:lnTo>
                    <a:pt x="0" y="676275"/>
                  </a:lnTo>
                  <a:lnTo>
                    <a:pt x="5994" y="705915"/>
                  </a:lnTo>
                  <a:lnTo>
                    <a:pt x="22336" y="730138"/>
                  </a:lnTo>
                  <a:lnTo>
                    <a:pt x="46559" y="746480"/>
                  </a:lnTo>
                  <a:lnTo>
                    <a:pt x="76200" y="752475"/>
                  </a:lnTo>
                  <a:lnTo>
                    <a:pt x="1743075" y="752475"/>
                  </a:lnTo>
                  <a:lnTo>
                    <a:pt x="1772715" y="746480"/>
                  </a:lnTo>
                  <a:lnTo>
                    <a:pt x="1796938" y="730138"/>
                  </a:lnTo>
                  <a:lnTo>
                    <a:pt x="1813280" y="705915"/>
                  </a:lnTo>
                  <a:lnTo>
                    <a:pt x="1819275" y="676275"/>
                  </a:lnTo>
                  <a:lnTo>
                    <a:pt x="1819275" y="76200"/>
                  </a:lnTo>
                  <a:lnTo>
                    <a:pt x="1813280" y="46559"/>
                  </a:lnTo>
                  <a:lnTo>
                    <a:pt x="1796938" y="22336"/>
                  </a:lnTo>
                  <a:lnTo>
                    <a:pt x="1772715" y="5994"/>
                  </a:lnTo>
                  <a:lnTo>
                    <a:pt x="1743075" y="0"/>
                  </a:lnTo>
                  <a:close/>
                </a:path>
              </a:pathLst>
            </a:custGeom>
            <a:solidFill>
              <a:srgbClr val="FDF3C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4286250" y="3086100"/>
              <a:ext cx="1819275" cy="752475"/>
            </a:xfrm>
            <a:custGeom>
              <a:rect b="b" l="l" r="r" t="t"/>
              <a:pathLst>
                <a:path extrusionOk="0" h="752475" w="1819275">
                  <a:moveTo>
                    <a:pt x="0" y="76200"/>
                  </a:moveTo>
                  <a:lnTo>
                    <a:pt x="5994" y="46559"/>
                  </a:lnTo>
                  <a:lnTo>
                    <a:pt x="22336" y="22336"/>
                  </a:lnTo>
                  <a:lnTo>
                    <a:pt x="46559" y="5994"/>
                  </a:lnTo>
                  <a:lnTo>
                    <a:pt x="76200" y="0"/>
                  </a:lnTo>
                  <a:lnTo>
                    <a:pt x="1743075" y="0"/>
                  </a:lnTo>
                  <a:lnTo>
                    <a:pt x="1772715" y="5994"/>
                  </a:lnTo>
                  <a:lnTo>
                    <a:pt x="1796938" y="22336"/>
                  </a:lnTo>
                  <a:lnTo>
                    <a:pt x="1813280" y="46559"/>
                  </a:lnTo>
                  <a:lnTo>
                    <a:pt x="1819275" y="76200"/>
                  </a:lnTo>
                  <a:lnTo>
                    <a:pt x="1819275" y="676275"/>
                  </a:lnTo>
                  <a:lnTo>
                    <a:pt x="1813280" y="705915"/>
                  </a:lnTo>
                  <a:lnTo>
                    <a:pt x="1796938" y="730138"/>
                  </a:lnTo>
                  <a:lnTo>
                    <a:pt x="1772715" y="746480"/>
                  </a:lnTo>
                  <a:lnTo>
                    <a:pt x="1743075" y="752475"/>
                  </a:lnTo>
                  <a:lnTo>
                    <a:pt x="76200" y="752475"/>
                  </a:lnTo>
                  <a:lnTo>
                    <a:pt x="46559" y="746480"/>
                  </a:lnTo>
                  <a:lnTo>
                    <a:pt x="22336" y="730138"/>
                  </a:lnTo>
                  <a:lnTo>
                    <a:pt x="5994" y="705915"/>
                  </a:lnTo>
                  <a:lnTo>
                    <a:pt x="0" y="676275"/>
                  </a:lnTo>
                  <a:lnTo>
                    <a:pt x="0" y="76200"/>
                  </a:lnTo>
                  <a:close/>
                </a:path>
              </a:pathLst>
            </a:custGeom>
            <a:noFill/>
            <a:ln cap="flat" cmpd="sng" w="19050">
              <a:solidFill>
                <a:srgbClr val="F59E0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" name="Google Shape;86;p2"/>
          <p:cNvSpPr txBox="1"/>
          <p:nvPr/>
        </p:nvSpPr>
        <p:spPr>
          <a:xfrm>
            <a:off x="4601590" y="3171729"/>
            <a:ext cx="1196975" cy="485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92400D"/>
                </a:solidFill>
                <a:latin typeface="Arial"/>
                <a:ea typeface="Arial"/>
                <a:cs typeface="Arial"/>
                <a:sym typeface="Arial"/>
              </a:rPr>
              <a:t>3. Integración ★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63500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B45209"/>
                </a:solidFill>
                <a:latin typeface="Arial"/>
                <a:ea typeface="Arial"/>
                <a:cs typeface="Arial"/>
                <a:sym typeface="Arial"/>
              </a:rPr>
              <a:t>Semana 11 (Actual)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7" name="Google Shape;8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9824" y="3381375"/>
            <a:ext cx="76198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"/>
          <p:cNvSpPr/>
          <p:nvPr/>
        </p:nvSpPr>
        <p:spPr>
          <a:xfrm>
            <a:off x="6391275" y="3114675"/>
            <a:ext cx="1514475" cy="685800"/>
          </a:xfrm>
          <a:custGeom>
            <a:rect b="b" l="l" r="r" t="t"/>
            <a:pathLst>
              <a:path extrusionOk="0" h="685800" w="1514475">
                <a:moveTo>
                  <a:pt x="1438275" y="0"/>
                </a:moveTo>
                <a:lnTo>
                  <a:pt x="76200" y="0"/>
                </a:lnTo>
                <a:lnTo>
                  <a:pt x="46559" y="5994"/>
                </a:lnTo>
                <a:lnTo>
                  <a:pt x="22336" y="22336"/>
                </a:lnTo>
                <a:lnTo>
                  <a:pt x="5994" y="46559"/>
                </a:lnTo>
                <a:lnTo>
                  <a:pt x="0" y="76200"/>
                </a:lnTo>
                <a:lnTo>
                  <a:pt x="0" y="609600"/>
                </a:lnTo>
                <a:lnTo>
                  <a:pt x="5994" y="639240"/>
                </a:lnTo>
                <a:lnTo>
                  <a:pt x="22336" y="663463"/>
                </a:lnTo>
                <a:lnTo>
                  <a:pt x="46559" y="679805"/>
                </a:lnTo>
                <a:lnTo>
                  <a:pt x="76200" y="685800"/>
                </a:lnTo>
                <a:lnTo>
                  <a:pt x="1438275" y="685800"/>
                </a:lnTo>
                <a:lnTo>
                  <a:pt x="1467915" y="679805"/>
                </a:lnTo>
                <a:lnTo>
                  <a:pt x="1492138" y="663463"/>
                </a:lnTo>
                <a:lnTo>
                  <a:pt x="1508480" y="639240"/>
                </a:lnTo>
                <a:lnTo>
                  <a:pt x="1514475" y="609600"/>
                </a:lnTo>
                <a:lnTo>
                  <a:pt x="1514475" y="76200"/>
                </a:lnTo>
                <a:lnTo>
                  <a:pt x="1508480" y="46559"/>
                </a:lnTo>
                <a:lnTo>
                  <a:pt x="1492138" y="22336"/>
                </a:lnTo>
                <a:lnTo>
                  <a:pt x="1467915" y="5994"/>
                </a:lnTo>
                <a:lnTo>
                  <a:pt x="1438275" y="0"/>
                </a:lnTo>
                <a:close/>
              </a:path>
            </a:pathLst>
          </a:custGeom>
          <a:solidFill>
            <a:srgbClr val="F0F5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 txBox="1"/>
          <p:nvPr/>
        </p:nvSpPr>
        <p:spPr>
          <a:xfrm>
            <a:off x="6609968" y="3211385"/>
            <a:ext cx="1082040" cy="431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04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34154"/>
                </a:solidFill>
                <a:latin typeface="Arial"/>
                <a:ea typeface="Arial"/>
                <a:cs typeface="Arial"/>
                <a:sym typeface="Arial"/>
              </a:rPr>
              <a:t>4. QA y pruebas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24511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Planificado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.png" id="90" name="Google Shape;9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0050" y="3381375"/>
            <a:ext cx="76198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/>
          <p:nvPr/>
        </p:nvSpPr>
        <p:spPr>
          <a:xfrm>
            <a:off x="8191500" y="3114675"/>
            <a:ext cx="1514475" cy="685800"/>
          </a:xfrm>
          <a:custGeom>
            <a:rect b="b" l="l" r="r" t="t"/>
            <a:pathLst>
              <a:path extrusionOk="0" h="685800" w="1514475">
                <a:moveTo>
                  <a:pt x="1438275" y="0"/>
                </a:moveTo>
                <a:lnTo>
                  <a:pt x="76200" y="0"/>
                </a:lnTo>
                <a:lnTo>
                  <a:pt x="46559" y="5994"/>
                </a:lnTo>
                <a:lnTo>
                  <a:pt x="22336" y="22336"/>
                </a:lnTo>
                <a:lnTo>
                  <a:pt x="5994" y="46559"/>
                </a:lnTo>
                <a:lnTo>
                  <a:pt x="0" y="76200"/>
                </a:lnTo>
                <a:lnTo>
                  <a:pt x="0" y="609600"/>
                </a:lnTo>
                <a:lnTo>
                  <a:pt x="5994" y="639240"/>
                </a:lnTo>
                <a:lnTo>
                  <a:pt x="22336" y="663463"/>
                </a:lnTo>
                <a:lnTo>
                  <a:pt x="46559" y="679805"/>
                </a:lnTo>
                <a:lnTo>
                  <a:pt x="76200" y="685800"/>
                </a:lnTo>
                <a:lnTo>
                  <a:pt x="1438275" y="685800"/>
                </a:lnTo>
                <a:lnTo>
                  <a:pt x="1467915" y="679805"/>
                </a:lnTo>
                <a:lnTo>
                  <a:pt x="1492138" y="663463"/>
                </a:lnTo>
                <a:lnTo>
                  <a:pt x="1508480" y="639240"/>
                </a:lnTo>
                <a:lnTo>
                  <a:pt x="1514475" y="609600"/>
                </a:lnTo>
                <a:lnTo>
                  <a:pt x="1514475" y="76200"/>
                </a:lnTo>
                <a:lnTo>
                  <a:pt x="1508480" y="46559"/>
                </a:lnTo>
                <a:lnTo>
                  <a:pt x="1492138" y="22336"/>
                </a:lnTo>
                <a:lnTo>
                  <a:pt x="1467915" y="5994"/>
                </a:lnTo>
                <a:lnTo>
                  <a:pt x="1438275" y="0"/>
                </a:lnTo>
                <a:close/>
              </a:path>
            </a:pathLst>
          </a:custGeom>
          <a:solidFill>
            <a:srgbClr val="F0F5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"/>
          <p:cNvSpPr txBox="1"/>
          <p:nvPr/>
        </p:nvSpPr>
        <p:spPr>
          <a:xfrm>
            <a:off x="8490584" y="3211385"/>
            <a:ext cx="933450" cy="431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04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34154"/>
                </a:solidFill>
                <a:latin typeface="Arial"/>
                <a:ea typeface="Arial"/>
                <a:cs typeface="Arial"/>
                <a:sym typeface="Arial"/>
              </a:rPr>
              <a:t>5. Despliegue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16637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Planificado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.png" id="93" name="Google Shape;9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20275" y="3381375"/>
            <a:ext cx="76198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/>
          <p:nvPr/>
        </p:nvSpPr>
        <p:spPr>
          <a:xfrm>
            <a:off x="9991725" y="3114675"/>
            <a:ext cx="1514475" cy="685800"/>
          </a:xfrm>
          <a:custGeom>
            <a:rect b="b" l="l" r="r" t="t"/>
            <a:pathLst>
              <a:path extrusionOk="0" h="685800" w="1514475">
                <a:moveTo>
                  <a:pt x="1438275" y="0"/>
                </a:moveTo>
                <a:lnTo>
                  <a:pt x="76200" y="0"/>
                </a:lnTo>
                <a:lnTo>
                  <a:pt x="46559" y="5994"/>
                </a:lnTo>
                <a:lnTo>
                  <a:pt x="22336" y="22336"/>
                </a:lnTo>
                <a:lnTo>
                  <a:pt x="5994" y="46559"/>
                </a:lnTo>
                <a:lnTo>
                  <a:pt x="0" y="76200"/>
                </a:lnTo>
                <a:lnTo>
                  <a:pt x="0" y="609600"/>
                </a:lnTo>
                <a:lnTo>
                  <a:pt x="5994" y="639240"/>
                </a:lnTo>
                <a:lnTo>
                  <a:pt x="22336" y="663463"/>
                </a:lnTo>
                <a:lnTo>
                  <a:pt x="46559" y="679805"/>
                </a:lnTo>
                <a:lnTo>
                  <a:pt x="76200" y="685800"/>
                </a:lnTo>
                <a:lnTo>
                  <a:pt x="1438275" y="685800"/>
                </a:lnTo>
                <a:lnTo>
                  <a:pt x="1467915" y="679805"/>
                </a:lnTo>
                <a:lnTo>
                  <a:pt x="1492138" y="663463"/>
                </a:lnTo>
                <a:lnTo>
                  <a:pt x="1508480" y="639240"/>
                </a:lnTo>
                <a:lnTo>
                  <a:pt x="1514475" y="609600"/>
                </a:lnTo>
                <a:lnTo>
                  <a:pt x="1514475" y="76200"/>
                </a:lnTo>
                <a:lnTo>
                  <a:pt x="1508480" y="46559"/>
                </a:lnTo>
                <a:lnTo>
                  <a:pt x="1492138" y="22336"/>
                </a:lnTo>
                <a:lnTo>
                  <a:pt x="1467915" y="5994"/>
                </a:lnTo>
                <a:lnTo>
                  <a:pt x="1438275" y="0"/>
                </a:lnTo>
                <a:close/>
              </a:path>
            </a:pathLst>
          </a:custGeom>
          <a:solidFill>
            <a:srgbClr val="F0F5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10446384" y="3211385"/>
            <a:ext cx="618490" cy="431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0475">
            <a:spAutoFit/>
          </a:bodyPr>
          <a:lstStyle/>
          <a:p>
            <a:pPr indent="0" lvl="0" marL="247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34154"/>
                </a:solidFill>
                <a:latin typeface="Arial"/>
                <a:ea typeface="Arial"/>
                <a:cs typeface="Arial"/>
                <a:sym typeface="Arial"/>
              </a:rPr>
              <a:t>6. Cierre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Planificado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96" name="Google Shape;96;p2"/>
          <p:cNvGrpSpPr/>
          <p:nvPr/>
        </p:nvGrpSpPr>
        <p:grpSpPr>
          <a:xfrm>
            <a:off x="690562" y="5624512"/>
            <a:ext cx="5296535" cy="742950"/>
            <a:chOff x="690562" y="5624512"/>
            <a:chExt cx="5296535" cy="742950"/>
          </a:xfrm>
        </p:grpSpPr>
        <p:sp>
          <p:nvSpPr>
            <p:cNvPr id="97" name="Google Shape;97;p2"/>
            <p:cNvSpPr/>
            <p:nvPr/>
          </p:nvSpPr>
          <p:spPr>
            <a:xfrm>
              <a:off x="690562" y="5624512"/>
              <a:ext cx="5296535" cy="742950"/>
            </a:xfrm>
            <a:custGeom>
              <a:rect b="b" l="l" r="r" t="t"/>
              <a:pathLst>
                <a:path extrusionOk="0" h="742950" w="5296535">
                  <a:moveTo>
                    <a:pt x="5219763" y="0"/>
                  </a:moveTo>
                  <a:lnTo>
                    <a:pt x="76200" y="0"/>
                  </a:lnTo>
                  <a:lnTo>
                    <a:pt x="46537" y="5987"/>
                  </a:lnTo>
                  <a:lnTo>
                    <a:pt x="22317" y="22317"/>
                  </a:lnTo>
                  <a:lnTo>
                    <a:pt x="5987" y="46537"/>
                  </a:lnTo>
                  <a:lnTo>
                    <a:pt x="0" y="76200"/>
                  </a:lnTo>
                  <a:lnTo>
                    <a:pt x="0" y="666750"/>
                  </a:lnTo>
                  <a:lnTo>
                    <a:pt x="5987" y="696412"/>
                  </a:lnTo>
                  <a:lnTo>
                    <a:pt x="22317" y="720632"/>
                  </a:lnTo>
                  <a:lnTo>
                    <a:pt x="46537" y="736962"/>
                  </a:lnTo>
                  <a:lnTo>
                    <a:pt x="76200" y="742950"/>
                  </a:lnTo>
                  <a:lnTo>
                    <a:pt x="5219763" y="742950"/>
                  </a:lnTo>
                  <a:lnTo>
                    <a:pt x="5249404" y="736962"/>
                  </a:lnTo>
                  <a:lnTo>
                    <a:pt x="5273627" y="720632"/>
                  </a:lnTo>
                  <a:lnTo>
                    <a:pt x="5289968" y="696412"/>
                  </a:lnTo>
                  <a:lnTo>
                    <a:pt x="5295963" y="666750"/>
                  </a:lnTo>
                  <a:lnTo>
                    <a:pt x="5295963" y="76200"/>
                  </a:lnTo>
                  <a:lnTo>
                    <a:pt x="5289968" y="46537"/>
                  </a:lnTo>
                  <a:lnTo>
                    <a:pt x="5273627" y="22317"/>
                  </a:lnTo>
                  <a:lnTo>
                    <a:pt x="5249404" y="5987"/>
                  </a:lnTo>
                  <a:lnTo>
                    <a:pt x="5219763" y="0"/>
                  </a:lnTo>
                  <a:close/>
                </a:path>
              </a:pathLst>
            </a:custGeom>
            <a:solidFill>
              <a:srgbClr val="F8F9F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690562" y="5624512"/>
              <a:ext cx="5296535" cy="742950"/>
            </a:xfrm>
            <a:custGeom>
              <a:rect b="b" l="l" r="r" t="t"/>
              <a:pathLst>
                <a:path extrusionOk="0" h="742950" w="5296535">
                  <a:moveTo>
                    <a:pt x="0" y="76200"/>
                  </a:move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200" y="0"/>
                  </a:lnTo>
                  <a:lnTo>
                    <a:pt x="5219763" y="0"/>
                  </a:lnTo>
                  <a:lnTo>
                    <a:pt x="5249404" y="5987"/>
                  </a:lnTo>
                  <a:lnTo>
                    <a:pt x="5273627" y="22317"/>
                  </a:lnTo>
                  <a:lnTo>
                    <a:pt x="5289968" y="46537"/>
                  </a:lnTo>
                  <a:lnTo>
                    <a:pt x="5295963" y="76200"/>
                  </a:lnTo>
                  <a:lnTo>
                    <a:pt x="5295963" y="666750"/>
                  </a:lnTo>
                  <a:lnTo>
                    <a:pt x="5289968" y="696412"/>
                  </a:lnTo>
                  <a:lnTo>
                    <a:pt x="5273627" y="720632"/>
                  </a:lnTo>
                  <a:lnTo>
                    <a:pt x="5249404" y="736962"/>
                  </a:lnTo>
                  <a:lnTo>
                    <a:pt x="5219763" y="742950"/>
                  </a:lnTo>
                  <a:lnTo>
                    <a:pt x="76200" y="742950"/>
                  </a:lnTo>
                  <a:lnTo>
                    <a:pt x="46537" y="736962"/>
                  </a:lnTo>
                  <a:lnTo>
                    <a:pt x="22317" y="720632"/>
                  </a:lnTo>
                  <a:lnTo>
                    <a:pt x="5987" y="696412"/>
                  </a:lnTo>
                  <a:lnTo>
                    <a:pt x="0" y="666750"/>
                  </a:lnTo>
                  <a:lnTo>
                    <a:pt x="0" y="76200"/>
                  </a:lnTo>
                  <a:close/>
                </a:path>
              </a:pathLst>
            </a:custGeom>
            <a:noFill/>
            <a:ln cap="flat" cmpd="sng" w="9525">
              <a:solidFill>
                <a:srgbClr val="E1E8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image.png" id="99" name="Google Shape;9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3925" y="5819775"/>
            <a:ext cx="1047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/>
          <p:nvPr/>
        </p:nvSpPr>
        <p:spPr>
          <a:xfrm>
            <a:off x="911860" y="5735387"/>
            <a:ext cx="4487545" cy="456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300">
            <a:spAutoFit/>
          </a:bodyPr>
          <a:lstStyle/>
          <a:p>
            <a:pPr indent="0" lvl="0" marL="1936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293A"/>
                </a:solidFill>
                <a:latin typeface="Arial"/>
                <a:ea typeface="Arial"/>
                <a:cs typeface="Arial"/>
                <a:sym typeface="Arial"/>
              </a:rPr>
              <a:t>Control Secuencial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Validación documental obligatoria antes de avanzar a la siguiente fase.</a:t>
            </a:r>
            <a:endParaRPr sz="10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6215126" y="5624512"/>
            <a:ext cx="5295900" cy="742950"/>
            <a:chOff x="6215126" y="5624512"/>
            <a:chExt cx="5295900" cy="742950"/>
          </a:xfrm>
        </p:grpSpPr>
        <p:sp>
          <p:nvSpPr>
            <p:cNvPr id="102" name="Google Shape;102;p2"/>
            <p:cNvSpPr/>
            <p:nvPr/>
          </p:nvSpPr>
          <p:spPr>
            <a:xfrm>
              <a:off x="6215126" y="5624512"/>
              <a:ext cx="5295900" cy="742950"/>
            </a:xfrm>
            <a:custGeom>
              <a:rect b="b" l="l" r="r" t="t"/>
              <a:pathLst>
                <a:path extrusionOk="0" h="742950" w="5295900">
                  <a:moveTo>
                    <a:pt x="5219700" y="0"/>
                  </a:moveTo>
                  <a:lnTo>
                    <a:pt x="76073" y="0"/>
                  </a:lnTo>
                  <a:lnTo>
                    <a:pt x="46452" y="5987"/>
                  </a:lnTo>
                  <a:lnTo>
                    <a:pt x="22272" y="22317"/>
                  </a:lnTo>
                  <a:lnTo>
                    <a:pt x="5974" y="46537"/>
                  </a:lnTo>
                  <a:lnTo>
                    <a:pt x="0" y="76200"/>
                  </a:lnTo>
                  <a:lnTo>
                    <a:pt x="0" y="666750"/>
                  </a:lnTo>
                  <a:lnTo>
                    <a:pt x="5974" y="696412"/>
                  </a:lnTo>
                  <a:lnTo>
                    <a:pt x="22272" y="720632"/>
                  </a:lnTo>
                  <a:lnTo>
                    <a:pt x="46452" y="736962"/>
                  </a:lnTo>
                  <a:lnTo>
                    <a:pt x="76073" y="742950"/>
                  </a:lnTo>
                  <a:lnTo>
                    <a:pt x="5219700" y="742950"/>
                  </a:lnTo>
                  <a:lnTo>
                    <a:pt x="5249340" y="736962"/>
                  </a:lnTo>
                  <a:lnTo>
                    <a:pt x="5273563" y="720632"/>
                  </a:lnTo>
                  <a:lnTo>
                    <a:pt x="5289905" y="696412"/>
                  </a:lnTo>
                  <a:lnTo>
                    <a:pt x="5295900" y="666750"/>
                  </a:lnTo>
                  <a:lnTo>
                    <a:pt x="5295900" y="76200"/>
                  </a:lnTo>
                  <a:lnTo>
                    <a:pt x="5289905" y="46537"/>
                  </a:lnTo>
                  <a:lnTo>
                    <a:pt x="5273563" y="22317"/>
                  </a:lnTo>
                  <a:lnTo>
                    <a:pt x="5249340" y="5987"/>
                  </a:lnTo>
                  <a:lnTo>
                    <a:pt x="5219700" y="0"/>
                  </a:lnTo>
                  <a:close/>
                </a:path>
              </a:pathLst>
            </a:custGeom>
            <a:solidFill>
              <a:srgbClr val="F8F9F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6215126" y="5624512"/>
              <a:ext cx="5295900" cy="742950"/>
            </a:xfrm>
            <a:custGeom>
              <a:rect b="b" l="l" r="r" t="t"/>
              <a:pathLst>
                <a:path extrusionOk="0" h="742950" w="5295900">
                  <a:moveTo>
                    <a:pt x="0" y="76200"/>
                  </a:moveTo>
                  <a:lnTo>
                    <a:pt x="5974" y="46537"/>
                  </a:lnTo>
                  <a:lnTo>
                    <a:pt x="22272" y="22317"/>
                  </a:lnTo>
                  <a:lnTo>
                    <a:pt x="46452" y="5987"/>
                  </a:lnTo>
                  <a:lnTo>
                    <a:pt x="76073" y="0"/>
                  </a:lnTo>
                  <a:lnTo>
                    <a:pt x="5219700" y="0"/>
                  </a:lnTo>
                  <a:lnTo>
                    <a:pt x="5249340" y="5987"/>
                  </a:lnTo>
                  <a:lnTo>
                    <a:pt x="5273563" y="22317"/>
                  </a:lnTo>
                  <a:lnTo>
                    <a:pt x="5289905" y="46537"/>
                  </a:lnTo>
                  <a:lnTo>
                    <a:pt x="5295900" y="76200"/>
                  </a:lnTo>
                  <a:lnTo>
                    <a:pt x="5295900" y="666750"/>
                  </a:lnTo>
                  <a:lnTo>
                    <a:pt x="5289905" y="696412"/>
                  </a:lnTo>
                  <a:lnTo>
                    <a:pt x="5273563" y="720632"/>
                  </a:lnTo>
                  <a:lnTo>
                    <a:pt x="5249340" y="736962"/>
                  </a:lnTo>
                  <a:lnTo>
                    <a:pt x="5219700" y="742950"/>
                  </a:lnTo>
                  <a:lnTo>
                    <a:pt x="76073" y="742950"/>
                  </a:lnTo>
                  <a:lnTo>
                    <a:pt x="46452" y="736962"/>
                  </a:lnTo>
                  <a:lnTo>
                    <a:pt x="22272" y="720632"/>
                  </a:lnTo>
                  <a:lnTo>
                    <a:pt x="5974" y="696412"/>
                  </a:lnTo>
                  <a:lnTo>
                    <a:pt x="0" y="666750"/>
                  </a:lnTo>
                  <a:lnTo>
                    <a:pt x="0" y="76200"/>
                  </a:lnTo>
                  <a:close/>
                </a:path>
              </a:pathLst>
            </a:custGeom>
            <a:noFill/>
            <a:ln cap="flat" cmpd="sng" w="9525">
              <a:solidFill>
                <a:srgbClr val="E1E8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image.png" id="104" name="Google Shape;10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8425" y="581977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6440804" y="5735387"/>
            <a:ext cx="4279265" cy="456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300">
            <a:spAutoFit/>
          </a:bodyPr>
          <a:lstStyle/>
          <a:p>
            <a:pPr indent="0" lvl="0" marL="231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293A"/>
                </a:solidFill>
                <a:latin typeface="Arial"/>
                <a:ea typeface="Arial"/>
                <a:cs typeface="Arial"/>
                <a:sym typeface="Arial"/>
              </a:rPr>
              <a:t>Trazabilidad del Proyecto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Alineación estricta entre ERS, Modelos UML/BD y Casos de Prueba.</a:t>
            </a:r>
            <a:endParaRPr sz="105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/>
        </p:nvSpPr>
        <p:spPr>
          <a:xfrm>
            <a:off x="406717" y="330517"/>
            <a:ext cx="1628139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D97705"/>
                </a:solidFill>
                <a:latin typeface="Arial"/>
                <a:ea typeface="Arial"/>
                <a:cs typeface="Arial"/>
                <a:sym typeface="Arial"/>
              </a:rPr>
              <a:t>PLANIFICACIÓN GENERAL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111" name="Google Shape;111;p3"/>
          <p:cNvSpPr txBox="1"/>
          <p:nvPr>
            <p:ph type="title"/>
          </p:nvPr>
        </p:nvSpPr>
        <p:spPr>
          <a:xfrm>
            <a:off x="406717" y="492823"/>
            <a:ext cx="4204970" cy="323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1C1817"/>
                </a:solidFill>
              </a:rPr>
              <a:t>Planificación general del proyecto</a:t>
            </a:r>
            <a:endParaRPr sz="1950"/>
          </a:p>
        </p:txBody>
      </p:sp>
      <p:sp>
        <p:nvSpPr>
          <p:cNvPr id="112" name="Google Shape;112;p3"/>
          <p:cNvSpPr txBox="1"/>
          <p:nvPr/>
        </p:nvSpPr>
        <p:spPr>
          <a:xfrm>
            <a:off x="7568565" y="663257"/>
            <a:ext cx="1044575" cy="151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S1–S8 Completadas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8864854" y="655256"/>
            <a:ext cx="1568450" cy="151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★ S11 Semana Actual (23 Oct)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0581005" y="655256"/>
            <a:ext cx="1110615" cy="151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S12–S18 Planificadas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2228850" y="2762250"/>
            <a:ext cx="9525" cy="228600"/>
          </a:xfrm>
          <a:custGeom>
            <a:rect b="b" l="l" r="r" t="t"/>
            <a:pathLst>
              <a:path extrusionOk="0" h="228600" w="9525">
                <a:moveTo>
                  <a:pt x="9525" y="0"/>
                </a:moveTo>
                <a:lnTo>
                  <a:pt x="0" y="0"/>
                </a:lnTo>
                <a:lnTo>
                  <a:pt x="0" y="228600"/>
                </a:lnTo>
                <a:lnTo>
                  <a:pt x="9525" y="228600"/>
                </a:lnTo>
                <a:lnTo>
                  <a:pt x="9525" y="0"/>
                </a:lnTo>
                <a:close/>
              </a:path>
            </a:pathLst>
          </a:custGeom>
          <a:solidFill>
            <a:srgbClr val="3341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3819525" y="2762250"/>
            <a:ext cx="9525" cy="228600"/>
          </a:xfrm>
          <a:custGeom>
            <a:rect b="b" l="l" r="r" t="t"/>
            <a:pathLst>
              <a:path extrusionOk="0" h="228600" w="9525">
                <a:moveTo>
                  <a:pt x="9525" y="0"/>
                </a:moveTo>
                <a:lnTo>
                  <a:pt x="0" y="0"/>
                </a:lnTo>
                <a:lnTo>
                  <a:pt x="0" y="228600"/>
                </a:lnTo>
                <a:lnTo>
                  <a:pt x="9525" y="228600"/>
                </a:lnTo>
                <a:lnTo>
                  <a:pt x="9525" y="0"/>
                </a:lnTo>
                <a:close/>
              </a:path>
            </a:pathLst>
          </a:custGeom>
          <a:solidFill>
            <a:srgbClr val="3341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5934075" y="2762250"/>
            <a:ext cx="9525" cy="228600"/>
          </a:xfrm>
          <a:custGeom>
            <a:rect b="b" l="l" r="r" t="t"/>
            <a:pathLst>
              <a:path extrusionOk="0" h="228600" w="9525">
                <a:moveTo>
                  <a:pt x="9525" y="0"/>
                </a:moveTo>
                <a:lnTo>
                  <a:pt x="0" y="0"/>
                </a:lnTo>
                <a:lnTo>
                  <a:pt x="0" y="228600"/>
                </a:lnTo>
                <a:lnTo>
                  <a:pt x="9525" y="228600"/>
                </a:lnTo>
                <a:lnTo>
                  <a:pt x="9525" y="0"/>
                </a:lnTo>
                <a:close/>
              </a:path>
            </a:pathLst>
          </a:custGeom>
          <a:solidFill>
            <a:srgbClr val="3341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8582025" y="2762250"/>
            <a:ext cx="9525" cy="228600"/>
          </a:xfrm>
          <a:custGeom>
            <a:rect b="b" l="l" r="r" t="t"/>
            <a:pathLst>
              <a:path extrusionOk="0" h="228600" w="9525">
                <a:moveTo>
                  <a:pt x="9525" y="0"/>
                </a:moveTo>
                <a:lnTo>
                  <a:pt x="0" y="0"/>
                </a:lnTo>
                <a:lnTo>
                  <a:pt x="0" y="228600"/>
                </a:lnTo>
                <a:lnTo>
                  <a:pt x="9525" y="228600"/>
                </a:lnTo>
                <a:lnTo>
                  <a:pt x="9525" y="0"/>
                </a:lnTo>
                <a:close/>
              </a:path>
            </a:pathLst>
          </a:custGeom>
          <a:solidFill>
            <a:srgbClr val="3341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10706100" y="2762250"/>
            <a:ext cx="9525" cy="228600"/>
          </a:xfrm>
          <a:custGeom>
            <a:rect b="b" l="l" r="r" t="t"/>
            <a:pathLst>
              <a:path extrusionOk="0" h="228600" w="9525">
                <a:moveTo>
                  <a:pt x="9525" y="0"/>
                </a:moveTo>
                <a:lnTo>
                  <a:pt x="0" y="0"/>
                </a:lnTo>
                <a:lnTo>
                  <a:pt x="0" y="228600"/>
                </a:lnTo>
                <a:lnTo>
                  <a:pt x="9525" y="228600"/>
                </a:lnTo>
                <a:lnTo>
                  <a:pt x="9525" y="0"/>
                </a:lnTo>
                <a:close/>
              </a:path>
            </a:pathLst>
          </a:custGeom>
          <a:solidFill>
            <a:srgbClr val="3341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2228850" y="2990850"/>
            <a:ext cx="9525" cy="266700"/>
          </a:xfrm>
          <a:custGeom>
            <a:rect b="b" l="l" r="r" t="t"/>
            <a:pathLst>
              <a:path extrusionOk="0" h="266700" w="9525">
                <a:moveTo>
                  <a:pt x="9525" y="0"/>
                </a:moveTo>
                <a:lnTo>
                  <a:pt x="0" y="0"/>
                </a:lnTo>
                <a:lnTo>
                  <a:pt x="0" y="266700"/>
                </a:lnTo>
                <a:lnTo>
                  <a:pt x="9525" y="266700"/>
                </a:lnTo>
                <a:lnTo>
                  <a:pt x="9525" y="0"/>
                </a:lnTo>
                <a:close/>
              </a:path>
            </a:pathLst>
          </a:custGeom>
          <a:solidFill>
            <a:srgbClr val="3341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2762250" y="2990850"/>
            <a:ext cx="9525" cy="266700"/>
          </a:xfrm>
          <a:custGeom>
            <a:rect b="b" l="l" r="r" t="t"/>
            <a:pathLst>
              <a:path extrusionOk="0" h="266700" w="9525">
                <a:moveTo>
                  <a:pt x="9525" y="0"/>
                </a:moveTo>
                <a:lnTo>
                  <a:pt x="0" y="0"/>
                </a:lnTo>
                <a:lnTo>
                  <a:pt x="0" y="266700"/>
                </a:lnTo>
                <a:lnTo>
                  <a:pt x="9525" y="266700"/>
                </a:lnTo>
                <a:lnTo>
                  <a:pt x="9525" y="0"/>
                </a:lnTo>
                <a:close/>
              </a:path>
            </a:pathLst>
          </a:custGeom>
          <a:solidFill>
            <a:srgbClr val="3341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3286125" y="2990850"/>
            <a:ext cx="9525" cy="266700"/>
          </a:xfrm>
          <a:custGeom>
            <a:rect b="b" l="l" r="r" t="t"/>
            <a:pathLst>
              <a:path extrusionOk="0" h="266700" w="9525">
                <a:moveTo>
                  <a:pt x="9525" y="0"/>
                </a:moveTo>
                <a:lnTo>
                  <a:pt x="0" y="0"/>
                </a:lnTo>
                <a:lnTo>
                  <a:pt x="0" y="266700"/>
                </a:lnTo>
                <a:lnTo>
                  <a:pt x="9525" y="266700"/>
                </a:lnTo>
                <a:lnTo>
                  <a:pt x="9525" y="0"/>
                </a:lnTo>
                <a:close/>
              </a:path>
            </a:pathLst>
          </a:custGeom>
          <a:solidFill>
            <a:srgbClr val="3341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3819525" y="2990850"/>
            <a:ext cx="9525" cy="266700"/>
          </a:xfrm>
          <a:custGeom>
            <a:rect b="b" l="l" r="r" t="t"/>
            <a:pathLst>
              <a:path extrusionOk="0" h="266700" w="9525">
                <a:moveTo>
                  <a:pt x="9525" y="0"/>
                </a:moveTo>
                <a:lnTo>
                  <a:pt x="0" y="0"/>
                </a:lnTo>
                <a:lnTo>
                  <a:pt x="0" y="266700"/>
                </a:lnTo>
                <a:lnTo>
                  <a:pt x="9525" y="266700"/>
                </a:lnTo>
                <a:lnTo>
                  <a:pt x="9525" y="0"/>
                </a:lnTo>
                <a:close/>
              </a:path>
            </a:pathLst>
          </a:custGeom>
          <a:solidFill>
            <a:srgbClr val="3341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4343400" y="2990850"/>
            <a:ext cx="9525" cy="266700"/>
          </a:xfrm>
          <a:custGeom>
            <a:rect b="b" l="l" r="r" t="t"/>
            <a:pathLst>
              <a:path extrusionOk="0" h="266700" w="9525">
                <a:moveTo>
                  <a:pt x="9525" y="0"/>
                </a:moveTo>
                <a:lnTo>
                  <a:pt x="0" y="0"/>
                </a:lnTo>
                <a:lnTo>
                  <a:pt x="0" y="266700"/>
                </a:lnTo>
                <a:lnTo>
                  <a:pt x="9525" y="266700"/>
                </a:lnTo>
                <a:lnTo>
                  <a:pt x="9525" y="0"/>
                </a:lnTo>
                <a:close/>
              </a:path>
            </a:pathLst>
          </a:custGeom>
          <a:solidFill>
            <a:srgbClr val="3341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4876800" y="2990850"/>
            <a:ext cx="9525" cy="266700"/>
          </a:xfrm>
          <a:custGeom>
            <a:rect b="b" l="l" r="r" t="t"/>
            <a:pathLst>
              <a:path extrusionOk="0" h="266700" w="9525">
                <a:moveTo>
                  <a:pt x="9525" y="0"/>
                </a:moveTo>
                <a:lnTo>
                  <a:pt x="0" y="0"/>
                </a:lnTo>
                <a:lnTo>
                  <a:pt x="0" y="266700"/>
                </a:lnTo>
                <a:lnTo>
                  <a:pt x="9525" y="266700"/>
                </a:lnTo>
                <a:lnTo>
                  <a:pt x="9525" y="0"/>
                </a:lnTo>
                <a:close/>
              </a:path>
            </a:pathLst>
          </a:custGeom>
          <a:solidFill>
            <a:srgbClr val="3341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5410200" y="2990850"/>
            <a:ext cx="9525" cy="266700"/>
          </a:xfrm>
          <a:custGeom>
            <a:rect b="b" l="l" r="r" t="t"/>
            <a:pathLst>
              <a:path extrusionOk="0" h="266700" w="9525">
                <a:moveTo>
                  <a:pt x="9525" y="0"/>
                </a:moveTo>
                <a:lnTo>
                  <a:pt x="0" y="0"/>
                </a:lnTo>
                <a:lnTo>
                  <a:pt x="0" y="266700"/>
                </a:lnTo>
                <a:lnTo>
                  <a:pt x="9525" y="266700"/>
                </a:lnTo>
                <a:lnTo>
                  <a:pt x="9525" y="0"/>
                </a:lnTo>
                <a:close/>
              </a:path>
            </a:pathLst>
          </a:custGeom>
          <a:solidFill>
            <a:srgbClr val="3341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5934075" y="2990850"/>
            <a:ext cx="9525" cy="266700"/>
          </a:xfrm>
          <a:custGeom>
            <a:rect b="b" l="l" r="r" t="t"/>
            <a:pathLst>
              <a:path extrusionOk="0" h="266700" w="9525">
                <a:moveTo>
                  <a:pt x="9525" y="0"/>
                </a:moveTo>
                <a:lnTo>
                  <a:pt x="0" y="0"/>
                </a:lnTo>
                <a:lnTo>
                  <a:pt x="0" y="266700"/>
                </a:lnTo>
                <a:lnTo>
                  <a:pt x="9525" y="266700"/>
                </a:lnTo>
                <a:lnTo>
                  <a:pt x="9525" y="0"/>
                </a:lnTo>
                <a:close/>
              </a:path>
            </a:pathLst>
          </a:custGeom>
          <a:solidFill>
            <a:srgbClr val="3341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6467475" y="2990850"/>
            <a:ext cx="9525" cy="266700"/>
          </a:xfrm>
          <a:custGeom>
            <a:rect b="b" l="l" r="r" t="t"/>
            <a:pathLst>
              <a:path extrusionOk="0" h="266700" w="9525">
                <a:moveTo>
                  <a:pt x="9525" y="0"/>
                </a:moveTo>
                <a:lnTo>
                  <a:pt x="0" y="0"/>
                </a:lnTo>
                <a:lnTo>
                  <a:pt x="0" y="266700"/>
                </a:lnTo>
                <a:lnTo>
                  <a:pt x="9525" y="266700"/>
                </a:lnTo>
                <a:lnTo>
                  <a:pt x="9525" y="0"/>
                </a:lnTo>
                <a:close/>
              </a:path>
            </a:pathLst>
          </a:custGeom>
          <a:solidFill>
            <a:srgbClr val="3341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7000875" y="2990850"/>
            <a:ext cx="9525" cy="266700"/>
          </a:xfrm>
          <a:custGeom>
            <a:rect b="b" l="l" r="r" t="t"/>
            <a:pathLst>
              <a:path extrusionOk="0" h="266700" w="9525">
                <a:moveTo>
                  <a:pt x="9525" y="0"/>
                </a:moveTo>
                <a:lnTo>
                  <a:pt x="0" y="0"/>
                </a:lnTo>
                <a:lnTo>
                  <a:pt x="0" y="266700"/>
                </a:lnTo>
                <a:lnTo>
                  <a:pt x="9525" y="266700"/>
                </a:lnTo>
                <a:lnTo>
                  <a:pt x="9525" y="0"/>
                </a:lnTo>
                <a:close/>
              </a:path>
            </a:pathLst>
          </a:custGeom>
          <a:solidFill>
            <a:srgbClr val="3341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7524750" y="2990850"/>
            <a:ext cx="9525" cy="266700"/>
          </a:xfrm>
          <a:custGeom>
            <a:rect b="b" l="l" r="r" t="t"/>
            <a:pathLst>
              <a:path extrusionOk="0" h="266700" w="9525">
                <a:moveTo>
                  <a:pt x="9525" y="0"/>
                </a:moveTo>
                <a:lnTo>
                  <a:pt x="0" y="0"/>
                </a:lnTo>
                <a:lnTo>
                  <a:pt x="0" y="266700"/>
                </a:lnTo>
                <a:lnTo>
                  <a:pt x="9525" y="266700"/>
                </a:lnTo>
                <a:lnTo>
                  <a:pt x="9525" y="0"/>
                </a:lnTo>
                <a:close/>
              </a:path>
            </a:pathLst>
          </a:custGeom>
          <a:solidFill>
            <a:srgbClr val="3341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8058150" y="2990850"/>
            <a:ext cx="9525" cy="266700"/>
          </a:xfrm>
          <a:custGeom>
            <a:rect b="b" l="l" r="r" t="t"/>
            <a:pathLst>
              <a:path extrusionOk="0" h="266700" w="9525">
                <a:moveTo>
                  <a:pt x="9525" y="0"/>
                </a:moveTo>
                <a:lnTo>
                  <a:pt x="0" y="0"/>
                </a:lnTo>
                <a:lnTo>
                  <a:pt x="0" y="266700"/>
                </a:lnTo>
                <a:lnTo>
                  <a:pt x="9525" y="266700"/>
                </a:lnTo>
                <a:lnTo>
                  <a:pt x="9525" y="0"/>
                </a:lnTo>
                <a:close/>
              </a:path>
            </a:pathLst>
          </a:custGeom>
          <a:solidFill>
            <a:srgbClr val="3341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8582025" y="2990850"/>
            <a:ext cx="9525" cy="266700"/>
          </a:xfrm>
          <a:custGeom>
            <a:rect b="b" l="l" r="r" t="t"/>
            <a:pathLst>
              <a:path extrusionOk="0" h="266700" w="9525">
                <a:moveTo>
                  <a:pt x="9525" y="0"/>
                </a:moveTo>
                <a:lnTo>
                  <a:pt x="0" y="0"/>
                </a:lnTo>
                <a:lnTo>
                  <a:pt x="0" y="266700"/>
                </a:lnTo>
                <a:lnTo>
                  <a:pt x="9525" y="266700"/>
                </a:lnTo>
                <a:lnTo>
                  <a:pt x="9525" y="0"/>
                </a:lnTo>
                <a:close/>
              </a:path>
            </a:pathLst>
          </a:custGeom>
          <a:solidFill>
            <a:srgbClr val="3341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9115425" y="2990850"/>
            <a:ext cx="9525" cy="266700"/>
          </a:xfrm>
          <a:custGeom>
            <a:rect b="b" l="l" r="r" t="t"/>
            <a:pathLst>
              <a:path extrusionOk="0" h="266700" w="9525">
                <a:moveTo>
                  <a:pt x="9525" y="0"/>
                </a:moveTo>
                <a:lnTo>
                  <a:pt x="0" y="0"/>
                </a:lnTo>
                <a:lnTo>
                  <a:pt x="0" y="266700"/>
                </a:lnTo>
                <a:lnTo>
                  <a:pt x="9525" y="266700"/>
                </a:lnTo>
                <a:lnTo>
                  <a:pt x="9525" y="0"/>
                </a:lnTo>
                <a:close/>
              </a:path>
            </a:pathLst>
          </a:custGeom>
          <a:solidFill>
            <a:srgbClr val="3341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9648825" y="2990850"/>
            <a:ext cx="9525" cy="266700"/>
          </a:xfrm>
          <a:custGeom>
            <a:rect b="b" l="l" r="r" t="t"/>
            <a:pathLst>
              <a:path extrusionOk="0" h="266700" w="9525">
                <a:moveTo>
                  <a:pt x="9525" y="0"/>
                </a:moveTo>
                <a:lnTo>
                  <a:pt x="0" y="0"/>
                </a:lnTo>
                <a:lnTo>
                  <a:pt x="0" y="266700"/>
                </a:lnTo>
                <a:lnTo>
                  <a:pt x="9525" y="266700"/>
                </a:lnTo>
                <a:lnTo>
                  <a:pt x="9525" y="0"/>
                </a:lnTo>
                <a:close/>
              </a:path>
            </a:pathLst>
          </a:custGeom>
          <a:solidFill>
            <a:srgbClr val="3341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10172700" y="2990850"/>
            <a:ext cx="9525" cy="266700"/>
          </a:xfrm>
          <a:custGeom>
            <a:rect b="b" l="l" r="r" t="t"/>
            <a:pathLst>
              <a:path extrusionOk="0" h="266700" w="9525">
                <a:moveTo>
                  <a:pt x="9525" y="0"/>
                </a:moveTo>
                <a:lnTo>
                  <a:pt x="0" y="0"/>
                </a:lnTo>
                <a:lnTo>
                  <a:pt x="0" y="266700"/>
                </a:lnTo>
                <a:lnTo>
                  <a:pt x="9525" y="266700"/>
                </a:lnTo>
                <a:lnTo>
                  <a:pt x="9525" y="0"/>
                </a:lnTo>
                <a:close/>
              </a:path>
            </a:pathLst>
          </a:custGeom>
          <a:solidFill>
            <a:srgbClr val="3341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10706100" y="2990850"/>
            <a:ext cx="9525" cy="266700"/>
          </a:xfrm>
          <a:custGeom>
            <a:rect b="b" l="l" r="r" t="t"/>
            <a:pathLst>
              <a:path extrusionOk="0" h="266700" w="9525">
                <a:moveTo>
                  <a:pt x="9525" y="0"/>
                </a:moveTo>
                <a:lnTo>
                  <a:pt x="0" y="0"/>
                </a:lnTo>
                <a:lnTo>
                  <a:pt x="0" y="266700"/>
                </a:lnTo>
                <a:lnTo>
                  <a:pt x="9525" y="266700"/>
                </a:lnTo>
                <a:lnTo>
                  <a:pt x="9525" y="0"/>
                </a:lnTo>
                <a:close/>
              </a:path>
            </a:pathLst>
          </a:custGeom>
          <a:solidFill>
            <a:srgbClr val="33415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descr="Hoja de ruta Gantt con S11 destacado.png" id="137" name="Google Shape;137;p3"/>
          <p:cNvGrpSpPr/>
          <p:nvPr/>
        </p:nvGrpSpPr>
        <p:grpSpPr>
          <a:xfrm>
            <a:off x="419100" y="952500"/>
            <a:ext cx="11658600" cy="4562475"/>
            <a:chOff x="419100" y="952500"/>
            <a:chExt cx="11658600" cy="4562475"/>
          </a:xfrm>
        </p:grpSpPr>
        <p:sp>
          <p:nvSpPr>
            <p:cNvPr id="138" name="Google Shape;138;p3"/>
            <p:cNvSpPr/>
            <p:nvPr/>
          </p:nvSpPr>
          <p:spPr>
            <a:xfrm>
              <a:off x="11239500" y="2990850"/>
              <a:ext cx="9525" cy="266700"/>
            </a:xfrm>
            <a:custGeom>
              <a:rect b="b" l="l" r="r" t="t"/>
              <a:pathLst>
                <a:path extrusionOk="0" h="266700" w="9525">
                  <a:moveTo>
                    <a:pt x="952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9525" y="26670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33415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Hoja de ruta Gantt con S11 destacado.png" id="139" name="Google Shape;139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9100" y="952500"/>
              <a:ext cx="11658600" cy="4562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0" name="Google Shape;140;p3"/>
          <p:cNvSpPr txBox="1"/>
          <p:nvPr/>
        </p:nvSpPr>
        <p:spPr>
          <a:xfrm>
            <a:off x="406717" y="6377622"/>
            <a:ext cx="2896870" cy="151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63748A"/>
                </a:solidFill>
                <a:latin typeface="Arial"/>
                <a:ea typeface="Arial"/>
                <a:cs typeface="Arial"/>
                <a:sym typeface="Arial"/>
              </a:rPr>
              <a:t>COMPLETADO: </a:t>
            </a:r>
            <a:r>
              <a:rPr lang="en-US" sz="80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S1 a S8 (F1 Levantamiento + F2 Backend)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3676396" y="6377622"/>
            <a:ext cx="3685540" cy="151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63748A"/>
                </a:solidFill>
                <a:latin typeface="Arial"/>
                <a:ea typeface="Arial"/>
                <a:cs typeface="Arial"/>
                <a:sym typeface="Arial"/>
              </a:rPr>
              <a:t>SEMANA ACTUAL: </a:t>
            </a:r>
            <a:r>
              <a:rPr lang="en-US" sz="80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S11 — 23 de octubre de 2026 (Diseño UI/UX y Figma)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7670418" y="6377622"/>
            <a:ext cx="4150995" cy="151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63748A"/>
                </a:solidFill>
                <a:latin typeface="Arial"/>
                <a:ea typeface="Arial"/>
                <a:cs typeface="Arial"/>
                <a:sym typeface="Arial"/>
              </a:rPr>
              <a:t>PLANIFICADO: </a:t>
            </a:r>
            <a:r>
              <a:rPr lang="en-US" sz="80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S12 a S18 (F3 Desarrollo Web/Móvil, F4 Checkout, F5 QA y Deploy)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43" name="Google Shape;143;p3" title="Hoja de ruta Gantt con S11 destacad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" y="953350"/>
            <a:ext cx="11656223" cy="456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3" title="Hoja de ruta Gantt con S11 destacad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" y="953350"/>
            <a:ext cx="11656223" cy="456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"/>
          <p:cNvSpPr txBox="1"/>
          <p:nvPr/>
        </p:nvSpPr>
        <p:spPr>
          <a:xfrm>
            <a:off x="559117" y="387096"/>
            <a:ext cx="2174240" cy="17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D97705"/>
                </a:solidFill>
                <a:latin typeface="Arial"/>
                <a:ea typeface="Arial"/>
                <a:cs typeface="Arial"/>
                <a:sym typeface="Arial"/>
              </a:rPr>
              <a:t>ARQUITECTURA DE PERSISTENCIA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150" name="Google Shape;150;p4"/>
          <p:cNvSpPr txBox="1"/>
          <p:nvPr>
            <p:ph type="title"/>
          </p:nvPr>
        </p:nvSpPr>
        <p:spPr>
          <a:xfrm>
            <a:off x="559117" y="464656"/>
            <a:ext cx="6770370" cy="63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C1817"/>
                </a:solidFill>
              </a:rPr>
              <a:t>Modelo Entidad-Relación (MER)</a:t>
            </a:r>
            <a:endParaRPr sz="2100"/>
          </a:p>
          <a:p>
            <a:pPr indent="0" lvl="0" marL="1270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“El MER representa las entidades, atributos y relaciones que estructuran la base de datos de FerreMundo”.</a:t>
            </a:r>
            <a:endParaRPr sz="105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.png" id="151" name="Google Shape;15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500" y="2924175"/>
            <a:ext cx="3714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4"/>
          <p:cNvSpPr txBox="1"/>
          <p:nvPr/>
        </p:nvSpPr>
        <p:spPr>
          <a:xfrm>
            <a:off x="4028185" y="3373719"/>
            <a:ext cx="4150360" cy="515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92400D"/>
                </a:solidFill>
                <a:latin typeface="Arial"/>
                <a:ea typeface="Arial"/>
                <a:cs typeface="Arial"/>
                <a:sym typeface="Arial"/>
              </a:rPr>
              <a:t>[ INSERTAR AQUÍ CAPTURA REAL DEL MER ]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45209"/>
                </a:solidFill>
                <a:latin typeface="Arial"/>
                <a:ea typeface="Arial"/>
                <a:cs typeface="Arial"/>
                <a:sym typeface="Arial"/>
              </a:rPr>
              <a:t>Modelo Entidad-Relación Normalizado — FerreMundo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" name="Google Shape;153;p4"/>
          <p:cNvGrpSpPr/>
          <p:nvPr/>
        </p:nvGrpSpPr>
        <p:grpSpPr>
          <a:xfrm>
            <a:off x="576262" y="5929312"/>
            <a:ext cx="11049635" cy="695325"/>
            <a:chOff x="576262" y="5929312"/>
            <a:chExt cx="11049635" cy="695325"/>
          </a:xfrm>
        </p:grpSpPr>
        <p:sp>
          <p:nvSpPr>
            <p:cNvPr id="154" name="Google Shape;154;p4"/>
            <p:cNvSpPr/>
            <p:nvPr/>
          </p:nvSpPr>
          <p:spPr>
            <a:xfrm>
              <a:off x="576262" y="5929312"/>
              <a:ext cx="11049635" cy="695325"/>
            </a:xfrm>
            <a:custGeom>
              <a:rect b="b" l="l" r="r" t="t"/>
              <a:pathLst>
                <a:path extrusionOk="0" h="695325" w="11049635">
                  <a:moveTo>
                    <a:pt x="10972863" y="0"/>
                  </a:moveTo>
                  <a:lnTo>
                    <a:pt x="76200" y="0"/>
                  </a:lnTo>
                  <a:lnTo>
                    <a:pt x="46537" y="5987"/>
                  </a:lnTo>
                  <a:lnTo>
                    <a:pt x="22317" y="22317"/>
                  </a:lnTo>
                  <a:lnTo>
                    <a:pt x="5987" y="46537"/>
                  </a:lnTo>
                  <a:lnTo>
                    <a:pt x="0" y="76200"/>
                  </a:lnTo>
                  <a:lnTo>
                    <a:pt x="0" y="619125"/>
                  </a:lnTo>
                  <a:lnTo>
                    <a:pt x="5987" y="648787"/>
                  </a:lnTo>
                  <a:lnTo>
                    <a:pt x="22317" y="673007"/>
                  </a:lnTo>
                  <a:lnTo>
                    <a:pt x="46537" y="689337"/>
                  </a:lnTo>
                  <a:lnTo>
                    <a:pt x="76200" y="695325"/>
                  </a:lnTo>
                  <a:lnTo>
                    <a:pt x="10972863" y="695325"/>
                  </a:lnTo>
                  <a:lnTo>
                    <a:pt x="11002504" y="689337"/>
                  </a:lnTo>
                  <a:lnTo>
                    <a:pt x="11026727" y="673007"/>
                  </a:lnTo>
                  <a:lnTo>
                    <a:pt x="11043068" y="648787"/>
                  </a:lnTo>
                  <a:lnTo>
                    <a:pt x="11049063" y="619125"/>
                  </a:lnTo>
                  <a:lnTo>
                    <a:pt x="11049063" y="76200"/>
                  </a:lnTo>
                  <a:lnTo>
                    <a:pt x="11043068" y="46537"/>
                  </a:lnTo>
                  <a:lnTo>
                    <a:pt x="11026727" y="22317"/>
                  </a:lnTo>
                  <a:lnTo>
                    <a:pt x="11002504" y="5987"/>
                  </a:lnTo>
                  <a:lnTo>
                    <a:pt x="10972863" y="0"/>
                  </a:lnTo>
                  <a:close/>
                </a:path>
              </a:pathLst>
            </a:custGeom>
            <a:solidFill>
              <a:srgbClr val="F8F9F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576262" y="5929312"/>
              <a:ext cx="11049635" cy="695325"/>
            </a:xfrm>
            <a:custGeom>
              <a:rect b="b" l="l" r="r" t="t"/>
              <a:pathLst>
                <a:path extrusionOk="0" h="695325" w="11049635">
                  <a:moveTo>
                    <a:pt x="0" y="76200"/>
                  </a:move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200" y="0"/>
                  </a:lnTo>
                  <a:lnTo>
                    <a:pt x="10972863" y="0"/>
                  </a:lnTo>
                  <a:lnTo>
                    <a:pt x="11002504" y="5987"/>
                  </a:lnTo>
                  <a:lnTo>
                    <a:pt x="11026727" y="22317"/>
                  </a:lnTo>
                  <a:lnTo>
                    <a:pt x="11043068" y="46537"/>
                  </a:lnTo>
                  <a:lnTo>
                    <a:pt x="11049063" y="76200"/>
                  </a:lnTo>
                  <a:lnTo>
                    <a:pt x="11049063" y="619125"/>
                  </a:lnTo>
                  <a:lnTo>
                    <a:pt x="11043068" y="648787"/>
                  </a:lnTo>
                  <a:lnTo>
                    <a:pt x="11026727" y="673007"/>
                  </a:lnTo>
                  <a:lnTo>
                    <a:pt x="11002504" y="689337"/>
                  </a:lnTo>
                  <a:lnTo>
                    <a:pt x="10972863" y="695325"/>
                  </a:lnTo>
                  <a:lnTo>
                    <a:pt x="76200" y="695325"/>
                  </a:lnTo>
                  <a:lnTo>
                    <a:pt x="46537" y="689337"/>
                  </a:lnTo>
                  <a:lnTo>
                    <a:pt x="22317" y="673007"/>
                  </a:lnTo>
                  <a:lnTo>
                    <a:pt x="5987" y="648787"/>
                  </a:lnTo>
                  <a:lnTo>
                    <a:pt x="0" y="619125"/>
                  </a:lnTo>
                  <a:lnTo>
                    <a:pt x="0" y="76200"/>
                  </a:lnTo>
                  <a:close/>
                </a:path>
              </a:pathLst>
            </a:custGeom>
            <a:noFill/>
            <a:ln cap="flat" cmpd="sng" w="9525">
              <a:solidFill>
                <a:srgbClr val="E1E8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" name="Google Shape;156;p4"/>
          <p:cNvSpPr txBox="1"/>
          <p:nvPr/>
        </p:nvSpPr>
        <p:spPr>
          <a:xfrm>
            <a:off x="759459" y="6089396"/>
            <a:ext cx="5329555" cy="349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E293A"/>
                </a:solidFill>
                <a:latin typeface="Arial"/>
                <a:ea typeface="Arial"/>
                <a:cs typeface="Arial"/>
                <a:sym typeface="Arial"/>
              </a:rPr>
              <a:t>Entidades Principales: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3748A"/>
                </a:solidFill>
                <a:latin typeface="Arial"/>
                <a:ea typeface="Arial"/>
                <a:cs typeface="Arial"/>
                <a:sym typeface="Arial"/>
              </a:rPr>
              <a:t>CLIENTE | CARRITO | ITEM_CARRITO | PRODUCTO | CATEGORIA | BOLETA | DETALLE_BOLETA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250" y="1172875"/>
            <a:ext cx="11049651" cy="4671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"/>
          <p:cNvSpPr txBox="1"/>
          <p:nvPr/>
        </p:nvSpPr>
        <p:spPr>
          <a:xfrm>
            <a:off x="559117" y="406717"/>
            <a:ext cx="1852295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D97705"/>
                </a:solidFill>
                <a:latin typeface="Arial"/>
                <a:ea typeface="Arial"/>
                <a:cs typeface="Arial"/>
                <a:sym typeface="Arial"/>
              </a:rPr>
              <a:t>ESPECIFICACIÓN FUNCIONAL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163" name="Google Shape;163;p5"/>
          <p:cNvSpPr txBox="1"/>
          <p:nvPr>
            <p:ph type="title"/>
          </p:nvPr>
        </p:nvSpPr>
        <p:spPr>
          <a:xfrm>
            <a:off x="559117" y="484976"/>
            <a:ext cx="6569075" cy="63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C1817"/>
                </a:solidFill>
              </a:rPr>
              <a:t>Casos de uso del sistema FerreMundo</a:t>
            </a:r>
            <a:endParaRPr sz="2100"/>
          </a:p>
          <a:p>
            <a:pPr indent="0" lvl="0" marL="1270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“El diagrama representa las principales funciones del sistema para los actores Cliente y Administrador”.</a:t>
            </a:r>
            <a:endParaRPr sz="105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.png" id="164" name="Google Shape;16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7875" y="298132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5"/>
          <p:cNvSpPr txBox="1"/>
          <p:nvPr/>
        </p:nvSpPr>
        <p:spPr>
          <a:xfrm>
            <a:off x="2813685" y="3413385"/>
            <a:ext cx="6564630" cy="5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92400D"/>
                </a:solidFill>
                <a:latin typeface="Arial"/>
                <a:ea typeface="Arial"/>
                <a:cs typeface="Arial"/>
                <a:sym typeface="Arial"/>
              </a:rPr>
              <a:t>[ INSERTAR AQUÍ CAPTURA REAL DEL DIAGRAMA DE CASOS DE USO ]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9525" rtl="0" algn="ctr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45209"/>
                </a:solidFill>
                <a:latin typeface="Arial"/>
                <a:ea typeface="Arial"/>
                <a:cs typeface="Arial"/>
                <a:sym typeface="Arial"/>
              </a:rPr>
              <a:t>Diagrama General de Casos de Uso — FerreMundo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5"/>
          <p:cNvGrpSpPr/>
          <p:nvPr/>
        </p:nvGrpSpPr>
        <p:grpSpPr>
          <a:xfrm>
            <a:off x="623887" y="6081712"/>
            <a:ext cx="5448935" cy="657225"/>
            <a:chOff x="623887" y="6081712"/>
            <a:chExt cx="5448935" cy="657225"/>
          </a:xfrm>
        </p:grpSpPr>
        <p:sp>
          <p:nvSpPr>
            <p:cNvPr id="167" name="Google Shape;167;p5"/>
            <p:cNvSpPr/>
            <p:nvPr/>
          </p:nvSpPr>
          <p:spPr>
            <a:xfrm>
              <a:off x="623887" y="6081712"/>
              <a:ext cx="5448935" cy="657225"/>
            </a:xfrm>
            <a:custGeom>
              <a:rect b="b" l="l" r="r" t="t"/>
              <a:pathLst>
                <a:path extrusionOk="0" h="657225" w="5448935">
                  <a:moveTo>
                    <a:pt x="5372036" y="0"/>
                  </a:moveTo>
                  <a:lnTo>
                    <a:pt x="76200" y="0"/>
                  </a:lnTo>
                  <a:lnTo>
                    <a:pt x="46537" y="5987"/>
                  </a:lnTo>
                  <a:lnTo>
                    <a:pt x="22317" y="22317"/>
                  </a:lnTo>
                  <a:lnTo>
                    <a:pt x="5987" y="46537"/>
                  </a:lnTo>
                  <a:lnTo>
                    <a:pt x="0" y="76200"/>
                  </a:lnTo>
                  <a:lnTo>
                    <a:pt x="0" y="581025"/>
                  </a:lnTo>
                  <a:lnTo>
                    <a:pt x="5987" y="610687"/>
                  </a:lnTo>
                  <a:lnTo>
                    <a:pt x="22317" y="634907"/>
                  </a:lnTo>
                  <a:lnTo>
                    <a:pt x="46537" y="651237"/>
                  </a:lnTo>
                  <a:lnTo>
                    <a:pt x="76200" y="657225"/>
                  </a:lnTo>
                  <a:lnTo>
                    <a:pt x="5372036" y="657225"/>
                  </a:lnTo>
                  <a:lnTo>
                    <a:pt x="5401750" y="651237"/>
                  </a:lnTo>
                  <a:lnTo>
                    <a:pt x="5426011" y="634907"/>
                  </a:lnTo>
                  <a:lnTo>
                    <a:pt x="5442366" y="610687"/>
                  </a:lnTo>
                  <a:lnTo>
                    <a:pt x="5448363" y="581025"/>
                  </a:lnTo>
                  <a:lnTo>
                    <a:pt x="5448363" y="76200"/>
                  </a:lnTo>
                  <a:lnTo>
                    <a:pt x="5442366" y="46537"/>
                  </a:lnTo>
                  <a:lnTo>
                    <a:pt x="5426011" y="22317"/>
                  </a:lnTo>
                  <a:lnTo>
                    <a:pt x="5401750" y="5987"/>
                  </a:lnTo>
                  <a:lnTo>
                    <a:pt x="5372036" y="0"/>
                  </a:lnTo>
                  <a:close/>
                </a:path>
              </a:pathLst>
            </a:custGeom>
            <a:solidFill>
              <a:srgbClr val="F8F9F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623887" y="6081712"/>
              <a:ext cx="5448935" cy="657225"/>
            </a:xfrm>
            <a:custGeom>
              <a:rect b="b" l="l" r="r" t="t"/>
              <a:pathLst>
                <a:path extrusionOk="0" h="657225" w="5448935">
                  <a:moveTo>
                    <a:pt x="0" y="76200"/>
                  </a:move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200" y="0"/>
                  </a:lnTo>
                  <a:lnTo>
                    <a:pt x="5372036" y="0"/>
                  </a:lnTo>
                  <a:lnTo>
                    <a:pt x="5401750" y="5987"/>
                  </a:lnTo>
                  <a:lnTo>
                    <a:pt x="5426011" y="22317"/>
                  </a:lnTo>
                  <a:lnTo>
                    <a:pt x="5442366" y="46537"/>
                  </a:lnTo>
                  <a:lnTo>
                    <a:pt x="5448363" y="76200"/>
                  </a:lnTo>
                  <a:lnTo>
                    <a:pt x="5448363" y="581025"/>
                  </a:lnTo>
                  <a:lnTo>
                    <a:pt x="5442366" y="610687"/>
                  </a:lnTo>
                  <a:lnTo>
                    <a:pt x="5426011" y="634907"/>
                  </a:lnTo>
                  <a:lnTo>
                    <a:pt x="5401750" y="651237"/>
                  </a:lnTo>
                  <a:lnTo>
                    <a:pt x="5372036" y="657225"/>
                  </a:lnTo>
                  <a:lnTo>
                    <a:pt x="76200" y="657225"/>
                  </a:lnTo>
                  <a:lnTo>
                    <a:pt x="46537" y="651237"/>
                  </a:lnTo>
                  <a:lnTo>
                    <a:pt x="22317" y="634907"/>
                  </a:lnTo>
                  <a:lnTo>
                    <a:pt x="5987" y="610687"/>
                  </a:lnTo>
                  <a:lnTo>
                    <a:pt x="0" y="581025"/>
                  </a:lnTo>
                  <a:lnTo>
                    <a:pt x="0" y="76200"/>
                  </a:lnTo>
                  <a:close/>
                </a:path>
              </a:pathLst>
            </a:custGeom>
            <a:noFill/>
            <a:ln cap="flat" cmpd="sng" w="9525">
              <a:solidFill>
                <a:srgbClr val="E1E8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image.png" id="169" name="Google Shape;16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" y="6200776"/>
            <a:ext cx="104775" cy="11429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5"/>
          <p:cNvSpPr txBox="1"/>
          <p:nvPr/>
        </p:nvSpPr>
        <p:spPr>
          <a:xfrm>
            <a:off x="771842" y="6152578"/>
            <a:ext cx="4804410" cy="483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746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E293A"/>
                </a:solidFill>
                <a:latin typeface="Arial"/>
                <a:ea typeface="Arial"/>
                <a:cs typeface="Arial"/>
                <a:sym typeface="Arial"/>
              </a:rPr>
              <a:t>Actor CLIENTE: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8333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Registrar cuenta, Iniciar sesión, Consultar productos, Gestionar carrito, Realizar compra,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Historial de compras, Recuperar contraseña.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71" name="Google Shape;171;p5"/>
          <p:cNvGrpSpPr/>
          <p:nvPr/>
        </p:nvGrpSpPr>
        <p:grpSpPr>
          <a:xfrm>
            <a:off x="6224651" y="6081712"/>
            <a:ext cx="5448300" cy="657225"/>
            <a:chOff x="6224651" y="6081712"/>
            <a:chExt cx="5448300" cy="657225"/>
          </a:xfrm>
        </p:grpSpPr>
        <p:sp>
          <p:nvSpPr>
            <p:cNvPr id="172" name="Google Shape;172;p5"/>
            <p:cNvSpPr/>
            <p:nvPr/>
          </p:nvSpPr>
          <p:spPr>
            <a:xfrm>
              <a:off x="6224651" y="6081712"/>
              <a:ext cx="5448300" cy="657225"/>
            </a:xfrm>
            <a:custGeom>
              <a:rect b="b" l="l" r="r" t="t"/>
              <a:pathLst>
                <a:path extrusionOk="0" h="657225" w="5448300">
                  <a:moveTo>
                    <a:pt x="5371973" y="0"/>
                  </a:moveTo>
                  <a:lnTo>
                    <a:pt x="76200" y="0"/>
                  </a:lnTo>
                  <a:lnTo>
                    <a:pt x="46505" y="5987"/>
                  </a:lnTo>
                  <a:lnTo>
                    <a:pt x="22288" y="22317"/>
                  </a:lnTo>
                  <a:lnTo>
                    <a:pt x="5976" y="46537"/>
                  </a:lnTo>
                  <a:lnTo>
                    <a:pt x="0" y="76200"/>
                  </a:lnTo>
                  <a:lnTo>
                    <a:pt x="0" y="581025"/>
                  </a:lnTo>
                  <a:lnTo>
                    <a:pt x="5976" y="610687"/>
                  </a:lnTo>
                  <a:lnTo>
                    <a:pt x="22288" y="634907"/>
                  </a:lnTo>
                  <a:lnTo>
                    <a:pt x="46505" y="651237"/>
                  </a:lnTo>
                  <a:lnTo>
                    <a:pt x="76200" y="657225"/>
                  </a:lnTo>
                  <a:lnTo>
                    <a:pt x="5371973" y="657225"/>
                  </a:lnTo>
                  <a:lnTo>
                    <a:pt x="5401687" y="651237"/>
                  </a:lnTo>
                  <a:lnTo>
                    <a:pt x="5425948" y="634907"/>
                  </a:lnTo>
                  <a:lnTo>
                    <a:pt x="5442303" y="610687"/>
                  </a:lnTo>
                  <a:lnTo>
                    <a:pt x="5448300" y="581025"/>
                  </a:lnTo>
                  <a:lnTo>
                    <a:pt x="5448300" y="76200"/>
                  </a:lnTo>
                  <a:lnTo>
                    <a:pt x="5442303" y="46537"/>
                  </a:lnTo>
                  <a:lnTo>
                    <a:pt x="5425948" y="22317"/>
                  </a:lnTo>
                  <a:lnTo>
                    <a:pt x="5401687" y="5987"/>
                  </a:lnTo>
                  <a:lnTo>
                    <a:pt x="5371973" y="0"/>
                  </a:lnTo>
                  <a:close/>
                </a:path>
              </a:pathLst>
            </a:custGeom>
            <a:solidFill>
              <a:srgbClr val="F8F9F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6224651" y="6081712"/>
              <a:ext cx="5448300" cy="657225"/>
            </a:xfrm>
            <a:custGeom>
              <a:rect b="b" l="l" r="r" t="t"/>
              <a:pathLst>
                <a:path extrusionOk="0" h="657225" w="5448300">
                  <a:moveTo>
                    <a:pt x="0" y="76200"/>
                  </a:moveTo>
                  <a:lnTo>
                    <a:pt x="5976" y="46537"/>
                  </a:lnTo>
                  <a:lnTo>
                    <a:pt x="22288" y="22317"/>
                  </a:lnTo>
                  <a:lnTo>
                    <a:pt x="46505" y="5987"/>
                  </a:lnTo>
                  <a:lnTo>
                    <a:pt x="76200" y="0"/>
                  </a:lnTo>
                  <a:lnTo>
                    <a:pt x="5371973" y="0"/>
                  </a:lnTo>
                  <a:lnTo>
                    <a:pt x="5401687" y="5987"/>
                  </a:lnTo>
                  <a:lnTo>
                    <a:pt x="5425948" y="22317"/>
                  </a:lnTo>
                  <a:lnTo>
                    <a:pt x="5442303" y="46537"/>
                  </a:lnTo>
                  <a:lnTo>
                    <a:pt x="5448300" y="76200"/>
                  </a:lnTo>
                  <a:lnTo>
                    <a:pt x="5448300" y="581025"/>
                  </a:lnTo>
                  <a:lnTo>
                    <a:pt x="5442303" y="610687"/>
                  </a:lnTo>
                  <a:lnTo>
                    <a:pt x="5425948" y="634907"/>
                  </a:lnTo>
                  <a:lnTo>
                    <a:pt x="5401687" y="651237"/>
                  </a:lnTo>
                  <a:lnTo>
                    <a:pt x="5371973" y="657225"/>
                  </a:lnTo>
                  <a:lnTo>
                    <a:pt x="76200" y="657225"/>
                  </a:lnTo>
                  <a:lnTo>
                    <a:pt x="46505" y="651237"/>
                  </a:lnTo>
                  <a:lnTo>
                    <a:pt x="22288" y="634907"/>
                  </a:lnTo>
                  <a:lnTo>
                    <a:pt x="5976" y="610687"/>
                  </a:lnTo>
                  <a:lnTo>
                    <a:pt x="0" y="581025"/>
                  </a:lnTo>
                  <a:lnTo>
                    <a:pt x="0" y="76200"/>
                  </a:lnTo>
                  <a:close/>
                </a:path>
              </a:pathLst>
            </a:custGeom>
            <a:noFill/>
            <a:ln cap="flat" cmpd="sng" w="9525">
              <a:solidFill>
                <a:srgbClr val="E1E8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image.png" id="174" name="Google Shape;17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6200776"/>
            <a:ext cx="142875" cy="11429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5"/>
          <p:cNvSpPr txBox="1"/>
          <p:nvPr/>
        </p:nvSpPr>
        <p:spPr>
          <a:xfrm>
            <a:off x="6377051" y="6152578"/>
            <a:ext cx="3989070" cy="349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2127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E293A"/>
                </a:solidFill>
                <a:latin typeface="Arial"/>
                <a:ea typeface="Arial"/>
                <a:cs typeface="Arial"/>
                <a:sym typeface="Arial"/>
              </a:rPr>
              <a:t>Actor ADMINISTRADOR: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Gestionar productos, Gestionar categorías, Gestionar stock de inventario.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76" name="Google Shape;176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3875" y="1117425"/>
            <a:ext cx="10930627" cy="4882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"/>
          <p:cNvSpPr txBox="1"/>
          <p:nvPr/>
        </p:nvSpPr>
        <p:spPr>
          <a:xfrm>
            <a:off x="521017" y="368617"/>
            <a:ext cx="1929130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D97705"/>
                </a:solidFill>
                <a:latin typeface="Arial"/>
                <a:ea typeface="Arial"/>
                <a:cs typeface="Arial"/>
                <a:sym typeface="Arial"/>
              </a:rPr>
              <a:t>ASEGURAMIENTO DE CALIDAD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182" name="Google Shape;182;p6"/>
          <p:cNvSpPr txBox="1"/>
          <p:nvPr>
            <p:ph type="title"/>
          </p:nvPr>
        </p:nvSpPr>
        <p:spPr>
          <a:xfrm>
            <a:off x="521017" y="530605"/>
            <a:ext cx="34956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1C1817"/>
                </a:solidFill>
              </a:rPr>
              <a:t>Plan de pruebas funcionales</a:t>
            </a:r>
            <a:endParaRPr sz="1950"/>
          </a:p>
        </p:txBody>
      </p:sp>
      <p:graphicFrame>
        <p:nvGraphicFramePr>
          <p:cNvPr id="183" name="Google Shape;183;p6"/>
          <p:cNvGraphicFramePr/>
          <p:nvPr/>
        </p:nvGraphicFramePr>
        <p:xfrm>
          <a:off x="533400" y="9619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{B59B66E9-D3FF-4525-8101-91DAEDBC5747}</a:tableStyleId>
              </a:tblPr>
              <a:tblGrid>
                <a:gridCol w="575300"/>
                <a:gridCol w="2103125"/>
                <a:gridCol w="8448050"/>
              </a:tblGrid>
              <a:tr h="44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Código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3350" marB="0" marR="0" marL="0">
                    <a:solidFill>
                      <a:srgbClr val="1E29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555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Caso de prueba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3350" marB="0" marR="0" marL="0">
                    <a:solidFill>
                      <a:srgbClr val="1E29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498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Requisitos asociados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3350" marB="0" marR="0" marL="0">
                    <a:solidFill>
                      <a:srgbClr val="1E293A"/>
                    </a:solidFill>
                  </a:tcPr>
                </a:tc>
              </a:tr>
              <a:tr h="44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D977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CP-01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3975" marB="0" marR="0" marL="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555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3341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Registro de usuario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3975" marB="0" marR="0" marL="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498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RF-01: Registro de usuario</a:t>
                      </a:r>
                      <a:endParaRPr sz="7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3975" marB="0" marR="0" marL="0">
                    <a:solidFill>
                      <a:srgbClr val="F8F9FB"/>
                    </a:solidFill>
                  </a:tcPr>
                </a:tc>
              </a:tr>
              <a:tr h="44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D977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CP-02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60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555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3341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Inicio de sesión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60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498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RF-02: Inicio de sesión</a:t>
                      </a:r>
                      <a:endParaRPr sz="7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4600" marB="0" marR="0" marL="0"/>
                </a:tc>
              </a:tr>
              <a:tr h="44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D977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CP-03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5250" marB="0" marR="0" marL="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555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3341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Consulta y búsqueda de productos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5250" marB="0" marR="0" marL="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498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RF-04: Consulta de productos; RF-05: Búsqueda; RF-06: Filtrado por categoría; RF-07: Detalle del </a:t>
                      </a:r>
                      <a:r>
                        <a:rPr lang="en-US" sz="750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producto</a:t>
                      </a:r>
                      <a:endParaRPr sz="7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5250" marB="0" marR="0" marL="0">
                    <a:solidFill>
                      <a:srgbClr val="F8F9FB"/>
                    </a:solidFill>
                  </a:tcPr>
                </a:tc>
              </a:tr>
              <a:tr h="44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D977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CP-04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587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555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3341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Gestión del carrito y cálculo del total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587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498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RF-08: Agregar producto s al carrito; RF-09: Modificar cantidades; RF-10: </a:t>
                      </a:r>
                      <a:r>
                        <a:rPr lang="en-US" sz="750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Eliminar</a:t>
                      </a: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</a:t>
                      </a:r>
                      <a:r>
                        <a:rPr lang="en-US" sz="750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productos</a:t>
                      </a:r>
                      <a:endParaRPr sz="7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5875" marB="0" marR="0" marL="0"/>
                </a:tc>
              </a:tr>
              <a:tr h="44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D977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CP-05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6525" marB="0" marR="0" marL="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555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3341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Realización</a:t>
                      </a:r>
                      <a:r>
                        <a:rPr b="1" lang="en-US" sz="750" u="none" cap="none" strike="noStrike">
                          <a:solidFill>
                            <a:srgbClr val="3341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de compra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6525" marB="0" marR="0" marL="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498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RF-11 : Realizar compra</a:t>
                      </a:r>
                      <a:endParaRPr sz="7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6525" marB="0" marR="0" marL="0">
                    <a:solidFill>
                      <a:srgbClr val="F8F9FB"/>
                    </a:solidFill>
                  </a:tcPr>
                </a:tc>
              </a:tr>
              <a:tr h="44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D977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CP-06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555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3341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Consulta del historial de compras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498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RF-12: Consultar historial de compras</a:t>
                      </a:r>
                      <a:endParaRPr sz="7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7150" marB="0" marR="0" marL="0"/>
                </a:tc>
              </a:tr>
              <a:tr h="44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D977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CP-07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775" marB="0" marR="0" marL="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555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3341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Gestión de productos por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155575" marR="0" rtl="0" algn="l">
                        <a:lnSpc>
                          <a:spcPct val="100000"/>
                        </a:lnSpc>
                        <a:spcBef>
                          <a:spcPts val="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3341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administrador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6675" marB="0" marR="0" marL="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498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RF-13: Crear productos; RF-14: Consultar y modificar; RF-15 : Eliminar productos</a:t>
                      </a:r>
                      <a:endParaRPr sz="7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7775" marB="0" marR="0" marL="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00" marR="0" rtl="0" algn="l">
                        <a:lnSpc>
                          <a:spcPct val="110666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D9770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CP-08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77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55575" marR="0" rtl="0" algn="l">
                        <a:lnSpc>
                          <a:spcPct val="110666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>
                          <a:solidFill>
                            <a:srgbClr val="3341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Recuperación</a:t>
                      </a:r>
                      <a:r>
                        <a:rPr b="1" lang="en-US" sz="750" u="none" cap="none" strike="noStrike">
                          <a:solidFill>
                            <a:srgbClr val="33415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de contraseña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77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49860" marR="0" rtl="0" algn="l">
                        <a:lnSpc>
                          <a:spcPct val="110666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RF-17: Recuperación de contraseña</a:t>
                      </a:r>
                      <a:endParaRPr sz="7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57775" marB="0" marR="0" marL="0"/>
                </a:tc>
              </a:tr>
            </a:tbl>
          </a:graphicData>
        </a:graphic>
      </p:graphicFrame>
      <p:grpSp>
        <p:nvGrpSpPr>
          <p:cNvPr id="184" name="Google Shape;184;p6"/>
          <p:cNvGrpSpPr/>
          <p:nvPr/>
        </p:nvGrpSpPr>
        <p:grpSpPr>
          <a:xfrm>
            <a:off x="533400" y="6124575"/>
            <a:ext cx="11125200" cy="352425"/>
            <a:chOff x="533400" y="6124575"/>
            <a:chExt cx="11125200" cy="352425"/>
          </a:xfrm>
        </p:grpSpPr>
        <p:sp>
          <p:nvSpPr>
            <p:cNvPr id="185" name="Google Shape;185;p6"/>
            <p:cNvSpPr/>
            <p:nvPr/>
          </p:nvSpPr>
          <p:spPr>
            <a:xfrm>
              <a:off x="533400" y="6124575"/>
              <a:ext cx="11125200" cy="352425"/>
            </a:xfrm>
            <a:custGeom>
              <a:rect b="b" l="l" r="r" t="t"/>
              <a:pathLst>
                <a:path extrusionOk="0" h="352425" w="11125200">
                  <a:moveTo>
                    <a:pt x="11125200" y="0"/>
                  </a:moveTo>
                  <a:lnTo>
                    <a:pt x="0" y="0"/>
                  </a:lnTo>
                  <a:lnTo>
                    <a:pt x="0" y="352425"/>
                  </a:lnTo>
                  <a:lnTo>
                    <a:pt x="11125200" y="352425"/>
                  </a:lnTo>
                  <a:lnTo>
                    <a:pt x="11125200" y="0"/>
                  </a:lnTo>
                  <a:close/>
                </a:path>
              </a:pathLst>
            </a:custGeom>
            <a:solidFill>
              <a:srgbClr val="FFFA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533400" y="6124575"/>
              <a:ext cx="38100" cy="352425"/>
            </a:xfrm>
            <a:custGeom>
              <a:rect b="b" l="l" r="r" t="t"/>
              <a:pathLst>
                <a:path extrusionOk="0" h="352425" w="38100">
                  <a:moveTo>
                    <a:pt x="38100" y="0"/>
                  </a:moveTo>
                  <a:lnTo>
                    <a:pt x="0" y="0"/>
                  </a:lnTo>
                  <a:lnTo>
                    <a:pt x="0" y="352425"/>
                  </a:lnTo>
                  <a:lnTo>
                    <a:pt x="38100" y="35242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D9770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" name="Google Shape;187;p6"/>
          <p:cNvSpPr txBox="1"/>
          <p:nvPr/>
        </p:nvSpPr>
        <p:spPr>
          <a:xfrm>
            <a:off x="571500" y="6246495"/>
            <a:ext cx="1108710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78350E"/>
                </a:solidFill>
                <a:latin typeface="Arial"/>
                <a:ea typeface="Arial"/>
                <a:cs typeface="Arial"/>
                <a:sym typeface="Arial"/>
              </a:rPr>
              <a:t>Nota: “Los casos de prueba están documentados. Su ejecución y registro de resultados se realizarán durante la etapa de QA, según la planificación del proyecto”.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"/>
          <p:cNvSpPr txBox="1"/>
          <p:nvPr/>
        </p:nvSpPr>
        <p:spPr>
          <a:xfrm>
            <a:off x="521017" y="368617"/>
            <a:ext cx="1563370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D97705"/>
                </a:solidFill>
                <a:latin typeface="Arial"/>
                <a:ea typeface="Arial"/>
                <a:cs typeface="Arial"/>
                <a:sym typeface="Arial"/>
              </a:rPr>
              <a:t>CONTROL DE PROYECTO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193" name="Google Shape;193;p7"/>
          <p:cNvSpPr txBox="1"/>
          <p:nvPr>
            <p:ph type="title"/>
          </p:nvPr>
        </p:nvSpPr>
        <p:spPr>
          <a:xfrm>
            <a:off x="521017" y="530605"/>
            <a:ext cx="391604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1C1817"/>
                </a:solidFill>
              </a:rPr>
              <a:t>Gestión de riesgos del proyecto</a:t>
            </a:r>
            <a:endParaRPr sz="1950"/>
          </a:p>
        </p:txBody>
      </p:sp>
      <p:graphicFrame>
        <p:nvGraphicFramePr>
          <p:cNvPr id="194" name="Google Shape;194;p7"/>
          <p:cNvGraphicFramePr/>
          <p:nvPr/>
        </p:nvGraphicFramePr>
        <p:xfrm>
          <a:off x="533400" y="9620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{B59B66E9-D3FF-4525-8101-91DAEDBC5747}</a:tableStyleId>
              </a:tblPr>
              <a:tblGrid>
                <a:gridCol w="1992625"/>
                <a:gridCol w="932175"/>
                <a:gridCol w="682625"/>
                <a:gridCol w="7519025"/>
              </a:tblGrid>
              <a:tr h="50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Riesgo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solidFill>
                      <a:srgbClr val="1E29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Probabilidad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solidFill>
                      <a:srgbClr val="1E29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08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Impacto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solidFill>
                      <a:srgbClr val="1E29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Mitigación o respuesta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000" marB="0" marR="0" marL="0">
                    <a:solidFill>
                      <a:srgbClr val="1E293A"/>
                    </a:solidFill>
                  </a:tcPr>
                </a:tc>
              </a:tr>
              <a:tr h="50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00" marR="15748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E29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Retrasos en integración Web, Móvil y API REST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0475" marB="0" marR="0" marL="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B4520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Media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625" marB="0" marR="0" marL="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381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DC25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625" marB="0" marR="0" marL="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Probar endpoints e integración por etapas secuenciales.</a:t>
                      </a:r>
                      <a:endParaRPr sz="7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87625" marB="0" marR="0" marL="0">
                    <a:solidFill>
                      <a:srgbClr val="F8F9FB"/>
                    </a:solidFill>
                  </a:tcPr>
                </a:tc>
              </a:tr>
              <a:tr h="46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E29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Problemas de integración con la API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E29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REST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15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B4520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Media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795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381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DC25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795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Verificar contratos de API y realizar pruebas de integración continuas.</a:t>
                      </a:r>
                      <a:endParaRPr sz="7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67950" marB="0" marR="0" marL="0"/>
                </a:tc>
              </a:tr>
              <a:tr h="50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E29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Errores en el cálculo del carrito y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E29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checkout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1750" marB="0" marR="0" marL="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B4520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Media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0" marR="0" marL="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381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DC25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0" marR="0" marL="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Realizar pruebas con datos controlados y verificar totales.</a:t>
                      </a:r>
                      <a:endParaRPr sz="7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88900" marB="0" marR="0" marL="0">
                    <a:solidFill>
                      <a:srgbClr val="F8F9FB"/>
                    </a:solidFill>
                  </a:tcPr>
                </a:tc>
              </a:tr>
              <a:tr h="50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E29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Inconsistencias en la base de datos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E29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PostgreSQL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237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B4520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Media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952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381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DC25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952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Validar relaciones, restricciones y operaciones de persistencia.</a:t>
                      </a:r>
                      <a:endParaRPr sz="7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89525" marB="0" marR="0" marL="0"/>
                </a:tc>
              </a:tr>
              <a:tr h="50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E29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Problemas con los pagos de prueba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0175" marB="0" marR="0" marL="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B4520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Media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0175" marB="0" marR="0" marL="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381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DC25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0175" marB="0" marR="0" marL="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Validar las respuestas de Mercado Pago Sandbox antes de la integración final.</a:t>
                      </a:r>
                      <a:endParaRPr sz="7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0175" marB="0" marR="0" marL="0">
                    <a:solidFill>
                      <a:srgbClr val="F8F9FB"/>
                    </a:solidFill>
                  </a:tcPr>
                </a:tc>
              </a:tr>
              <a:tr h="50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E29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Ausencia de un integrante del equipo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080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127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6A24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Baja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080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50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0E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Medio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080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Mantener documentación compartida y distribuir la información del proyecto.</a:t>
                      </a:r>
                      <a:endParaRPr sz="7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0800" marB="0" marR="0" marL="0"/>
                </a:tc>
              </a:tr>
              <a:tr h="50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E29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Conflictos o pérdida de cambios en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1E29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GitHub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0" marR="0" marL="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B4520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Media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0" marR="0" marL="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381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50" u="none" cap="none" strike="noStrike">
                          <a:solidFill>
                            <a:srgbClr val="DC25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</a:t>
                      </a:r>
                      <a:endParaRPr sz="7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0" marR="0" marL="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cap="none" strike="noStrike">
                          <a:solidFill>
                            <a:srgbClr val="465469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Realizar commits frecuentes y revisar cambios antes de integrarlos.</a:t>
                      </a:r>
                      <a:endParaRPr sz="7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50" marB="0" marR="0" marL="0"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grpSp>
        <p:nvGrpSpPr>
          <p:cNvPr id="195" name="Google Shape;195;p7"/>
          <p:cNvGrpSpPr/>
          <p:nvPr/>
        </p:nvGrpSpPr>
        <p:grpSpPr>
          <a:xfrm>
            <a:off x="533400" y="6143625"/>
            <a:ext cx="11125200" cy="333375"/>
            <a:chOff x="533400" y="6143625"/>
            <a:chExt cx="11125200" cy="333375"/>
          </a:xfrm>
        </p:grpSpPr>
        <p:sp>
          <p:nvSpPr>
            <p:cNvPr id="196" name="Google Shape;196;p7"/>
            <p:cNvSpPr/>
            <p:nvPr/>
          </p:nvSpPr>
          <p:spPr>
            <a:xfrm>
              <a:off x="533400" y="6143625"/>
              <a:ext cx="11125200" cy="333375"/>
            </a:xfrm>
            <a:custGeom>
              <a:rect b="b" l="l" r="r" t="t"/>
              <a:pathLst>
                <a:path extrusionOk="0" h="333375" w="11125200">
                  <a:moveTo>
                    <a:pt x="11125200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11125200" y="333375"/>
                  </a:lnTo>
                  <a:lnTo>
                    <a:pt x="11125200" y="0"/>
                  </a:lnTo>
                  <a:close/>
                </a:path>
              </a:pathLst>
            </a:custGeom>
            <a:solidFill>
              <a:srgbClr val="F8F9F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533400" y="6143625"/>
              <a:ext cx="38100" cy="333375"/>
            </a:xfrm>
            <a:custGeom>
              <a:rect b="b" l="l" r="r" t="t"/>
              <a:pathLst>
                <a:path extrusionOk="0" h="333375" w="38100">
                  <a:moveTo>
                    <a:pt x="38100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8100" y="33337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1E293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8" name="Google Shape;198;p7"/>
          <p:cNvSpPr txBox="1"/>
          <p:nvPr/>
        </p:nvSpPr>
        <p:spPr>
          <a:xfrm>
            <a:off x="571500" y="6235065"/>
            <a:ext cx="1108710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34154"/>
                </a:solidFill>
                <a:latin typeface="Arial"/>
                <a:ea typeface="Arial"/>
                <a:cs typeface="Arial"/>
                <a:sym typeface="Arial"/>
              </a:rPr>
              <a:t>Nota: Estos riesgos potenciales han sido identificados para su prevención y control continuo durante la ejecución del proyect o.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"/>
          <p:cNvSpPr txBox="1"/>
          <p:nvPr/>
        </p:nvSpPr>
        <p:spPr>
          <a:xfrm>
            <a:off x="521017" y="368617"/>
            <a:ext cx="1972945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D97705"/>
                </a:solidFill>
                <a:latin typeface="Arial"/>
                <a:ea typeface="Arial"/>
                <a:cs typeface="Arial"/>
                <a:sym typeface="Arial"/>
              </a:rPr>
              <a:t>ARQUITECTURA DE SOFTWARE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204" name="Google Shape;204;p12"/>
          <p:cNvSpPr txBox="1"/>
          <p:nvPr>
            <p:ph type="title"/>
          </p:nvPr>
        </p:nvSpPr>
        <p:spPr>
          <a:xfrm>
            <a:off x="521017" y="419852"/>
            <a:ext cx="7738109" cy="657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C1817"/>
                </a:solidFill>
              </a:rPr>
              <a:t>Arquitectura del sistema y tecnologías</a:t>
            </a:r>
            <a:endParaRPr sz="2100"/>
          </a:p>
          <a:p>
            <a:pPr indent="0" lvl="0" marL="1270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El Modelo 4+1 describe el sistema desde múltiples perspectivas arquitectónicas (Lógica, Desarrollo, Procesos, Física y Escenarios).</a:t>
            </a:r>
            <a:endParaRPr sz="9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485775" y="1228725"/>
            <a:ext cx="9525" cy="714375"/>
          </a:xfrm>
          <a:custGeom>
            <a:rect b="b" l="l" r="r" t="t"/>
            <a:pathLst>
              <a:path extrusionOk="0" h="714375" w="9525">
                <a:moveTo>
                  <a:pt x="9525" y="0"/>
                </a:moveTo>
                <a:lnTo>
                  <a:pt x="0" y="0"/>
                </a:lnTo>
                <a:lnTo>
                  <a:pt x="0" y="714375"/>
                </a:lnTo>
                <a:lnTo>
                  <a:pt x="9525" y="714375"/>
                </a:lnTo>
                <a:lnTo>
                  <a:pt x="9525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"/>
          <p:cNvSpPr txBox="1"/>
          <p:nvPr/>
        </p:nvSpPr>
        <p:spPr>
          <a:xfrm>
            <a:off x="598169" y="1314888"/>
            <a:ext cx="16637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184C6"/>
                </a:solidFill>
                <a:latin typeface="Arial"/>
                <a:ea typeface="Arial"/>
                <a:cs typeface="Arial"/>
                <a:sym typeface="Arial"/>
              </a:rPr>
              <a:t>Vista Lógica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65469"/>
                </a:solidFill>
                <a:latin typeface="Tahoma"/>
                <a:ea typeface="Tahoma"/>
                <a:cs typeface="Tahoma"/>
                <a:sym typeface="Tahoma"/>
              </a:rPr>
              <a:t>Usuarios, Productos, Categorías,</a:t>
            </a:r>
            <a:endParaRPr sz="8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65469"/>
                </a:solidFill>
                <a:latin typeface="Tahoma"/>
                <a:ea typeface="Tahoma"/>
                <a:cs typeface="Tahoma"/>
                <a:sym typeface="Tahoma"/>
              </a:rPr>
              <a:t>Stock, Carrito y Compras.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2581275" y="1228725"/>
            <a:ext cx="9525" cy="714375"/>
          </a:xfrm>
          <a:custGeom>
            <a:rect b="b" l="l" r="r" t="t"/>
            <a:pathLst>
              <a:path extrusionOk="0" h="714375" w="9525">
                <a:moveTo>
                  <a:pt x="9525" y="0"/>
                </a:moveTo>
                <a:lnTo>
                  <a:pt x="0" y="0"/>
                </a:lnTo>
                <a:lnTo>
                  <a:pt x="0" y="714375"/>
                </a:lnTo>
                <a:lnTo>
                  <a:pt x="9525" y="714375"/>
                </a:lnTo>
                <a:lnTo>
                  <a:pt x="9525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"/>
          <p:cNvSpPr/>
          <p:nvPr/>
        </p:nvSpPr>
        <p:spPr>
          <a:xfrm>
            <a:off x="2705100" y="1228725"/>
            <a:ext cx="9525" cy="714375"/>
          </a:xfrm>
          <a:custGeom>
            <a:rect b="b" l="l" r="r" t="t"/>
            <a:pathLst>
              <a:path extrusionOk="0" h="714375" w="9525">
                <a:moveTo>
                  <a:pt x="9525" y="0"/>
                </a:moveTo>
                <a:lnTo>
                  <a:pt x="0" y="0"/>
                </a:lnTo>
                <a:lnTo>
                  <a:pt x="0" y="714375"/>
                </a:lnTo>
                <a:lnTo>
                  <a:pt x="9525" y="714375"/>
                </a:lnTo>
                <a:lnTo>
                  <a:pt x="9525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"/>
          <p:cNvSpPr txBox="1"/>
          <p:nvPr/>
        </p:nvSpPr>
        <p:spPr>
          <a:xfrm>
            <a:off x="2817241" y="1314888"/>
            <a:ext cx="1749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A249"/>
                </a:solidFill>
                <a:latin typeface="Arial"/>
                <a:ea typeface="Arial"/>
                <a:cs typeface="Arial"/>
                <a:sym typeface="Arial"/>
              </a:rPr>
              <a:t>Vista Desarrollo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65469"/>
                </a:solidFill>
                <a:latin typeface="Tahoma"/>
                <a:ea typeface="Tahoma"/>
                <a:cs typeface="Tahoma"/>
                <a:sym typeface="Tahoma"/>
              </a:rPr>
              <a:t>Presentación → Lógica → Datos →</a:t>
            </a:r>
            <a:endParaRPr sz="8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65469"/>
                </a:solidFill>
                <a:latin typeface="Tahoma"/>
                <a:ea typeface="Tahoma"/>
                <a:cs typeface="Tahoma"/>
                <a:sym typeface="Tahoma"/>
              </a:rPr>
              <a:t>Servicios externos.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4800600" y="1228725"/>
            <a:ext cx="9525" cy="714375"/>
          </a:xfrm>
          <a:custGeom>
            <a:rect b="b" l="l" r="r" t="t"/>
            <a:pathLst>
              <a:path extrusionOk="0" h="714375" w="9525">
                <a:moveTo>
                  <a:pt x="9525" y="0"/>
                </a:moveTo>
                <a:lnTo>
                  <a:pt x="0" y="0"/>
                </a:lnTo>
                <a:lnTo>
                  <a:pt x="0" y="714375"/>
                </a:lnTo>
                <a:lnTo>
                  <a:pt x="9525" y="714375"/>
                </a:lnTo>
                <a:lnTo>
                  <a:pt x="9525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4924425" y="1228725"/>
            <a:ext cx="9525" cy="714375"/>
          </a:xfrm>
          <a:custGeom>
            <a:rect b="b" l="l" r="r" t="t"/>
            <a:pathLst>
              <a:path extrusionOk="0" h="714375" w="9525">
                <a:moveTo>
                  <a:pt x="9525" y="0"/>
                </a:moveTo>
                <a:lnTo>
                  <a:pt x="0" y="0"/>
                </a:lnTo>
                <a:lnTo>
                  <a:pt x="0" y="714375"/>
                </a:lnTo>
                <a:lnTo>
                  <a:pt x="9525" y="714375"/>
                </a:lnTo>
                <a:lnTo>
                  <a:pt x="9525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"/>
          <p:cNvSpPr txBox="1"/>
          <p:nvPr/>
        </p:nvSpPr>
        <p:spPr>
          <a:xfrm>
            <a:off x="5036439" y="1314888"/>
            <a:ext cx="1828164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D97705"/>
                </a:solidFill>
                <a:latin typeface="Arial"/>
                <a:ea typeface="Arial"/>
                <a:cs typeface="Arial"/>
                <a:sym typeface="Arial"/>
              </a:rPr>
              <a:t>Vista Procesos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65469"/>
                </a:solidFill>
                <a:latin typeface="Tahoma"/>
                <a:ea typeface="Tahoma"/>
                <a:cs typeface="Tahoma"/>
                <a:sym typeface="Tahoma"/>
              </a:rPr>
              <a:t>Web/Móvil → API REST → Lógica de</a:t>
            </a:r>
            <a:endParaRPr sz="8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65469"/>
                </a:solidFill>
                <a:latin typeface="Tahoma"/>
                <a:ea typeface="Tahoma"/>
                <a:cs typeface="Tahoma"/>
                <a:sym typeface="Tahoma"/>
              </a:rPr>
              <a:t>negocio → Datos.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7010400" y="1228725"/>
            <a:ext cx="9525" cy="714375"/>
          </a:xfrm>
          <a:custGeom>
            <a:rect b="b" l="l" r="r" t="t"/>
            <a:pathLst>
              <a:path extrusionOk="0" h="714375" w="9525">
                <a:moveTo>
                  <a:pt x="9525" y="0"/>
                </a:moveTo>
                <a:lnTo>
                  <a:pt x="0" y="0"/>
                </a:lnTo>
                <a:lnTo>
                  <a:pt x="0" y="714375"/>
                </a:lnTo>
                <a:lnTo>
                  <a:pt x="9525" y="714375"/>
                </a:lnTo>
                <a:lnTo>
                  <a:pt x="9525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"/>
          <p:cNvSpPr/>
          <p:nvPr/>
        </p:nvSpPr>
        <p:spPr>
          <a:xfrm>
            <a:off x="7134225" y="1228725"/>
            <a:ext cx="9525" cy="714375"/>
          </a:xfrm>
          <a:custGeom>
            <a:rect b="b" l="l" r="r" t="t"/>
            <a:pathLst>
              <a:path extrusionOk="0" h="714375" w="9525">
                <a:moveTo>
                  <a:pt x="9525" y="0"/>
                </a:moveTo>
                <a:lnTo>
                  <a:pt x="0" y="0"/>
                </a:lnTo>
                <a:lnTo>
                  <a:pt x="0" y="714375"/>
                </a:lnTo>
                <a:lnTo>
                  <a:pt x="9525" y="714375"/>
                </a:lnTo>
                <a:lnTo>
                  <a:pt x="9525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"/>
          <p:cNvSpPr txBox="1"/>
          <p:nvPr/>
        </p:nvSpPr>
        <p:spPr>
          <a:xfrm>
            <a:off x="7255509" y="1314888"/>
            <a:ext cx="1961514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9233EA"/>
                </a:solidFill>
                <a:latin typeface="Arial"/>
                <a:ea typeface="Arial"/>
                <a:cs typeface="Arial"/>
                <a:sym typeface="Arial"/>
              </a:rPr>
              <a:t>Vista Física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65469"/>
                </a:solidFill>
                <a:latin typeface="Tahoma"/>
                <a:ea typeface="Tahoma"/>
                <a:cs typeface="Tahoma"/>
                <a:sym typeface="Tahoma"/>
              </a:rPr>
              <a:t>Dispositivos → Infraestructura cloud →</a:t>
            </a:r>
            <a:endParaRPr sz="8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65469"/>
                </a:solidFill>
                <a:latin typeface="Tahoma"/>
                <a:ea typeface="Tahoma"/>
                <a:cs typeface="Tahoma"/>
                <a:sym typeface="Tahoma"/>
              </a:rPr>
              <a:t>BD Neon.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9229725" y="1228725"/>
            <a:ext cx="9525" cy="714375"/>
          </a:xfrm>
          <a:custGeom>
            <a:rect b="b" l="l" r="r" t="t"/>
            <a:pathLst>
              <a:path extrusionOk="0" h="714375" w="9525">
                <a:moveTo>
                  <a:pt x="9525" y="0"/>
                </a:moveTo>
                <a:lnTo>
                  <a:pt x="0" y="0"/>
                </a:lnTo>
                <a:lnTo>
                  <a:pt x="0" y="714375"/>
                </a:lnTo>
                <a:lnTo>
                  <a:pt x="9525" y="714375"/>
                </a:lnTo>
                <a:lnTo>
                  <a:pt x="9525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9353550" y="1228725"/>
            <a:ext cx="9525" cy="714375"/>
          </a:xfrm>
          <a:custGeom>
            <a:rect b="b" l="l" r="r" t="t"/>
            <a:pathLst>
              <a:path extrusionOk="0" h="714375" w="9525">
                <a:moveTo>
                  <a:pt x="9525" y="0"/>
                </a:moveTo>
                <a:lnTo>
                  <a:pt x="0" y="0"/>
                </a:lnTo>
                <a:lnTo>
                  <a:pt x="0" y="714375"/>
                </a:lnTo>
                <a:lnTo>
                  <a:pt x="9525" y="714375"/>
                </a:lnTo>
                <a:lnTo>
                  <a:pt x="9525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"/>
          <p:cNvSpPr txBox="1"/>
          <p:nvPr/>
        </p:nvSpPr>
        <p:spPr>
          <a:xfrm>
            <a:off x="9474581" y="1314888"/>
            <a:ext cx="19208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DC2525"/>
                </a:solidFill>
                <a:latin typeface="Arial"/>
                <a:ea typeface="Arial"/>
                <a:cs typeface="Arial"/>
                <a:sym typeface="Arial"/>
              </a:rPr>
              <a:t>Escenarios (+1)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65469"/>
                </a:solidFill>
                <a:latin typeface="Tahoma"/>
                <a:ea typeface="Tahoma"/>
                <a:cs typeface="Tahoma"/>
                <a:sym typeface="Tahoma"/>
              </a:rPr>
              <a:t>Registro, consulta productos, carrito y</a:t>
            </a:r>
            <a:endParaRPr sz="8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65469"/>
                </a:solidFill>
                <a:latin typeface="Tahoma"/>
                <a:ea typeface="Tahoma"/>
                <a:cs typeface="Tahoma"/>
                <a:sym typeface="Tahoma"/>
              </a:rPr>
              <a:t>compras.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19" name="Google Shape;219;p12"/>
          <p:cNvGrpSpPr/>
          <p:nvPr/>
        </p:nvGrpSpPr>
        <p:grpSpPr>
          <a:xfrm>
            <a:off x="538162" y="2300351"/>
            <a:ext cx="6534784" cy="847725"/>
            <a:chOff x="538162" y="2300351"/>
            <a:chExt cx="6534784" cy="847725"/>
          </a:xfrm>
        </p:grpSpPr>
        <p:sp>
          <p:nvSpPr>
            <p:cNvPr id="220" name="Google Shape;220;p12"/>
            <p:cNvSpPr/>
            <p:nvPr/>
          </p:nvSpPr>
          <p:spPr>
            <a:xfrm>
              <a:off x="538162" y="2300351"/>
              <a:ext cx="6534784" cy="847725"/>
            </a:xfrm>
            <a:custGeom>
              <a:rect b="b" l="l" r="r" t="t"/>
              <a:pathLst>
                <a:path extrusionOk="0" h="847725" w="6534784">
                  <a:moveTo>
                    <a:pt x="6458013" y="0"/>
                  </a:moveTo>
                  <a:lnTo>
                    <a:pt x="76200" y="0"/>
                  </a:lnTo>
                  <a:lnTo>
                    <a:pt x="46537" y="5974"/>
                  </a:lnTo>
                  <a:lnTo>
                    <a:pt x="22317" y="22272"/>
                  </a:lnTo>
                  <a:lnTo>
                    <a:pt x="5987" y="46452"/>
                  </a:lnTo>
                  <a:lnTo>
                    <a:pt x="0" y="76073"/>
                  </a:lnTo>
                  <a:lnTo>
                    <a:pt x="0" y="771525"/>
                  </a:lnTo>
                  <a:lnTo>
                    <a:pt x="5987" y="801165"/>
                  </a:lnTo>
                  <a:lnTo>
                    <a:pt x="22317" y="825388"/>
                  </a:lnTo>
                  <a:lnTo>
                    <a:pt x="46537" y="841730"/>
                  </a:lnTo>
                  <a:lnTo>
                    <a:pt x="76200" y="847725"/>
                  </a:lnTo>
                  <a:lnTo>
                    <a:pt x="6458013" y="847725"/>
                  </a:lnTo>
                  <a:lnTo>
                    <a:pt x="6487654" y="841730"/>
                  </a:lnTo>
                  <a:lnTo>
                    <a:pt x="6511877" y="825388"/>
                  </a:lnTo>
                  <a:lnTo>
                    <a:pt x="6528218" y="801165"/>
                  </a:lnTo>
                  <a:lnTo>
                    <a:pt x="6534213" y="771525"/>
                  </a:lnTo>
                  <a:lnTo>
                    <a:pt x="6534213" y="76073"/>
                  </a:lnTo>
                  <a:lnTo>
                    <a:pt x="6528218" y="46452"/>
                  </a:lnTo>
                  <a:lnTo>
                    <a:pt x="6511877" y="22272"/>
                  </a:lnTo>
                  <a:lnTo>
                    <a:pt x="6487654" y="5974"/>
                  </a:lnTo>
                  <a:lnTo>
                    <a:pt x="6458013" y="0"/>
                  </a:lnTo>
                  <a:close/>
                </a:path>
              </a:pathLst>
            </a:custGeom>
            <a:solidFill>
              <a:srgbClr val="F8F9F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2"/>
            <p:cNvSpPr/>
            <p:nvPr/>
          </p:nvSpPr>
          <p:spPr>
            <a:xfrm>
              <a:off x="538162" y="2300351"/>
              <a:ext cx="6534784" cy="847725"/>
            </a:xfrm>
            <a:custGeom>
              <a:rect b="b" l="l" r="r" t="t"/>
              <a:pathLst>
                <a:path extrusionOk="0" h="847725" w="6534784">
                  <a:moveTo>
                    <a:pt x="0" y="76073"/>
                  </a:moveTo>
                  <a:lnTo>
                    <a:pt x="5987" y="46452"/>
                  </a:lnTo>
                  <a:lnTo>
                    <a:pt x="22317" y="22272"/>
                  </a:lnTo>
                  <a:lnTo>
                    <a:pt x="46537" y="5974"/>
                  </a:lnTo>
                  <a:lnTo>
                    <a:pt x="76200" y="0"/>
                  </a:lnTo>
                  <a:lnTo>
                    <a:pt x="6458013" y="0"/>
                  </a:lnTo>
                  <a:lnTo>
                    <a:pt x="6487654" y="5974"/>
                  </a:lnTo>
                  <a:lnTo>
                    <a:pt x="6511877" y="22272"/>
                  </a:lnTo>
                  <a:lnTo>
                    <a:pt x="6528218" y="46452"/>
                  </a:lnTo>
                  <a:lnTo>
                    <a:pt x="6534213" y="76073"/>
                  </a:lnTo>
                  <a:lnTo>
                    <a:pt x="6534213" y="771525"/>
                  </a:lnTo>
                  <a:lnTo>
                    <a:pt x="6528218" y="801165"/>
                  </a:lnTo>
                  <a:lnTo>
                    <a:pt x="6511877" y="825388"/>
                  </a:lnTo>
                  <a:lnTo>
                    <a:pt x="6487654" y="841730"/>
                  </a:lnTo>
                  <a:lnTo>
                    <a:pt x="6458013" y="847725"/>
                  </a:lnTo>
                  <a:lnTo>
                    <a:pt x="76200" y="847725"/>
                  </a:lnTo>
                  <a:lnTo>
                    <a:pt x="46537" y="841730"/>
                  </a:lnTo>
                  <a:lnTo>
                    <a:pt x="22317" y="825388"/>
                  </a:lnTo>
                  <a:lnTo>
                    <a:pt x="5987" y="801165"/>
                  </a:lnTo>
                  <a:lnTo>
                    <a:pt x="0" y="771525"/>
                  </a:lnTo>
                  <a:lnTo>
                    <a:pt x="0" y="76073"/>
                  </a:lnTo>
                  <a:close/>
                </a:path>
              </a:pathLst>
            </a:custGeom>
            <a:noFill/>
            <a:ln cap="flat" cmpd="sng" w="9525">
              <a:solidFill>
                <a:srgbClr val="CAD4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2" name="Google Shape;222;p12"/>
          <p:cNvSpPr txBox="1"/>
          <p:nvPr/>
        </p:nvSpPr>
        <p:spPr>
          <a:xfrm>
            <a:off x="702309" y="2380071"/>
            <a:ext cx="2391410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6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D97705"/>
                </a:solidFill>
                <a:latin typeface="Arial"/>
                <a:ea typeface="Arial"/>
                <a:cs typeface="Arial"/>
                <a:sym typeface="Arial"/>
              </a:rPr>
              <a:t>CAPA DE PRESENTACIÓN</a:t>
            </a:r>
            <a:endParaRPr sz="75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E172A"/>
                </a:solidFill>
                <a:latin typeface="Arial"/>
                <a:ea typeface="Arial"/>
                <a:cs typeface="Arial"/>
                <a:sym typeface="Arial"/>
              </a:rPr>
              <a:t>Sitio Web + App Móvil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Ionic • Angular • Capacitor • HTML/CSS/JS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3" name="Google Shape;223;p12"/>
          <p:cNvSpPr txBox="1"/>
          <p:nvPr/>
        </p:nvSpPr>
        <p:spPr>
          <a:xfrm>
            <a:off x="7257415" y="2342515"/>
            <a:ext cx="1922145" cy="15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63748A"/>
                </a:solidFill>
                <a:latin typeface="Arial"/>
                <a:ea typeface="Arial"/>
                <a:cs typeface="Arial"/>
                <a:sym typeface="Arial"/>
              </a:rPr>
              <a:t>SERVICIOS EXTERNOS INTEGRADOS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4" name="Google Shape;22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5125" y="2609850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2850" y="3228975"/>
            <a:ext cx="104775" cy="123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" name="Google Shape;226;p12"/>
          <p:cNvGrpSpPr/>
          <p:nvPr/>
        </p:nvGrpSpPr>
        <p:grpSpPr>
          <a:xfrm>
            <a:off x="7300976" y="2881376"/>
            <a:ext cx="4362450" cy="742950"/>
            <a:chOff x="7300976" y="2881376"/>
            <a:chExt cx="4362450" cy="742950"/>
          </a:xfrm>
        </p:grpSpPr>
        <p:sp>
          <p:nvSpPr>
            <p:cNvPr id="227" name="Google Shape;227;p12"/>
            <p:cNvSpPr/>
            <p:nvPr/>
          </p:nvSpPr>
          <p:spPr>
            <a:xfrm>
              <a:off x="7300976" y="2881376"/>
              <a:ext cx="4362450" cy="742950"/>
            </a:xfrm>
            <a:custGeom>
              <a:rect b="b" l="l" r="r" t="t"/>
              <a:pathLst>
                <a:path extrusionOk="0" h="742950" w="4362450">
                  <a:moveTo>
                    <a:pt x="4252341" y="0"/>
                  </a:moveTo>
                  <a:lnTo>
                    <a:pt x="109981" y="0"/>
                  </a:lnTo>
                  <a:lnTo>
                    <a:pt x="67133" y="8630"/>
                  </a:lnTo>
                  <a:lnTo>
                    <a:pt x="32178" y="32178"/>
                  </a:lnTo>
                  <a:lnTo>
                    <a:pt x="8630" y="67133"/>
                  </a:lnTo>
                  <a:lnTo>
                    <a:pt x="0" y="109982"/>
                  </a:lnTo>
                  <a:lnTo>
                    <a:pt x="0" y="632840"/>
                  </a:lnTo>
                  <a:lnTo>
                    <a:pt x="8630" y="675709"/>
                  </a:lnTo>
                  <a:lnTo>
                    <a:pt x="32178" y="710707"/>
                  </a:lnTo>
                  <a:lnTo>
                    <a:pt x="67133" y="734300"/>
                  </a:lnTo>
                  <a:lnTo>
                    <a:pt x="109981" y="742950"/>
                  </a:lnTo>
                  <a:lnTo>
                    <a:pt x="4252341" y="742950"/>
                  </a:lnTo>
                  <a:lnTo>
                    <a:pt x="4295209" y="734300"/>
                  </a:lnTo>
                  <a:lnTo>
                    <a:pt x="4330207" y="710707"/>
                  </a:lnTo>
                  <a:lnTo>
                    <a:pt x="4353800" y="675709"/>
                  </a:lnTo>
                  <a:lnTo>
                    <a:pt x="4362450" y="632840"/>
                  </a:lnTo>
                  <a:lnTo>
                    <a:pt x="4362450" y="109982"/>
                  </a:lnTo>
                  <a:lnTo>
                    <a:pt x="4353800" y="67133"/>
                  </a:lnTo>
                  <a:lnTo>
                    <a:pt x="4330207" y="32178"/>
                  </a:lnTo>
                  <a:lnTo>
                    <a:pt x="4295209" y="8630"/>
                  </a:lnTo>
                  <a:lnTo>
                    <a:pt x="4252341" y="0"/>
                  </a:lnTo>
                  <a:close/>
                </a:path>
              </a:pathLst>
            </a:custGeom>
            <a:solidFill>
              <a:srgbClr val="F8F9F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2"/>
            <p:cNvSpPr/>
            <p:nvPr/>
          </p:nvSpPr>
          <p:spPr>
            <a:xfrm>
              <a:off x="7300976" y="2881376"/>
              <a:ext cx="4362450" cy="742950"/>
            </a:xfrm>
            <a:custGeom>
              <a:rect b="b" l="l" r="r" t="t"/>
              <a:pathLst>
                <a:path extrusionOk="0" h="742950" w="4362450">
                  <a:moveTo>
                    <a:pt x="0" y="109982"/>
                  </a:moveTo>
                  <a:lnTo>
                    <a:pt x="8630" y="67133"/>
                  </a:lnTo>
                  <a:lnTo>
                    <a:pt x="32178" y="32178"/>
                  </a:lnTo>
                  <a:lnTo>
                    <a:pt x="67133" y="8630"/>
                  </a:lnTo>
                  <a:lnTo>
                    <a:pt x="109981" y="0"/>
                  </a:lnTo>
                  <a:lnTo>
                    <a:pt x="4252341" y="0"/>
                  </a:lnTo>
                  <a:lnTo>
                    <a:pt x="4295209" y="8630"/>
                  </a:lnTo>
                  <a:lnTo>
                    <a:pt x="4330207" y="32178"/>
                  </a:lnTo>
                  <a:lnTo>
                    <a:pt x="4353800" y="67133"/>
                  </a:lnTo>
                  <a:lnTo>
                    <a:pt x="4362450" y="109982"/>
                  </a:lnTo>
                  <a:lnTo>
                    <a:pt x="4362450" y="632840"/>
                  </a:lnTo>
                  <a:lnTo>
                    <a:pt x="4353800" y="675709"/>
                  </a:lnTo>
                  <a:lnTo>
                    <a:pt x="4330207" y="710707"/>
                  </a:lnTo>
                  <a:lnTo>
                    <a:pt x="4295209" y="734300"/>
                  </a:lnTo>
                  <a:lnTo>
                    <a:pt x="4252341" y="742950"/>
                  </a:lnTo>
                  <a:lnTo>
                    <a:pt x="109981" y="742950"/>
                  </a:lnTo>
                  <a:lnTo>
                    <a:pt x="67133" y="734300"/>
                  </a:lnTo>
                  <a:lnTo>
                    <a:pt x="32178" y="710707"/>
                  </a:lnTo>
                  <a:lnTo>
                    <a:pt x="8630" y="675709"/>
                  </a:lnTo>
                  <a:lnTo>
                    <a:pt x="0" y="632840"/>
                  </a:lnTo>
                  <a:lnTo>
                    <a:pt x="0" y="109982"/>
                  </a:lnTo>
                  <a:close/>
                </a:path>
              </a:pathLst>
            </a:custGeom>
            <a:noFill/>
            <a:ln cap="flat" cmpd="sng" w="9525">
              <a:solidFill>
                <a:srgbClr val="E1E8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image.png" id="229" name="Google Shape;22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39025" y="3028950"/>
            <a:ext cx="15240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2"/>
          <p:cNvSpPr txBox="1"/>
          <p:nvPr/>
        </p:nvSpPr>
        <p:spPr>
          <a:xfrm>
            <a:off x="7436104" y="2975084"/>
            <a:ext cx="1518285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525">
            <a:spAutoFit/>
          </a:bodyPr>
          <a:lstStyle/>
          <a:p>
            <a:pPr indent="0" lvl="0" marL="2222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1E293A"/>
                </a:solidFill>
                <a:latin typeface="Arial"/>
                <a:ea typeface="Arial"/>
                <a:cs typeface="Arial"/>
                <a:sym typeface="Arial"/>
              </a:rPr>
              <a:t>Cloudinary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9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Almacenamiento de imágenes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31" name="Google Shape;231;p12"/>
          <p:cNvGrpSpPr/>
          <p:nvPr/>
        </p:nvGrpSpPr>
        <p:grpSpPr>
          <a:xfrm>
            <a:off x="538162" y="3424301"/>
            <a:ext cx="6534784" cy="847725"/>
            <a:chOff x="538162" y="3424301"/>
            <a:chExt cx="6534784" cy="847725"/>
          </a:xfrm>
        </p:grpSpPr>
        <p:sp>
          <p:nvSpPr>
            <p:cNvPr id="232" name="Google Shape;232;p12"/>
            <p:cNvSpPr/>
            <p:nvPr/>
          </p:nvSpPr>
          <p:spPr>
            <a:xfrm>
              <a:off x="538162" y="3424301"/>
              <a:ext cx="6534784" cy="847725"/>
            </a:xfrm>
            <a:custGeom>
              <a:rect b="b" l="l" r="r" t="t"/>
              <a:pathLst>
                <a:path extrusionOk="0" h="847725" w="6534784">
                  <a:moveTo>
                    <a:pt x="6458013" y="0"/>
                  </a:moveTo>
                  <a:lnTo>
                    <a:pt x="76200" y="0"/>
                  </a:lnTo>
                  <a:lnTo>
                    <a:pt x="46537" y="5974"/>
                  </a:lnTo>
                  <a:lnTo>
                    <a:pt x="22317" y="22272"/>
                  </a:lnTo>
                  <a:lnTo>
                    <a:pt x="5987" y="46452"/>
                  </a:lnTo>
                  <a:lnTo>
                    <a:pt x="0" y="76073"/>
                  </a:lnTo>
                  <a:lnTo>
                    <a:pt x="0" y="771525"/>
                  </a:lnTo>
                  <a:lnTo>
                    <a:pt x="5987" y="801165"/>
                  </a:lnTo>
                  <a:lnTo>
                    <a:pt x="22317" y="825388"/>
                  </a:lnTo>
                  <a:lnTo>
                    <a:pt x="46537" y="841730"/>
                  </a:lnTo>
                  <a:lnTo>
                    <a:pt x="76200" y="847725"/>
                  </a:lnTo>
                  <a:lnTo>
                    <a:pt x="6458013" y="847725"/>
                  </a:lnTo>
                  <a:lnTo>
                    <a:pt x="6487654" y="841730"/>
                  </a:lnTo>
                  <a:lnTo>
                    <a:pt x="6511877" y="825388"/>
                  </a:lnTo>
                  <a:lnTo>
                    <a:pt x="6528218" y="801165"/>
                  </a:lnTo>
                  <a:lnTo>
                    <a:pt x="6534213" y="771525"/>
                  </a:lnTo>
                  <a:lnTo>
                    <a:pt x="6534213" y="76073"/>
                  </a:lnTo>
                  <a:lnTo>
                    <a:pt x="6528218" y="46452"/>
                  </a:lnTo>
                  <a:lnTo>
                    <a:pt x="6511877" y="22272"/>
                  </a:lnTo>
                  <a:lnTo>
                    <a:pt x="6487654" y="5974"/>
                  </a:lnTo>
                  <a:lnTo>
                    <a:pt x="6458013" y="0"/>
                  </a:lnTo>
                  <a:close/>
                </a:path>
              </a:pathLst>
            </a:custGeom>
            <a:solidFill>
              <a:srgbClr val="F8F9F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2"/>
            <p:cNvSpPr/>
            <p:nvPr/>
          </p:nvSpPr>
          <p:spPr>
            <a:xfrm>
              <a:off x="538162" y="3424301"/>
              <a:ext cx="6534784" cy="847725"/>
            </a:xfrm>
            <a:custGeom>
              <a:rect b="b" l="l" r="r" t="t"/>
              <a:pathLst>
                <a:path extrusionOk="0" h="847725" w="6534784">
                  <a:moveTo>
                    <a:pt x="0" y="76073"/>
                  </a:moveTo>
                  <a:lnTo>
                    <a:pt x="5987" y="46452"/>
                  </a:lnTo>
                  <a:lnTo>
                    <a:pt x="22317" y="22272"/>
                  </a:lnTo>
                  <a:lnTo>
                    <a:pt x="46537" y="5974"/>
                  </a:lnTo>
                  <a:lnTo>
                    <a:pt x="76200" y="0"/>
                  </a:lnTo>
                  <a:lnTo>
                    <a:pt x="6458013" y="0"/>
                  </a:lnTo>
                  <a:lnTo>
                    <a:pt x="6487654" y="5974"/>
                  </a:lnTo>
                  <a:lnTo>
                    <a:pt x="6511877" y="22272"/>
                  </a:lnTo>
                  <a:lnTo>
                    <a:pt x="6528218" y="46452"/>
                  </a:lnTo>
                  <a:lnTo>
                    <a:pt x="6534213" y="76073"/>
                  </a:lnTo>
                  <a:lnTo>
                    <a:pt x="6534213" y="771525"/>
                  </a:lnTo>
                  <a:lnTo>
                    <a:pt x="6528218" y="801165"/>
                  </a:lnTo>
                  <a:lnTo>
                    <a:pt x="6511877" y="825388"/>
                  </a:lnTo>
                  <a:lnTo>
                    <a:pt x="6487654" y="841730"/>
                  </a:lnTo>
                  <a:lnTo>
                    <a:pt x="6458013" y="847725"/>
                  </a:lnTo>
                  <a:lnTo>
                    <a:pt x="76200" y="847725"/>
                  </a:lnTo>
                  <a:lnTo>
                    <a:pt x="46537" y="841730"/>
                  </a:lnTo>
                  <a:lnTo>
                    <a:pt x="22317" y="825388"/>
                  </a:lnTo>
                  <a:lnTo>
                    <a:pt x="5987" y="801165"/>
                  </a:lnTo>
                  <a:lnTo>
                    <a:pt x="0" y="771525"/>
                  </a:lnTo>
                  <a:lnTo>
                    <a:pt x="0" y="76073"/>
                  </a:lnTo>
                  <a:close/>
                </a:path>
              </a:pathLst>
            </a:custGeom>
            <a:noFill/>
            <a:ln cap="flat" cmpd="sng" w="9525">
              <a:solidFill>
                <a:srgbClr val="CAD4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4" name="Google Shape;234;p12"/>
          <p:cNvSpPr txBox="1"/>
          <p:nvPr/>
        </p:nvSpPr>
        <p:spPr>
          <a:xfrm>
            <a:off x="702309" y="3506129"/>
            <a:ext cx="2002789" cy="635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0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D97705"/>
                </a:solidFill>
                <a:latin typeface="Arial"/>
                <a:ea typeface="Arial"/>
                <a:cs typeface="Arial"/>
                <a:sym typeface="Arial"/>
              </a:rPr>
              <a:t>BACKEND s API REST</a:t>
            </a:r>
            <a:endParaRPr sz="75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E172A"/>
                </a:solidFill>
                <a:latin typeface="Arial"/>
                <a:ea typeface="Arial"/>
                <a:cs typeface="Arial"/>
                <a:sym typeface="Arial"/>
              </a:rPr>
              <a:t>Python + Django + DRF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Lógica de negocio y endpoints REST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.png" id="235" name="Google Shape;23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00825" y="3733800"/>
            <a:ext cx="285750" cy="22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2"/>
          <p:cNvGrpSpPr/>
          <p:nvPr/>
        </p:nvGrpSpPr>
        <p:grpSpPr>
          <a:xfrm>
            <a:off x="7300976" y="3852926"/>
            <a:ext cx="4362450" cy="514350"/>
            <a:chOff x="7300976" y="3852926"/>
            <a:chExt cx="4362450" cy="514350"/>
          </a:xfrm>
        </p:grpSpPr>
        <p:sp>
          <p:nvSpPr>
            <p:cNvPr id="237" name="Google Shape;237;p12"/>
            <p:cNvSpPr/>
            <p:nvPr/>
          </p:nvSpPr>
          <p:spPr>
            <a:xfrm>
              <a:off x="7300976" y="3852926"/>
              <a:ext cx="4362450" cy="514350"/>
            </a:xfrm>
            <a:custGeom>
              <a:rect b="b" l="l" r="r" t="t"/>
              <a:pathLst>
                <a:path extrusionOk="0" h="514350" w="4362450">
                  <a:moveTo>
                    <a:pt x="4286250" y="0"/>
                  </a:moveTo>
                  <a:lnTo>
                    <a:pt x="76073" y="0"/>
                  </a:lnTo>
                  <a:lnTo>
                    <a:pt x="46452" y="5974"/>
                  </a:lnTo>
                  <a:lnTo>
                    <a:pt x="22272" y="22272"/>
                  </a:lnTo>
                  <a:lnTo>
                    <a:pt x="5974" y="46452"/>
                  </a:lnTo>
                  <a:lnTo>
                    <a:pt x="0" y="76073"/>
                  </a:lnTo>
                  <a:lnTo>
                    <a:pt x="0" y="438150"/>
                  </a:lnTo>
                  <a:lnTo>
                    <a:pt x="5974" y="467790"/>
                  </a:lnTo>
                  <a:lnTo>
                    <a:pt x="22272" y="492013"/>
                  </a:lnTo>
                  <a:lnTo>
                    <a:pt x="46452" y="508355"/>
                  </a:lnTo>
                  <a:lnTo>
                    <a:pt x="76073" y="514350"/>
                  </a:lnTo>
                  <a:lnTo>
                    <a:pt x="4286250" y="514350"/>
                  </a:lnTo>
                  <a:lnTo>
                    <a:pt x="4315890" y="508355"/>
                  </a:lnTo>
                  <a:lnTo>
                    <a:pt x="4340113" y="492013"/>
                  </a:lnTo>
                  <a:lnTo>
                    <a:pt x="4356455" y="467790"/>
                  </a:lnTo>
                  <a:lnTo>
                    <a:pt x="4362450" y="438150"/>
                  </a:lnTo>
                  <a:lnTo>
                    <a:pt x="4362450" y="76073"/>
                  </a:lnTo>
                  <a:lnTo>
                    <a:pt x="4356455" y="46452"/>
                  </a:lnTo>
                  <a:lnTo>
                    <a:pt x="4340113" y="22272"/>
                  </a:lnTo>
                  <a:lnTo>
                    <a:pt x="4315890" y="5974"/>
                  </a:lnTo>
                  <a:lnTo>
                    <a:pt x="4286250" y="0"/>
                  </a:lnTo>
                  <a:close/>
                </a:path>
              </a:pathLst>
            </a:custGeom>
            <a:solidFill>
              <a:srgbClr val="F8F9F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2"/>
            <p:cNvSpPr/>
            <p:nvPr/>
          </p:nvSpPr>
          <p:spPr>
            <a:xfrm>
              <a:off x="7300976" y="3852926"/>
              <a:ext cx="4362450" cy="514350"/>
            </a:xfrm>
            <a:custGeom>
              <a:rect b="b" l="l" r="r" t="t"/>
              <a:pathLst>
                <a:path extrusionOk="0" h="514350" w="4362450">
                  <a:moveTo>
                    <a:pt x="0" y="76073"/>
                  </a:moveTo>
                  <a:lnTo>
                    <a:pt x="5974" y="46452"/>
                  </a:lnTo>
                  <a:lnTo>
                    <a:pt x="22272" y="22272"/>
                  </a:lnTo>
                  <a:lnTo>
                    <a:pt x="46452" y="5974"/>
                  </a:lnTo>
                  <a:lnTo>
                    <a:pt x="76073" y="0"/>
                  </a:lnTo>
                  <a:lnTo>
                    <a:pt x="4286250" y="0"/>
                  </a:lnTo>
                  <a:lnTo>
                    <a:pt x="4315890" y="5974"/>
                  </a:lnTo>
                  <a:lnTo>
                    <a:pt x="4340113" y="22272"/>
                  </a:lnTo>
                  <a:lnTo>
                    <a:pt x="4356455" y="46452"/>
                  </a:lnTo>
                  <a:lnTo>
                    <a:pt x="4362450" y="76073"/>
                  </a:lnTo>
                  <a:lnTo>
                    <a:pt x="4362450" y="438150"/>
                  </a:lnTo>
                  <a:lnTo>
                    <a:pt x="4356455" y="467790"/>
                  </a:lnTo>
                  <a:lnTo>
                    <a:pt x="4340113" y="492013"/>
                  </a:lnTo>
                  <a:lnTo>
                    <a:pt x="4315890" y="508355"/>
                  </a:lnTo>
                  <a:lnTo>
                    <a:pt x="4286250" y="514350"/>
                  </a:lnTo>
                  <a:lnTo>
                    <a:pt x="76073" y="514350"/>
                  </a:lnTo>
                  <a:lnTo>
                    <a:pt x="46452" y="508355"/>
                  </a:lnTo>
                  <a:lnTo>
                    <a:pt x="22272" y="492013"/>
                  </a:lnTo>
                  <a:lnTo>
                    <a:pt x="5974" y="467790"/>
                  </a:lnTo>
                  <a:lnTo>
                    <a:pt x="0" y="438150"/>
                  </a:lnTo>
                  <a:lnTo>
                    <a:pt x="0" y="76073"/>
                  </a:lnTo>
                  <a:close/>
                </a:path>
              </a:pathLst>
            </a:custGeom>
            <a:noFill/>
            <a:ln cap="flat" cmpd="sng" w="9525">
              <a:solidFill>
                <a:srgbClr val="E1E8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image.png" id="239" name="Google Shape;239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39025" y="3971925"/>
            <a:ext cx="114298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2"/>
          <p:cNvSpPr txBox="1"/>
          <p:nvPr/>
        </p:nvSpPr>
        <p:spPr>
          <a:xfrm>
            <a:off x="7435850" y="3919693"/>
            <a:ext cx="1450975" cy="35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175">
            <a:spAutoFit/>
          </a:bodyPr>
          <a:lstStyle/>
          <a:p>
            <a:pPr indent="0" lvl="0" marL="2108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1E293A"/>
                </a:solidFill>
                <a:latin typeface="Arial"/>
                <a:ea typeface="Arial"/>
                <a:cs typeface="Arial"/>
                <a:sym typeface="Arial"/>
              </a:rPr>
              <a:t>Google Cloud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Recuperación de contraseña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.png" id="241" name="Google Shape;24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2850" y="4352925"/>
            <a:ext cx="104775" cy="123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12"/>
          <p:cNvGrpSpPr/>
          <p:nvPr/>
        </p:nvGrpSpPr>
        <p:grpSpPr>
          <a:xfrm>
            <a:off x="538162" y="4548251"/>
            <a:ext cx="6534784" cy="847725"/>
            <a:chOff x="538162" y="4548251"/>
            <a:chExt cx="6534784" cy="847725"/>
          </a:xfrm>
        </p:grpSpPr>
        <p:sp>
          <p:nvSpPr>
            <p:cNvPr id="243" name="Google Shape;243;p12"/>
            <p:cNvSpPr/>
            <p:nvPr/>
          </p:nvSpPr>
          <p:spPr>
            <a:xfrm>
              <a:off x="538162" y="4548251"/>
              <a:ext cx="6534784" cy="847725"/>
            </a:xfrm>
            <a:custGeom>
              <a:rect b="b" l="l" r="r" t="t"/>
              <a:pathLst>
                <a:path extrusionOk="0" h="847725" w="6534784">
                  <a:moveTo>
                    <a:pt x="6458013" y="0"/>
                  </a:moveTo>
                  <a:lnTo>
                    <a:pt x="76200" y="0"/>
                  </a:lnTo>
                  <a:lnTo>
                    <a:pt x="46537" y="5974"/>
                  </a:lnTo>
                  <a:lnTo>
                    <a:pt x="22317" y="22272"/>
                  </a:lnTo>
                  <a:lnTo>
                    <a:pt x="5987" y="46452"/>
                  </a:lnTo>
                  <a:lnTo>
                    <a:pt x="0" y="76073"/>
                  </a:lnTo>
                  <a:lnTo>
                    <a:pt x="0" y="771525"/>
                  </a:lnTo>
                  <a:lnTo>
                    <a:pt x="5987" y="801165"/>
                  </a:lnTo>
                  <a:lnTo>
                    <a:pt x="22317" y="825388"/>
                  </a:lnTo>
                  <a:lnTo>
                    <a:pt x="46537" y="841730"/>
                  </a:lnTo>
                  <a:lnTo>
                    <a:pt x="76200" y="847725"/>
                  </a:lnTo>
                  <a:lnTo>
                    <a:pt x="6458013" y="847725"/>
                  </a:lnTo>
                  <a:lnTo>
                    <a:pt x="6487654" y="841730"/>
                  </a:lnTo>
                  <a:lnTo>
                    <a:pt x="6511877" y="825388"/>
                  </a:lnTo>
                  <a:lnTo>
                    <a:pt x="6528218" y="801165"/>
                  </a:lnTo>
                  <a:lnTo>
                    <a:pt x="6534213" y="771525"/>
                  </a:lnTo>
                  <a:lnTo>
                    <a:pt x="6534213" y="76073"/>
                  </a:lnTo>
                  <a:lnTo>
                    <a:pt x="6528218" y="46452"/>
                  </a:lnTo>
                  <a:lnTo>
                    <a:pt x="6511877" y="22272"/>
                  </a:lnTo>
                  <a:lnTo>
                    <a:pt x="6487654" y="5974"/>
                  </a:lnTo>
                  <a:lnTo>
                    <a:pt x="6458013" y="0"/>
                  </a:lnTo>
                  <a:close/>
                </a:path>
              </a:pathLst>
            </a:custGeom>
            <a:solidFill>
              <a:srgbClr val="F8F9F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2"/>
            <p:cNvSpPr/>
            <p:nvPr/>
          </p:nvSpPr>
          <p:spPr>
            <a:xfrm>
              <a:off x="538162" y="4548251"/>
              <a:ext cx="6534784" cy="847725"/>
            </a:xfrm>
            <a:custGeom>
              <a:rect b="b" l="l" r="r" t="t"/>
              <a:pathLst>
                <a:path extrusionOk="0" h="847725" w="6534784">
                  <a:moveTo>
                    <a:pt x="0" y="76073"/>
                  </a:moveTo>
                  <a:lnTo>
                    <a:pt x="5987" y="46452"/>
                  </a:lnTo>
                  <a:lnTo>
                    <a:pt x="22317" y="22272"/>
                  </a:lnTo>
                  <a:lnTo>
                    <a:pt x="46537" y="5974"/>
                  </a:lnTo>
                  <a:lnTo>
                    <a:pt x="76200" y="0"/>
                  </a:lnTo>
                  <a:lnTo>
                    <a:pt x="6458013" y="0"/>
                  </a:lnTo>
                  <a:lnTo>
                    <a:pt x="6487654" y="5974"/>
                  </a:lnTo>
                  <a:lnTo>
                    <a:pt x="6511877" y="22272"/>
                  </a:lnTo>
                  <a:lnTo>
                    <a:pt x="6528218" y="46452"/>
                  </a:lnTo>
                  <a:lnTo>
                    <a:pt x="6534213" y="76073"/>
                  </a:lnTo>
                  <a:lnTo>
                    <a:pt x="6534213" y="771525"/>
                  </a:lnTo>
                  <a:lnTo>
                    <a:pt x="6528218" y="801165"/>
                  </a:lnTo>
                  <a:lnTo>
                    <a:pt x="6511877" y="825388"/>
                  </a:lnTo>
                  <a:lnTo>
                    <a:pt x="6487654" y="841730"/>
                  </a:lnTo>
                  <a:lnTo>
                    <a:pt x="6458013" y="847725"/>
                  </a:lnTo>
                  <a:lnTo>
                    <a:pt x="76200" y="847725"/>
                  </a:lnTo>
                  <a:lnTo>
                    <a:pt x="46537" y="841730"/>
                  </a:lnTo>
                  <a:lnTo>
                    <a:pt x="22317" y="825388"/>
                  </a:lnTo>
                  <a:lnTo>
                    <a:pt x="5987" y="801165"/>
                  </a:lnTo>
                  <a:lnTo>
                    <a:pt x="0" y="771525"/>
                  </a:lnTo>
                  <a:lnTo>
                    <a:pt x="0" y="76073"/>
                  </a:lnTo>
                  <a:close/>
                </a:path>
              </a:pathLst>
            </a:custGeom>
            <a:noFill/>
            <a:ln cap="flat" cmpd="sng" w="9525">
              <a:solidFill>
                <a:srgbClr val="CAD4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5" name="Google Shape;245;p12"/>
          <p:cNvSpPr txBox="1"/>
          <p:nvPr/>
        </p:nvSpPr>
        <p:spPr>
          <a:xfrm>
            <a:off x="702309" y="4631602"/>
            <a:ext cx="1826895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0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D97705"/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  <a:endParaRPr sz="75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E172A"/>
                </a:solidFill>
                <a:latin typeface="Arial"/>
                <a:ea typeface="Arial"/>
                <a:cs typeface="Arial"/>
                <a:sym typeface="Arial"/>
              </a:rPr>
              <a:t>PostgreSQL en Neon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Persistencia relacional serverless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.png" id="246" name="Google Shape;246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86550" y="4857750"/>
            <a:ext cx="200025" cy="22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p12"/>
          <p:cNvGrpSpPr/>
          <p:nvPr/>
        </p:nvGrpSpPr>
        <p:grpSpPr>
          <a:xfrm>
            <a:off x="7300976" y="4681601"/>
            <a:ext cx="4362450" cy="514350"/>
            <a:chOff x="7300976" y="4681601"/>
            <a:chExt cx="4362450" cy="514350"/>
          </a:xfrm>
        </p:grpSpPr>
        <p:sp>
          <p:nvSpPr>
            <p:cNvPr id="248" name="Google Shape;248;p12"/>
            <p:cNvSpPr/>
            <p:nvPr/>
          </p:nvSpPr>
          <p:spPr>
            <a:xfrm>
              <a:off x="7300976" y="4681601"/>
              <a:ext cx="4362450" cy="514350"/>
            </a:xfrm>
            <a:custGeom>
              <a:rect b="b" l="l" r="r" t="t"/>
              <a:pathLst>
                <a:path extrusionOk="0" h="514350" w="4362450">
                  <a:moveTo>
                    <a:pt x="4286250" y="0"/>
                  </a:moveTo>
                  <a:lnTo>
                    <a:pt x="76073" y="0"/>
                  </a:lnTo>
                  <a:lnTo>
                    <a:pt x="46452" y="5974"/>
                  </a:lnTo>
                  <a:lnTo>
                    <a:pt x="22272" y="22272"/>
                  </a:lnTo>
                  <a:lnTo>
                    <a:pt x="5974" y="46452"/>
                  </a:lnTo>
                  <a:lnTo>
                    <a:pt x="0" y="76073"/>
                  </a:lnTo>
                  <a:lnTo>
                    <a:pt x="0" y="438150"/>
                  </a:lnTo>
                  <a:lnTo>
                    <a:pt x="5974" y="467790"/>
                  </a:lnTo>
                  <a:lnTo>
                    <a:pt x="22272" y="492013"/>
                  </a:lnTo>
                  <a:lnTo>
                    <a:pt x="46452" y="508355"/>
                  </a:lnTo>
                  <a:lnTo>
                    <a:pt x="76073" y="514350"/>
                  </a:lnTo>
                  <a:lnTo>
                    <a:pt x="4286250" y="514350"/>
                  </a:lnTo>
                  <a:lnTo>
                    <a:pt x="4315890" y="508355"/>
                  </a:lnTo>
                  <a:lnTo>
                    <a:pt x="4340113" y="492013"/>
                  </a:lnTo>
                  <a:lnTo>
                    <a:pt x="4356455" y="467790"/>
                  </a:lnTo>
                  <a:lnTo>
                    <a:pt x="4362450" y="438150"/>
                  </a:lnTo>
                  <a:lnTo>
                    <a:pt x="4362450" y="76073"/>
                  </a:lnTo>
                  <a:lnTo>
                    <a:pt x="4356455" y="46452"/>
                  </a:lnTo>
                  <a:lnTo>
                    <a:pt x="4340113" y="22272"/>
                  </a:lnTo>
                  <a:lnTo>
                    <a:pt x="4315890" y="5974"/>
                  </a:lnTo>
                  <a:lnTo>
                    <a:pt x="4286250" y="0"/>
                  </a:lnTo>
                  <a:close/>
                </a:path>
              </a:pathLst>
            </a:custGeom>
            <a:solidFill>
              <a:srgbClr val="FFFA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2"/>
            <p:cNvSpPr/>
            <p:nvPr/>
          </p:nvSpPr>
          <p:spPr>
            <a:xfrm>
              <a:off x="7300976" y="4681601"/>
              <a:ext cx="4362450" cy="514350"/>
            </a:xfrm>
            <a:custGeom>
              <a:rect b="b" l="l" r="r" t="t"/>
              <a:pathLst>
                <a:path extrusionOk="0" h="514350" w="4362450">
                  <a:moveTo>
                    <a:pt x="0" y="76073"/>
                  </a:moveTo>
                  <a:lnTo>
                    <a:pt x="5974" y="46452"/>
                  </a:lnTo>
                  <a:lnTo>
                    <a:pt x="22272" y="22272"/>
                  </a:lnTo>
                  <a:lnTo>
                    <a:pt x="46452" y="5974"/>
                  </a:lnTo>
                  <a:lnTo>
                    <a:pt x="76073" y="0"/>
                  </a:lnTo>
                  <a:lnTo>
                    <a:pt x="4286250" y="0"/>
                  </a:lnTo>
                  <a:lnTo>
                    <a:pt x="4315890" y="5974"/>
                  </a:lnTo>
                  <a:lnTo>
                    <a:pt x="4340113" y="22272"/>
                  </a:lnTo>
                  <a:lnTo>
                    <a:pt x="4356455" y="46452"/>
                  </a:lnTo>
                  <a:lnTo>
                    <a:pt x="4362450" y="76073"/>
                  </a:lnTo>
                  <a:lnTo>
                    <a:pt x="4362450" y="438150"/>
                  </a:lnTo>
                  <a:lnTo>
                    <a:pt x="4356455" y="467790"/>
                  </a:lnTo>
                  <a:lnTo>
                    <a:pt x="4340113" y="492013"/>
                  </a:lnTo>
                  <a:lnTo>
                    <a:pt x="4315890" y="508355"/>
                  </a:lnTo>
                  <a:lnTo>
                    <a:pt x="4286250" y="514350"/>
                  </a:lnTo>
                  <a:lnTo>
                    <a:pt x="76073" y="514350"/>
                  </a:lnTo>
                  <a:lnTo>
                    <a:pt x="46452" y="508355"/>
                  </a:lnTo>
                  <a:lnTo>
                    <a:pt x="22272" y="492013"/>
                  </a:lnTo>
                  <a:lnTo>
                    <a:pt x="5974" y="467790"/>
                  </a:lnTo>
                  <a:lnTo>
                    <a:pt x="0" y="438150"/>
                  </a:lnTo>
                  <a:lnTo>
                    <a:pt x="0" y="76073"/>
                  </a:lnTo>
                  <a:close/>
                </a:path>
              </a:pathLst>
            </a:custGeom>
            <a:noFill/>
            <a:ln cap="flat" cmpd="sng" w="9525">
              <a:solidFill>
                <a:srgbClr val="FCE6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image.png" id="250" name="Google Shape;250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39025" y="4800600"/>
            <a:ext cx="14287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2"/>
          <p:cNvSpPr txBox="1"/>
          <p:nvPr/>
        </p:nvSpPr>
        <p:spPr>
          <a:xfrm>
            <a:off x="7435850" y="4752500"/>
            <a:ext cx="1680210" cy="351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175">
            <a:spAutoFit/>
          </a:bodyPr>
          <a:lstStyle/>
          <a:p>
            <a:pPr indent="0" lvl="0" marL="0" marR="508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92400D"/>
                </a:solidFill>
                <a:latin typeface="Arial"/>
                <a:ea typeface="Arial"/>
                <a:cs typeface="Arial"/>
                <a:sym typeface="Arial"/>
              </a:rPr>
              <a:t>Mercado Pago Sandbox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indent="0" lvl="0" marL="0" marR="36195" rtl="0" algn="r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B45209"/>
                </a:solidFill>
                <a:latin typeface="Arial"/>
                <a:ea typeface="Arial"/>
                <a:cs typeface="Arial"/>
                <a:sym typeface="Arial"/>
              </a:rPr>
              <a:t>Simulación de pagos en prueba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7296150" y="5962650"/>
            <a:ext cx="4362450" cy="514350"/>
          </a:xfrm>
          <a:custGeom>
            <a:rect b="b" l="l" r="r" t="t"/>
            <a:pathLst>
              <a:path extrusionOk="0" h="514350" w="4362450">
                <a:moveTo>
                  <a:pt x="4286250" y="0"/>
                </a:moveTo>
                <a:lnTo>
                  <a:pt x="76200" y="0"/>
                </a:lnTo>
                <a:lnTo>
                  <a:pt x="46559" y="5987"/>
                </a:lnTo>
                <a:lnTo>
                  <a:pt x="22336" y="22317"/>
                </a:lnTo>
                <a:lnTo>
                  <a:pt x="5994" y="46537"/>
                </a:lnTo>
                <a:lnTo>
                  <a:pt x="0" y="76200"/>
                </a:lnTo>
                <a:lnTo>
                  <a:pt x="0" y="438150"/>
                </a:lnTo>
                <a:lnTo>
                  <a:pt x="5994" y="467812"/>
                </a:lnTo>
                <a:lnTo>
                  <a:pt x="22336" y="492032"/>
                </a:lnTo>
                <a:lnTo>
                  <a:pt x="46559" y="508362"/>
                </a:lnTo>
                <a:lnTo>
                  <a:pt x="76200" y="514350"/>
                </a:lnTo>
                <a:lnTo>
                  <a:pt x="4286250" y="514350"/>
                </a:lnTo>
                <a:lnTo>
                  <a:pt x="4315890" y="508362"/>
                </a:lnTo>
                <a:lnTo>
                  <a:pt x="4340113" y="492032"/>
                </a:lnTo>
                <a:lnTo>
                  <a:pt x="4356455" y="467812"/>
                </a:lnTo>
                <a:lnTo>
                  <a:pt x="4362450" y="438150"/>
                </a:lnTo>
                <a:lnTo>
                  <a:pt x="4362450" y="76200"/>
                </a:lnTo>
                <a:lnTo>
                  <a:pt x="4356455" y="46537"/>
                </a:lnTo>
                <a:lnTo>
                  <a:pt x="4340113" y="22317"/>
                </a:lnTo>
                <a:lnTo>
                  <a:pt x="4315890" y="5987"/>
                </a:lnTo>
                <a:lnTo>
                  <a:pt x="4286250" y="0"/>
                </a:lnTo>
                <a:close/>
              </a:path>
            </a:pathLst>
          </a:custGeom>
          <a:solidFill>
            <a:srgbClr val="0E172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 txBox="1"/>
          <p:nvPr/>
        </p:nvSpPr>
        <p:spPr>
          <a:xfrm>
            <a:off x="7426325" y="6057924"/>
            <a:ext cx="1298575" cy="322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3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F59E0A"/>
                </a:solidFill>
                <a:latin typeface="Arial"/>
                <a:ea typeface="Arial"/>
                <a:cs typeface="Arial"/>
                <a:sym typeface="Arial"/>
              </a:rPr>
              <a:t>DESPLIEGUE PLANIFICADO</a:t>
            </a:r>
            <a:endParaRPr sz="75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Render (Cloud)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4" name="Google Shape;254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06175" y="6134100"/>
            <a:ext cx="219075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"/>
          <p:cNvSpPr txBox="1"/>
          <p:nvPr/>
        </p:nvSpPr>
        <p:spPr>
          <a:xfrm>
            <a:off x="521017" y="368617"/>
            <a:ext cx="1972945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D97705"/>
                </a:solidFill>
                <a:latin typeface="Arial"/>
                <a:ea typeface="Arial"/>
                <a:cs typeface="Arial"/>
                <a:sym typeface="Arial"/>
              </a:rPr>
              <a:t>ARQUITECTURA DE SOFTWARE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260" name="Google Shape;260;p8"/>
          <p:cNvSpPr txBox="1"/>
          <p:nvPr>
            <p:ph type="title"/>
          </p:nvPr>
        </p:nvSpPr>
        <p:spPr>
          <a:xfrm>
            <a:off x="521017" y="419852"/>
            <a:ext cx="8812530" cy="657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C1817"/>
                </a:solidFill>
              </a:rPr>
              <a:t>Vista Lógica</a:t>
            </a:r>
            <a:endParaRPr sz="2100"/>
          </a:p>
          <a:p>
            <a:pPr indent="0" lvl="0" marL="1270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Representa la estructura de clases del sistema, definiendo la gestión de usuarios, catálogo de productos, carrito de compras y generación de boletas.</a:t>
            </a:r>
            <a:endParaRPr sz="9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2581275" y="1228725"/>
            <a:ext cx="9525" cy="714375"/>
          </a:xfrm>
          <a:custGeom>
            <a:rect b="b" l="l" r="r" t="t"/>
            <a:pathLst>
              <a:path extrusionOk="0" h="714375" w="9525">
                <a:moveTo>
                  <a:pt x="9525" y="0"/>
                </a:moveTo>
                <a:lnTo>
                  <a:pt x="0" y="0"/>
                </a:lnTo>
                <a:lnTo>
                  <a:pt x="0" y="714375"/>
                </a:lnTo>
                <a:lnTo>
                  <a:pt x="9525" y="714375"/>
                </a:lnTo>
                <a:lnTo>
                  <a:pt x="9525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2705100" y="1228725"/>
            <a:ext cx="9525" cy="714375"/>
          </a:xfrm>
          <a:custGeom>
            <a:rect b="b" l="l" r="r" t="t"/>
            <a:pathLst>
              <a:path extrusionOk="0" h="714375" w="9525">
                <a:moveTo>
                  <a:pt x="9525" y="0"/>
                </a:moveTo>
                <a:lnTo>
                  <a:pt x="0" y="0"/>
                </a:lnTo>
                <a:lnTo>
                  <a:pt x="0" y="714375"/>
                </a:lnTo>
                <a:lnTo>
                  <a:pt x="9525" y="714375"/>
                </a:lnTo>
                <a:lnTo>
                  <a:pt x="9525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 txBox="1"/>
          <p:nvPr/>
        </p:nvSpPr>
        <p:spPr>
          <a:xfrm>
            <a:off x="2817241" y="1363027"/>
            <a:ext cx="927735" cy="16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A249"/>
                </a:solidFill>
                <a:latin typeface="Arial"/>
                <a:ea typeface="Arial"/>
                <a:cs typeface="Arial"/>
                <a:sym typeface="Arial"/>
              </a:rPr>
              <a:t>Vista Desarrollo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4800600" y="1228725"/>
            <a:ext cx="9525" cy="714375"/>
          </a:xfrm>
          <a:custGeom>
            <a:rect b="b" l="l" r="r" t="t"/>
            <a:pathLst>
              <a:path extrusionOk="0" h="714375" w="9525">
                <a:moveTo>
                  <a:pt x="9525" y="0"/>
                </a:moveTo>
                <a:lnTo>
                  <a:pt x="0" y="0"/>
                </a:lnTo>
                <a:lnTo>
                  <a:pt x="0" y="714375"/>
                </a:lnTo>
                <a:lnTo>
                  <a:pt x="9525" y="714375"/>
                </a:lnTo>
                <a:lnTo>
                  <a:pt x="9525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4924425" y="1228725"/>
            <a:ext cx="9525" cy="714375"/>
          </a:xfrm>
          <a:custGeom>
            <a:rect b="b" l="l" r="r" t="t"/>
            <a:pathLst>
              <a:path extrusionOk="0" h="714375" w="9525">
                <a:moveTo>
                  <a:pt x="9525" y="0"/>
                </a:moveTo>
                <a:lnTo>
                  <a:pt x="0" y="0"/>
                </a:lnTo>
                <a:lnTo>
                  <a:pt x="0" y="714375"/>
                </a:lnTo>
                <a:lnTo>
                  <a:pt x="9525" y="714375"/>
                </a:lnTo>
                <a:lnTo>
                  <a:pt x="9525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 txBox="1"/>
          <p:nvPr/>
        </p:nvSpPr>
        <p:spPr>
          <a:xfrm>
            <a:off x="5036439" y="1363027"/>
            <a:ext cx="881380" cy="16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D97705"/>
                </a:solidFill>
                <a:latin typeface="Arial"/>
                <a:ea typeface="Arial"/>
                <a:cs typeface="Arial"/>
                <a:sym typeface="Arial"/>
              </a:rPr>
              <a:t>Vista Procesos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7010400" y="1228725"/>
            <a:ext cx="9525" cy="714375"/>
          </a:xfrm>
          <a:custGeom>
            <a:rect b="b" l="l" r="r" t="t"/>
            <a:pathLst>
              <a:path extrusionOk="0" h="714375" w="9525">
                <a:moveTo>
                  <a:pt x="9525" y="0"/>
                </a:moveTo>
                <a:lnTo>
                  <a:pt x="0" y="0"/>
                </a:lnTo>
                <a:lnTo>
                  <a:pt x="0" y="714375"/>
                </a:lnTo>
                <a:lnTo>
                  <a:pt x="9525" y="714375"/>
                </a:lnTo>
                <a:lnTo>
                  <a:pt x="9525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8" name="Google Shape;26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" y="1104900"/>
            <a:ext cx="9982200" cy="52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"/>
          <p:cNvSpPr txBox="1"/>
          <p:nvPr/>
        </p:nvSpPr>
        <p:spPr>
          <a:xfrm>
            <a:off x="521017" y="368617"/>
            <a:ext cx="1972945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D97705"/>
                </a:solidFill>
                <a:latin typeface="Arial"/>
                <a:ea typeface="Arial"/>
                <a:cs typeface="Arial"/>
                <a:sym typeface="Arial"/>
              </a:rPr>
              <a:t>ARQUITECTURA DE SOFTWARE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274" name="Google Shape;274;p9"/>
          <p:cNvSpPr txBox="1"/>
          <p:nvPr>
            <p:ph type="title"/>
          </p:nvPr>
        </p:nvSpPr>
        <p:spPr>
          <a:xfrm>
            <a:off x="521017" y="419852"/>
            <a:ext cx="10431780" cy="657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C1817"/>
                </a:solidFill>
              </a:rPr>
              <a:t>Vista Despliegue</a:t>
            </a:r>
            <a:endParaRPr sz="2100"/>
          </a:p>
          <a:p>
            <a:pPr indent="0" lvl="0" marL="1270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Arquitectura desacoplada en la nube donde clientes web/móviles consumen servicios centralizados en Render, almacenan datos en Neon (PostgreSQL) e integran APIs externas.</a:t>
            </a:r>
            <a:endParaRPr sz="9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2581275" y="1228725"/>
            <a:ext cx="9525" cy="714375"/>
          </a:xfrm>
          <a:custGeom>
            <a:rect b="b" l="l" r="r" t="t"/>
            <a:pathLst>
              <a:path extrusionOk="0" h="714375" w="9525">
                <a:moveTo>
                  <a:pt x="9525" y="0"/>
                </a:moveTo>
                <a:lnTo>
                  <a:pt x="0" y="0"/>
                </a:lnTo>
                <a:lnTo>
                  <a:pt x="0" y="714375"/>
                </a:lnTo>
                <a:lnTo>
                  <a:pt x="9525" y="714375"/>
                </a:lnTo>
                <a:lnTo>
                  <a:pt x="9525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2705100" y="1228725"/>
            <a:ext cx="9525" cy="714375"/>
          </a:xfrm>
          <a:custGeom>
            <a:rect b="b" l="l" r="r" t="t"/>
            <a:pathLst>
              <a:path extrusionOk="0" h="714375" w="9525">
                <a:moveTo>
                  <a:pt x="9525" y="0"/>
                </a:moveTo>
                <a:lnTo>
                  <a:pt x="0" y="0"/>
                </a:lnTo>
                <a:lnTo>
                  <a:pt x="0" y="714375"/>
                </a:lnTo>
                <a:lnTo>
                  <a:pt x="9525" y="714375"/>
                </a:lnTo>
                <a:lnTo>
                  <a:pt x="9525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"/>
          <p:cNvSpPr txBox="1"/>
          <p:nvPr/>
        </p:nvSpPr>
        <p:spPr>
          <a:xfrm>
            <a:off x="2817241" y="1363027"/>
            <a:ext cx="927735" cy="16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A249"/>
                </a:solidFill>
                <a:latin typeface="Arial"/>
                <a:ea typeface="Arial"/>
                <a:cs typeface="Arial"/>
                <a:sym typeface="Arial"/>
              </a:rPr>
              <a:t>Vista Desarrollo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4800600" y="1228725"/>
            <a:ext cx="9525" cy="714375"/>
          </a:xfrm>
          <a:custGeom>
            <a:rect b="b" l="l" r="r" t="t"/>
            <a:pathLst>
              <a:path extrusionOk="0" h="714375" w="9525">
                <a:moveTo>
                  <a:pt x="9525" y="0"/>
                </a:moveTo>
                <a:lnTo>
                  <a:pt x="0" y="0"/>
                </a:lnTo>
                <a:lnTo>
                  <a:pt x="0" y="714375"/>
                </a:lnTo>
                <a:lnTo>
                  <a:pt x="9525" y="714375"/>
                </a:lnTo>
                <a:lnTo>
                  <a:pt x="9525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4924425" y="1228725"/>
            <a:ext cx="9525" cy="714375"/>
          </a:xfrm>
          <a:custGeom>
            <a:rect b="b" l="l" r="r" t="t"/>
            <a:pathLst>
              <a:path extrusionOk="0" h="714375" w="9525">
                <a:moveTo>
                  <a:pt x="9525" y="0"/>
                </a:moveTo>
                <a:lnTo>
                  <a:pt x="0" y="0"/>
                </a:lnTo>
                <a:lnTo>
                  <a:pt x="0" y="714375"/>
                </a:lnTo>
                <a:lnTo>
                  <a:pt x="9525" y="714375"/>
                </a:lnTo>
                <a:lnTo>
                  <a:pt x="9525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"/>
          <p:cNvSpPr txBox="1"/>
          <p:nvPr/>
        </p:nvSpPr>
        <p:spPr>
          <a:xfrm>
            <a:off x="5036439" y="1363027"/>
            <a:ext cx="881380" cy="16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D97705"/>
                </a:solidFill>
                <a:latin typeface="Arial"/>
                <a:ea typeface="Arial"/>
                <a:cs typeface="Arial"/>
                <a:sym typeface="Arial"/>
              </a:rPr>
              <a:t>Vista Procesos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7010400" y="1228725"/>
            <a:ext cx="9525" cy="714375"/>
          </a:xfrm>
          <a:custGeom>
            <a:rect b="b" l="l" r="r" t="t"/>
            <a:pathLst>
              <a:path extrusionOk="0" h="714375" w="9525">
                <a:moveTo>
                  <a:pt x="9525" y="0"/>
                </a:moveTo>
                <a:lnTo>
                  <a:pt x="0" y="0"/>
                </a:lnTo>
                <a:lnTo>
                  <a:pt x="0" y="714375"/>
                </a:lnTo>
                <a:lnTo>
                  <a:pt x="9525" y="714375"/>
                </a:lnTo>
                <a:lnTo>
                  <a:pt x="9525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2" name="Google Shape;28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775" y="1104900"/>
            <a:ext cx="10858500" cy="491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"/>
          <p:cNvSpPr txBox="1"/>
          <p:nvPr/>
        </p:nvSpPr>
        <p:spPr>
          <a:xfrm>
            <a:off x="521017" y="368617"/>
            <a:ext cx="1972945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D97705"/>
                </a:solidFill>
                <a:latin typeface="Arial"/>
                <a:ea typeface="Arial"/>
                <a:cs typeface="Arial"/>
                <a:sym typeface="Arial"/>
              </a:rPr>
              <a:t>ARQUITECTURA DE SOFTWARE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288" name="Google Shape;288;p10"/>
          <p:cNvSpPr txBox="1"/>
          <p:nvPr>
            <p:ph type="title"/>
          </p:nvPr>
        </p:nvSpPr>
        <p:spPr>
          <a:xfrm>
            <a:off x="521017" y="419852"/>
            <a:ext cx="8474710" cy="657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C1817"/>
                </a:solidFill>
              </a:rPr>
              <a:t>Vista de Procesos</a:t>
            </a:r>
            <a:endParaRPr sz="2100"/>
          </a:p>
          <a:p>
            <a:pPr indent="0" lvl="0" marL="1270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Detalla el recorrido del usuario desde la selección y gestión flexible del carrito de compras hasta la validación del pago y la emisión de la boleta.</a:t>
            </a:r>
            <a:endParaRPr sz="9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2581275" y="1228725"/>
            <a:ext cx="9525" cy="714375"/>
          </a:xfrm>
          <a:custGeom>
            <a:rect b="b" l="l" r="r" t="t"/>
            <a:pathLst>
              <a:path extrusionOk="0" h="714375" w="9525">
                <a:moveTo>
                  <a:pt x="9525" y="0"/>
                </a:moveTo>
                <a:lnTo>
                  <a:pt x="0" y="0"/>
                </a:lnTo>
                <a:lnTo>
                  <a:pt x="0" y="714375"/>
                </a:lnTo>
                <a:lnTo>
                  <a:pt x="9525" y="714375"/>
                </a:lnTo>
                <a:lnTo>
                  <a:pt x="9525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2705100" y="1228725"/>
            <a:ext cx="9525" cy="714375"/>
          </a:xfrm>
          <a:custGeom>
            <a:rect b="b" l="l" r="r" t="t"/>
            <a:pathLst>
              <a:path extrusionOk="0" h="714375" w="9525">
                <a:moveTo>
                  <a:pt x="9525" y="0"/>
                </a:moveTo>
                <a:lnTo>
                  <a:pt x="0" y="0"/>
                </a:lnTo>
                <a:lnTo>
                  <a:pt x="0" y="714375"/>
                </a:lnTo>
                <a:lnTo>
                  <a:pt x="9525" y="714375"/>
                </a:lnTo>
                <a:lnTo>
                  <a:pt x="9525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 txBox="1"/>
          <p:nvPr/>
        </p:nvSpPr>
        <p:spPr>
          <a:xfrm>
            <a:off x="2817241" y="1363027"/>
            <a:ext cx="927735" cy="16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A249"/>
                </a:solidFill>
                <a:latin typeface="Arial"/>
                <a:ea typeface="Arial"/>
                <a:cs typeface="Arial"/>
                <a:sym typeface="Arial"/>
              </a:rPr>
              <a:t>Vista Desarrollo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4800600" y="1228725"/>
            <a:ext cx="9525" cy="714375"/>
          </a:xfrm>
          <a:custGeom>
            <a:rect b="b" l="l" r="r" t="t"/>
            <a:pathLst>
              <a:path extrusionOk="0" h="714375" w="9525">
                <a:moveTo>
                  <a:pt x="9525" y="0"/>
                </a:moveTo>
                <a:lnTo>
                  <a:pt x="0" y="0"/>
                </a:lnTo>
                <a:lnTo>
                  <a:pt x="0" y="714375"/>
                </a:lnTo>
                <a:lnTo>
                  <a:pt x="9525" y="714375"/>
                </a:lnTo>
                <a:lnTo>
                  <a:pt x="9525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4924425" y="1228725"/>
            <a:ext cx="9525" cy="714375"/>
          </a:xfrm>
          <a:custGeom>
            <a:rect b="b" l="l" r="r" t="t"/>
            <a:pathLst>
              <a:path extrusionOk="0" h="714375" w="9525">
                <a:moveTo>
                  <a:pt x="9525" y="0"/>
                </a:moveTo>
                <a:lnTo>
                  <a:pt x="0" y="0"/>
                </a:lnTo>
                <a:lnTo>
                  <a:pt x="0" y="714375"/>
                </a:lnTo>
                <a:lnTo>
                  <a:pt x="9525" y="714375"/>
                </a:lnTo>
                <a:lnTo>
                  <a:pt x="9525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 txBox="1"/>
          <p:nvPr/>
        </p:nvSpPr>
        <p:spPr>
          <a:xfrm>
            <a:off x="5036439" y="1363027"/>
            <a:ext cx="881380" cy="16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D97705"/>
                </a:solidFill>
                <a:latin typeface="Arial"/>
                <a:ea typeface="Arial"/>
                <a:cs typeface="Arial"/>
                <a:sym typeface="Arial"/>
              </a:rPr>
              <a:t>Vista Procesos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7010400" y="1228725"/>
            <a:ext cx="9525" cy="714375"/>
          </a:xfrm>
          <a:custGeom>
            <a:rect b="b" l="l" r="r" t="t"/>
            <a:pathLst>
              <a:path extrusionOk="0" h="714375" w="9525">
                <a:moveTo>
                  <a:pt x="9525" y="0"/>
                </a:moveTo>
                <a:lnTo>
                  <a:pt x="0" y="0"/>
                </a:lnTo>
                <a:lnTo>
                  <a:pt x="0" y="714375"/>
                </a:lnTo>
                <a:lnTo>
                  <a:pt x="9525" y="714375"/>
                </a:lnTo>
                <a:lnTo>
                  <a:pt x="9525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6" name="Google Shape;296;p10"/>
          <p:cNvGrpSpPr/>
          <p:nvPr/>
        </p:nvGrpSpPr>
        <p:grpSpPr>
          <a:xfrm>
            <a:off x="28575" y="1066798"/>
            <a:ext cx="11791950" cy="5791199"/>
            <a:chOff x="28575" y="1066798"/>
            <a:chExt cx="11791950" cy="5791199"/>
          </a:xfrm>
        </p:grpSpPr>
        <p:pic>
          <p:nvPicPr>
            <p:cNvPr id="297" name="Google Shape;297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8575" y="1066798"/>
              <a:ext cx="6038850" cy="57626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10175" y="1066799"/>
              <a:ext cx="6610350" cy="57911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"/>
          <p:cNvSpPr txBox="1"/>
          <p:nvPr/>
        </p:nvSpPr>
        <p:spPr>
          <a:xfrm>
            <a:off x="521017" y="368617"/>
            <a:ext cx="1972945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D97705"/>
                </a:solidFill>
                <a:latin typeface="Arial"/>
                <a:ea typeface="Arial"/>
                <a:cs typeface="Arial"/>
                <a:sym typeface="Arial"/>
              </a:rPr>
              <a:t>ARQUITECTURA DE SOFTWARE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304" name="Google Shape;304;p11"/>
          <p:cNvSpPr txBox="1"/>
          <p:nvPr>
            <p:ph type="title"/>
          </p:nvPr>
        </p:nvSpPr>
        <p:spPr>
          <a:xfrm>
            <a:off x="521017" y="419852"/>
            <a:ext cx="9004935" cy="657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C1817"/>
                </a:solidFill>
              </a:rPr>
              <a:t>Vista Física</a:t>
            </a:r>
            <a:endParaRPr sz="2100"/>
          </a:p>
          <a:p>
            <a:pPr indent="0" lvl="0" marL="1270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3748A"/>
                </a:solidFill>
                <a:latin typeface="Tahoma"/>
                <a:ea typeface="Tahoma"/>
                <a:cs typeface="Tahoma"/>
                <a:sym typeface="Tahoma"/>
              </a:rPr>
              <a:t>Organiza el sistema en capas desacopladas, separando la interfaz de usuario de los módulos del negocio, el acceso a datos y las integraciones externas.</a:t>
            </a:r>
            <a:endParaRPr sz="9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2581275" y="1228725"/>
            <a:ext cx="9525" cy="714375"/>
          </a:xfrm>
          <a:custGeom>
            <a:rect b="b" l="l" r="r" t="t"/>
            <a:pathLst>
              <a:path extrusionOk="0" h="714375" w="9525">
                <a:moveTo>
                  <a:pt x="9525" y="0"/>
                </a:moveTo>
                <a:lnTo>
                  <a:pt x="0" y="0"/>
                </a:lnTo>
                <a:lnTo>
                  <a:pt x="0" y="714375"/>
                </a:lnTo>
                <a:lnTo>
                  <a:pt x="9525" y="714375"/>
                </a:lnTo>
                <a:lnTo>
                  <a:pt x="9525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2705100" y="1228725"/>
            <a:ext cx="9525" cy="714375"/>
          </a:xfrm>
          <a:custGeom>
            <a:rect b="b" l="l" r="r" t="t"/>
            <a:pathLst>
              <a:path extrusionOk="0" h="714375" w="9525">
                <a:moveTo>
                  <a:pt x="9525" y="0"/>
                </a:moveTo>
                <a:lnTo>
                  <a:pt x="0" y="0"/>
                </a:lnTo>
                <a:lnTo>
                  <a:pt x="0" y="714375"/>
                </a:lnTo>
                <a:lnTo>
                  <a:pt x="9525" y="714375"/>
                </a:lnTo>
                <a:lnTo>
                  <a:pt x="9525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"/>
          <p:cNvSpPr txBox="1"/>
          <p:nvPr/>
        </p:nvSpPr>
        <p:spPr>
          <a:xfrm>
            <a:off x="2817241" y="1363027"/>
            <a:ext cx="927735" cy="16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6A249"/>
                </a:solidFill>
                <a:latin typeface="Arial"/>
                <a:ea typeface="Arial"/>
                <a:cs typeface="Arial"/>
                <a:sym typeface="Arial"/>
              </a:rPr>
              <a:t>Vista Desarrollo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4800600" y="1228725"/>
            <a:ext cx="9525" cy="714375"/>
          </a:xfrm>
          <a:custGeom>
            <a:rect b="b" l="l" r="r" t="t"/>
            <a:pathLst>
              <a:path extrusionOk="0" h="714375" w="9525">
                <a:moveTo>
                  <a:pt x="9525" y="0"/>
                </a:moveTo>
                <a:lnTo>
                  <a:pt x="0" y="0"/>
                </a:lnTo>
                <a:lnTo>
                  <a:pt x="0" y="714375"/>
                </a:lnTo>
                <a:lnTo>
                  <a:pt x="9525" y="714375"/>
                </a:lnTo>
                <a:lnTo>
                  <a:pt x="9525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4924425" y="1228725"/>
            <a:ext cx="9525" cy="714375"/>
          </a:xfrm>
          <a:custGeom>
            <a:rect b="b" l="l" r="r" t="t"/>
            <a:pathLst>
              <a:path extrusionOk="0" h="714375" w="9525">
                <a:moveTo>
                  <a:pt x="9525" y="0"/>
                </a:moveTo>
                <a:lnTo>
                  <a:pt x="0" y="0"/>
                </a:lnTo>
                <a:lnTo>
                  <a:pt x="0" y="714375"/>
                </a:lnTo>
                <a:lnTo>
                  <a:pt x="9525" y="714375"/>
                </a:lnTo>
                <a:lnTo>
                  <a:pt x="9525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 txBox="1"/>
          <p:nvPr/>
        </p:nvSpPr>
        <p:spPr>
          <a:xfrm>
            <a:off x="5036439" y="1363027"/>
            <a:ext cx="881380" cy="16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D97705"/>
                </a:solidFill>
                <a:latin typeface="Arial"/>
                <a:ea typeface="Arial"/>
                <a:cs typeface="Arial"/>
                <a:sym typeface="Arial"/>
              </a:rPr>
              <a:t>Vista Procesos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7010400" y="1228725"/>
            <a:ext cx="9525" cy="714375"/>
          </a:xfrm>
          <a:custGeom>
            <a:rect b="b" l="l" r="r" t="t"/>
            <a:pathLst>
              <a:path extrusionOk="0" h="714375" w="9525">
                <a:moveTo>
                  <a:pt x="9525" y="0"/>
                </a:moveTo>
                <a:lnTo>
                  <a:pt x="0" y="0"/>
                </a:lnTo>
                <a:lnTo>
                  <a:pt x="0" y="714375"/>
                </a:lnTo>
                <a:lnTo>
                  <a:pt x="9525" y="714375"/>
                </a:lnTo>
                <a:lnTo>
                  <a:pt x="9525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228725"/>
            <a:ext cx="10420350" cy="507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3"/>
          <p:cNvSpPr txBox="1"/>
          <p:nvPr/>
        </p:nvSpPr>
        <p:spPr>
          <a:xfrm>
            <a:off x="559117" y="406717"/>
            <a:ext cx="1212850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D97705"/>
                </a:solidFill>
                <a:latin typeface="Arial"/>
                <a:ea typeface="Arial"/>
                <a:cs typeface="Arial"/>
                <a:sym typeface="Arial"/>
              </a:rPr>
              <a:t>EVIDENCIA VISUAL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318" name="Google Shape;318;p13"/>
          <p:cNvSpPr txBox="1"/>
          <p:nvPr>
            <p:ph type="title"/>
          </p:nvPr>
        </p:nvSpPr>
        <p:spPr>
          <a:xfrm>
            <a:off x="559117" y="569277"/>
            <a:ext cx="4088765" cy="346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C1817"/>
                </a:solidFill>
              </a:rPr>
              <a:t>Avances de la aplicación móvil</a:t>
            </a:r>
            <a:endParaRPr sz="2100"/>
          </a:p>
        </p:txBody>
      </p:sp>
      <p:pic>
        <p:nvPicPr>
          <p:cNvPr descr="image.png" id="319" name="Google Shape;31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9325" y="3067050"/>
            <a:ext cx="2476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6925" y="3086100"/>
            <a:ext cx="4191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48825" y="3067050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3"/>
          <p:cNvSpPr txBox="1"/>
          <p:nvPr/>
        </p:nvSpPr>
        <p:spPr>
          <a:xfrm>
            <a:off x="1828545" y="3439712"/>
            <a:ext cx="1043305" cy="467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400">
            <a:spAutoFit/>
          </a:bodyPr>
          <a:lstStyle/>
          <a:p>
            <a:pPr indent="0" lvl="0" marL="482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2400D"/>
                </a:solidFill>
                <a:latin typeface="Arial"/>
                <a:ea typeface="Arial"/>
                <a:cs typeface="Arial"/>
                <a:sym typeface="Arial"/>
              </a:rPr>
              <a:t>[ CAPTURA ]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45209"/>
                </a:solidFill>
                <a:latin typeface="Arial"/>
                <a:ea typeface="Arial"/>
                <a:cs typeface="Arial"/>
                <a:sym typeface="Arial"/>
              </a:rPr>
              <a:t>Inicio de sesión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3" name="Google Shape;323;p13"/>
          <p:cNvGrpSpPr/>
          <p:nvPr/>
        </p:nvGrpSpPr>
        <p:grpSpPr>
          <a:xfrm>
            <a:off x="576262" y="6386512"/>
            <a:ext cx="11049635" cy="400050"/>
            <a:chOff x="576262" y="6386512"/>
            <a:chExt cx="11049635" cy="400050"/>
          </a:xfrm>
        </p:grpSpPr>
        <p:sp>
          <p:nvSpPr>
            <p:cNvPr id="324" name="Google Shape;324;p13"/>
            <p:cNvSpPr/>
            <p:nvPr/>
          </p:nvSpPr>
          <p:spPr>
            <a:xfrm>
              <a:off x="576262" y="6386512"/>
              <a:ext cx="11049635" cy="400050"/>
            </a:xfrm>
            <a:custGeom>
              <a:rect b="b" l="l" r="r" t="t"/>
              <a:pathLst>
                <a:path extrusionOk="0" h="400050" w="11049635">
                  <a:moveTo>
                    <a:pt x="10972863" y="0"/>
                  </a:moveTo>
                  <a:lnTo>
                    <a:pt x="76200" y="0"/>
                  </a:lnTo>
                  <a:lnTo>
                    <a:pt x="46537" y="5987"/>
                  </a:lnTo>
                  <a:lnTo>
                    <a:pt x="22317" y="22317"/>
                  </a:lnTo>
                  <a:lnTo>
                    <a:pt x="5987" y="46537"/>
                  </a:lnTo>
                  <a:lnTo>
                    <a:pt x="0" y="76200"/>
                  </a:lnTo>
                  <a:lnTo>
                    <a:pt x="0" y="323850"/>
                  </a:lnTo>
                  <a:lnTo>
                    <a:pt x="5987" y="353510"/>
                  </a:lnTo>
                  <a:lnTo>
                    <a:pt x="22317" y="377731"/>
                  </a:lnTo>
                  <a:lnTo>
                    <a:pt x="46537" y="394061"/>
                  </a:lnTo>
                  <a:lnTo>
                    <a:pt x="76200" y="400050"/>
                  </a:lnTo>
                  <a:lnTo>
                    <a:pt x="10972863" y="400050"/>
                  </a:lnTo>
                  <a:lnTo>
                    <a:pt x="11002504" y="394061"/>
                  </a:lnTo>
                  <a:lnTo>
                    <a:pt x="11026727" y="377731"/>
                  </a:lnTo>
                  <a:lnTo>
                    <a:pt x="11043068" y="353510"/>
                  </a:lnTo>
                  <a:lnTo>
                    <a:pt x="11049063" y="323850"/>
                  </a:lnTo>
                  <a:lnTo>
                    <a:pt x="11049063" y="76200"/>
                  </a:lnTo>
                  <a:lnTo>
                    <a:pt x="11043068" y="46537"/>
                  </a:lnTo>
                  <a:lnTo>
                    <a:pt x="11026727" y="22317"/>
                  </a:lnTo>
                  <a:lnTo>
                    <a:pt x="11002504" y="5987"/>
                  </a:lnTo>
                  <a:lnTo>
                    <a:pt x="10972863" y="0"/>
                  </a:lnTo>
                  <a:close/>
                </a:path>
              </a:pathLst>
            </a:custGeom>
            <a:solidFill>
              <a:srgbClr val="F8F9F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3"/>
            <p:cNvSpPr/>
            <p:nvPr/>
          </p:nvSpPr>
          <p:spPr>
            <a:xfrm>
              <a:off x="576262" y="6386512"/>
              <a:ext cx="11049635" cy="400050"/>
            </a:xfrm>
            <a:custGeom>
              <a:rect b="b" l="l" r="r" t="t"/>
              <a:pathLst>
                <a:path extrusionOk="0" h="400050" w="11049635">
                  <a:moveTo>
                    <a:pt x="0" y="76200"/>
                  </a:move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200" y="0"/>
                  </a:lnTo>
                  <a:lnTo>
                    <a:pt x="10972863" y="0"/>
                  </a:lnTo>
                  <a:lnTo>
                    <a:pt x="11002504" y="5987"/>
                  </a:lnTo>
                  <a:lnTo>
                    <a:pt x="11026727" y="22317"/>
                  </a:lnTo>
                  <a:lnTo>
                    <a:pt x="11043068" y="46537"/>
                  </a:lnTo>
                  <a:lnTo>
                    <a:pt x="11049063" y="76200"/>
                  </a:lnTo>
                  <a:lnTo>
                    <a:pt x="11049063" y="323850"/>
                  </a:lnTo>
                  <a:lnTo>
                    <a:pt x="11043068" y="353510"/>
                  </a:lnTo>
                  <a:lnTo>
                    <a:pt x="11026727" y="377731"/>
                  </a:lnTo>
                  <a:lnTo>
                    <a:pt x="11002504" y="394061"/>
                  </a:lnTo>
                  <a:lnTo>
                    <a:pt x="10972863" y="400050"/>
                  </a:lnTo>
                  <a:lnTo>
                    <a:pt x="76200" y="400050"/>
                  </a:lnTo>
                  <a:lnTo>
                    <a:pt x="46537" y="394061"/>
                  </a:lnTo>
                  <a:lnTo>
                    <a:pt x="22317" y="377731"/>
                  </a:lnTo>
                  <a:lnTo>
                    <a:pt x="5987" y="353510"/>
                  </a:lnTo>
                  <a:lnTo>
                    <a:pt x="0" y="323850"/>
                  </a:lnTo>
                  <a:lnTo>
                    <a:pt x="0" y="76200"/>
                  </a:lnTo>
                  <a:close/>
                </a:path>
              </a:pathLst>
            </a:custGeom>
            <a:noFill/>
            <a:ln cap="flat" cmpd="sng" w="9525">
              <a:solidFill>
                <a:srgbClr val="E1E8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26" name="Google Shape;32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1000125"/>
            <a:ext cx="3343275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3"/>
          <p:cNvSpPr txBox="1"/>
          <p:nvPr/>
        </p:nvSpPr>
        <p:spPr>
          <a:xfrm>
            <a:off x="5338190" y="3597259"/>
            <a:ext cx="1520190" cy="500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50">
            <a:spAutoFit/>
          </a:bodyPr>
          <a:lstStyle/>
          <a:p>
            <a:pPr indent="0" lvl="0" marL="190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2400D"/>
                </a:solidFill>
                <a:latin typeface="Arial"/>
                <a:ea typeface="Arial"/>
                <a:cs typeface="Arial"/>
                <a:sym typeface="Arial"/>
              </a:rPr>
              <a:t>[ CAPTURA ]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45209"/>
                </a:solidFill>
                <a:latin typeface="Arial"/>
                <a:ea typeface="Arial"/>
                <a:cs typeface="Arial"/>
                <a:sym typeface="Arial"/>
              </a:rPr>
              <a:t>Catálogo de productos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57675" y="1000125"/>
            <a:ext cx="3790950" cy="50863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3"/>
          <p:cNvSpPr txBox="1"/>
          <p:nvPr/>
        </p:nvSpPr>
        <p:spPr>
          <a:xfrm>
            <a:off x="8964294" y="3439712"/>
            <a:ext cx="1771014" cy="467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4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2400D"/>
                </a:solidFill>
                <a:latin typeface="Arial"/>
                <a:ea typeface="Arial"/>
                <a:cs typeface="Arial"/>
                <a:sym typeface="Arial"/>
              </a:rPr>
              <a:t>[ CAPTURA ]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45209"/>
                </a:solidFill>
                <a:latin typeface="Arial"/>
                <a:ea typeface="Arial"/>
                <a:cs typeface="Arial"/>
                <a:sym typeface="Arial"/>
              </a:rPr>
              <a:t>Gestión de carrito / Detalle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0" name="Google Shape;330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77225" y="1000125"/>
            <a:ext cx="3724275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3"/>
          <p:cNvSpPr txBox="1"/>
          <p:nvPr/>
        </p:nvSpPr>
        <p:spPr>
          <a:xfrm>
            <a:off x="3137535" y="6501129"/>
            <a:ext cx="5920105" cy="17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465469"/>
                </a:solidFill>
                <a:latin typeface="Arial"/>
                <a:ea typeface="Arial"/>
                <a:cs typeface="Arial"/>
                <a:sym typeface="Arial"/>
              </a:rPr>
              <a:t>Interfaces desarrolladas con Ionic, Angular y Capacitor para la plataforma móvil de FerreMundo.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7750" y="1003175"/>
            <a:ext cx="3343275" cy="537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58350" y="1003175"/>
            <a:ext cx="3786075" cy="5087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281750" y="958788"/>
            <a:ext cx="3723400" cy="5377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4"/>
          <p:cNvSpPr txBox="1"/>
          <p:nvPr/>
        </p:nvSpPr>
        <p:spPr>
          <a:xfrm>
            <a:off x="559117" y="406717"/>
            <a:ext cx="1212850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D97705"/>
                </a:solidFill>
                <a:latin typeface="Arial"/>
                <a:ea typeface="Arial"/>
                <a:cs typeface="Arial"/>
                <a:sym typeface="Arial"/>
              </a:rPr>
              <a:t>EVIDENCIA VISUAL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340" name="Google Shape;340;p14"/>
          <p:cNvSpPr txBox="1"/>
          <p:nvPr>
            <p:ph type="title"/>
          </p:nvPr>
        </p:nvSpPr>
        <p:spPr>
          <a:xfrm>
            <a:off x="559117" y="569277"/>
            <a:ext cx="2990850" cy="346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C1817"/>
                </a:solidFill>
              </a:rPr>
              <a:t>Avances del Sitio Web</a:t>
            </a:r>
            <a:endParaRPr sz="2100"/>
          </a:p>
        </p:txBody>
      </p:sp>
      <p:pic>
        <p:nvPicPr>
          <p:cNvPr descr="image.png" id="341" name="Google Shape;34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9325" y="3067050"/>
            <a:ext cx="2476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48825" y="3067050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4"/>
          <p:cNvSpPr txBox="1"/>
          <p:nvPr/>
        </p:nvSpPr>
        <p:spPr>
          <a:xfrm>
            <a:off x="1828545" y="3439712"/>
            <a:ext cx="1043305" cy="467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400">
            <a:spAutoFit/>
          </a:bodyPr>
          <a:lstStyle/>
          <a:p>
            <a:pPr indent="0" lvl="0" marL="482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2400D"/>
                </a:solidFill>
                <a:latin typeface="Arial"/>
                <a:ea typeface="Arial"/>
                <a:cs typeface="Arial"/>
                <a:sym typeface="Arial"/>
              </a:rPr>
              <a:t>[ CAPTURA ]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45209"/>
                </a:solidFill>
                <a:latin typeface="Arial"/>
                <a:ea typeface="Arial"/>
                <a:cs typeface="Arial"/>
                <a:sym typeface="Arial"/>
              </a:rPr>
              <a:t>Inicio de sesión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4" name="Google Shape;34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5325" y="1533525"/>
            <a:ext cx="5505450" cy="368617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4"/>
          <p:cNvSpPr txBox="1"/>
          <p:nvPr/>
        </p:nvSpPr>
        <p:spPr>
          <a:xfrm>
            <a:off x="8964294" y="3439712"/>
            <a:ext cx="1771014" cy="467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4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2400D"/>
                </a:solidFill>
                <a:latin typeface="Arial"/>
                <a:ea typeface="Arial"/>
                <a:cs typeface="Arial"/>
                <a:sym typeface="Arial"/>
              </a:rPr>
              <a:t>[ CAPTURA ]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45209"/>
                </a:solidFill>
                <a:latin typeface="Arial"/>
                <a:ea typeface="Arial"/>
                <a:cs typeface="Arial"/>
                <a:sym typeface="Arial"/>
              </a:rPr>
              <a:t>Gestión de carrito / Detalle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6" name="Google Shape;34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81800" y="1533525"/>
            <a:ext cx="5314950" cy="3686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7" name="Google Shape;347;p14"/>
          <p:cNvGrpSpPr/>
          <p:nvPr/>
        </p:nvGrpSpPr>
        <p:grpSpPr>
          <a:xfrm>
            <a:off x="576262" y="6386512"/>
            <a:ext cx="11049635" cy="400050"/>
            <a:chOff x="576262" y="6386512"/>
            <a:chExt cx="11049635" cy="400050"/>
          </a:xfrm>
        </p:grpSpPr>
        <p:sp>
          <p:nvSpPr>
            <p:cNvPr id="348" name="Google Shape;348;p14"/>
            <p:cNvSpPr/>
            <p:nvPr/>
          </p:nvSpPr>
          <p:spPr>
            <a:xfrm>
              <a:off x="576262" y="6386512"/>
              <a:ext cx="11049635" cy="400050"/>
            </a:xfrm>
            <a:custGeom>
              <a:rect b="b" l="l" r="r" t="t"/>
              <a:pathLst>
                <a:path extrusionOk="0" h="400050" w="11049635">
                  <a:moveTo>
                    <a:pt x="10972863" y="0"/>
                  </a:moveTo>
                  <a:lnTo>
                    <a:pt x="76200" y="0"/>
                  </a:lnTo>
                  <a:lnTo>
                    <a:pt x="46537" y="5987"/>
                  </a:lnTo>
                  <a:lnTo>
                    <a:pt x="22317" y="22317"/>
                  </a:lnTo>
                  <a:lnTo>
                    <a:pt x="5987" y="46537"/>
                  </a:lnTo>
                  <a:lnTo>
                    <a:pt x="0" y="76200"/>
                  </a:lnTo>
                  <a:lnTo>
                    <a:pt x="0" y="323850"/>
                  </a:lnTo>
                  <a:lnTo>
                    <a:pt x="5987" y="353510"/>
                  </a:lnTo>
                  <a:lnTo>
                    <a:pt x="22317" y="377731"/>
                  </a:lnTo>
                  <a:lnTo>
                    <a:pt x="46537" y="394061"/>
                  </a:lnTo>
                  <a:lnTo>
                    <a:pt x="76200" y="400050"/>
                  </a:lnTo>
                  <a:lnTo>
                    <a:pt x="10972863" y="400050"/>
                  </a:lnTo>
                  <a:lnTo>
                    <a:pt x="11002504" y="394061"/>
                  </a:lnTo>
                  <a:lnTo>
                    <a:pt x="11026727" y="377731"/>
                  </a:lnTo>
                  <a:lnTo>
                    <a:pt x="11043068" y="353510"/>
                  </a:lnTo>
                  <a:lnTo>
                    <a:pt x="11049063" y="323850"/>
                  </a:lnTo>
                  <a:lnTo>
                    <a:pt x="11049063" y="76200"/>
                  </a:lnTo>
                  <a:lnTo>
                    <a:pt x="11043068" y="46537"/>
                  </a:lnTo>
                  <a:lnTo>
                    <a:pt x="11026727" y="22317"/>
                  </a:lnTo>
                  <a:lnTo>
                    <a:pt x="11002504" y="5987"/>
                  </a:lnTo>
                  <a:lnTo>
                    <a:pt x="10972863" y="0"/>
                  </a:lnTo>
                  <a:close/>
                </a:path>
              </a:pathLst>
            </a:custGeom>
            <a:solidFill>
              <a:srgbClr val="F8F9F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576262" y="6386512"/>
              <a:ext cx="11049635" cy="400050"/>
            </a:xfrm>
            <a:custGeom>
              <a:rect b="b" l="l" r="r" t="t"/>
              <a:pathLst>
                <a:path extrusionOk="0" h="400050" w="11049635">
                  <a:moveTo>
                    <a:pt x="0" y="76200"/>
                  </a:move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200" y="0"/>
                  </a:lnTo>
                  <a:lnTo>
                    <a:pt x="10972863" y="0"/>
                  </a:lnTo>
                  <a:lnTo>
                    <a:pt x="11002504" y="5987"/>
                  </a:lnTo>
                  <a:lnTo>
                    <a:pt x="11026727" y="22317"/>
                  </a:lnTo>
                  <a:lnTo>
                    <a:pt x="11043068" y="46537"/>
                  </a:lnTo>
                  <a:lnTo>
                    <a:pt x="11049063" y="76200"/>
                  </a:lnTo>
                  <a:lnTo>
                    <a:pt x="11049063" y="323850"/>
                  </a:lnTo>
                  <a:lnTo>
                    <a:pt x="11043068" y="353510"/>
                  </a:lnTo>
                  <a:lnTo>
                    <a:pt x="11026727" y="377731"/>
                  </a:lnTo>
                  <a:lnTo>
                    <a:pt x="11002504" y="394061"/>
                  </a:lnTo>
                  <a:lnTo>
                    <a:pt x="10972863" y="400050"/>
                  </a:lnTo>
                  <a:lnTo>
                    <a:pt x="76200" y="400050"/>
                  </a:lnTo>
                  <a:lnTo>
                    <a:pt x="46537" y="394061"/>
                  </a:lnTo>
                  <a:lnTo>
                    <a:pt x="22317" y="377731"/>
                  </a:lnTo>
                  <a:lnTo>
                    <a:pt x="5987" y="353510"/>
                  </a:lnTo>
                  <a:lnTo>
                    <a:pt x="0" y="323850"/>
                  </a:lnTo>
                  <a:lnTo>
                    <a:pt x="0" y="76200"/>
                  </a:lnTo>
                  <a:close/>
                </a:path>
              </a:pathLst>
            </a:custGeom>
            <a:noFill/>
            <a:ln cap="flat" cmpd="sng" w="9525">
              <a:solidFill>
                <a:srgbClr val="E1E8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0" name="Google Shape;350;p14"/>
          <p:cNvSpPr txBox="1"/>
          <p:nvPr/>
        </p:nvSpPr>
        <p:spPr>
          <a:xfrm>
            <a:off x="3137535" y="6501129"/>
            <a:ext cx="5920105" cy="17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465469"/>
                </a:solidFill>
                <a:latin typeface="Arial"/>
                <a:ea typeface="Arial"/>
                <a:cs typeface="Arial"/>
                <a:sym typeface="Arial"/>
              </a:rPr>
              <a:t>Interfaces desarrolladas con Ionic, Angular y Capacitor para la plataforma móvil de FerreMundo.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1" name="Google Shape;35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4150" y="1531350"/>
            <a:ext cx="5508376" cy="3692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85500" y="1531350"/>
            <a:ext cx="5311876" cy="369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85500" y="1531350"/>
            <a:ext cx="5311876" cy="369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4150" y="1531350"/>
            <a:ext cx="5508376" cy="3692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5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9F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$PPTXTitle" id="360" name="Google Shape;360;p15"/>
          <p:cNvSpPr txBox="1"/>
          <p:nvPr>
            <p:ph type="title"/>
          </p:nvPr>
        </p:nvSpPr>
        <p:spPr>
          <a:xfrm>
            <a:off x="474027" y="97155"/>
            <a:ext cx="3691254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97705"/>
                </a:solidFill>
              </a:rPr>
              <a:t>Seguimiento del Proyecto — Semana 11</a:t>
            </a:r>
            <a:endParaRPr sz="1500"/>
          </a:p>
        </p:txBody>
      </p:sp>
      <p:grpSp>
        <p:nvGrpSpPr>
          <p:cNvPr id="361" name="Google Shape;361;p15"/>
          <p:cNvGrpSpPr/>
          <p:nvPr/>
        </p:nvGrpSpPr>
        <p:grpSpPr>
          <a:xfrm>
            <a:off x="9472676" y="128651"/>
            <a:ext cx="1971675" cy="238125"/>
            <a:chOff x="9472676" y="128651"/>
            <a:chExt cx="1971675" cy="238125"/>
          </a:xfrm>
        </p:grpSpPr>
        <p:sp>
          <p:nvSpPr>
            <p:cNvPr id="362" name="Google Shape;362;p15"/>
            <p:cNvSpPr/>
            <p:nvPr/>
          </p:nvSpPr>
          <p:spPr>
            <a:xfrm>
              <a:off x="9472676" y="128651"/>
              <a:ext cx="1971675" cy="238125"/>
            </a:xfrm>
            <a:custGeom>
              <a:rect b="b" l="l" r="r" t="t"/>
              <a:pathLst>
                <a:path extrusionOk="0" h="238125" w="1971675">
                  <a:moveTo>
                    <a:pt x="1914525" y="0"/>
                  </a:moveTo>
                  <a:lnTo>
                    <a:pt x="57023" y="0"/>
                  </a:lnTo>
                  <a:lnTo>
                    <a:pt x="34825" y="4480"/>
                  </a:lnTo>
                  <a:lnTo>
                    <a:pt x="16700" y="16700"/>
                  </a:lnTo>
                  <a:lnTo>
                    <a:pt x="4480" y="34825"/>
                  </a:lnTo>
                  <a:lnTo>
                    <a:pt x="0" y="57023"/>
                  </a:lnTo>
                  <a:lnTo>
                    <a:pt x="0" y="180975"/>
                  </a:lnTo>
                  <a:lnTo>
                    <a:pt x="4480" y="203192"/>
                  </a:lnTo>
                  <a:lnTo>
                    <a:pt x="16700" y="221360"/>
                  </a:lnTo>
                  <a:lnTo>
                    <a:pt x="34825" y="233624"/>
                  </a:lnTo>
                  <a:lnTo>
                    <a:pt x="57023" y="238125"/>
                  </a:lnTo>
                  <a:lnTo>
                    <a:pt x="1914525" y="238125"/>
                  </a:lnTo>
                  <a:lnTo>
                    <a:pt x="1936742" y="233624"/>
                  </a:lnTo>
                  <a:lnTo>
                    <a:pt x="1954910" y="221360"/>
                  </a:lnTo>
                  <a:lnTo>
                    <a:pt x="1967174" y="203192"/>
                  </a:lnTo>
                  <a:lnTo>
                    <a:pt x="1971675" y="180975"/>
                  </a:lnTo>
                  <a:lnTo>
                    <a:pt x="1971675" y="57023"/>
                  </a:lnTo>
                  <a:lnTo>
                    <a:pt x="1967174" y="34825"/>
                  </a:lnTo>
                  <a:lnTo>
                    <a:pt x="1954910" y="16700"/>
                  </a:lnTo>
                  <a:lnTo>
                    <a:pt x="1936742" y="4480"/>
                  </a:lnTo>
                  <a:lnTo>
                    <a:pt x="1914525" y="0"/>
                  </a:lnTo>
                  <a:close/>
                </a:path>
              </a:pathLst>
            </a:custGeom>
            <a:solidFill>
              <a:srgbClr val="FDF3C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5"/>
            <p:cNvSpPr/>
            <p:nvPr/>
          </p:nvSpPr>
          <p:spPr>
            <a:xfrm>
              <a:off x="9472676" y="128651"/>
              <a:ext cx="1971675" cy="238125"/>
            </a:xfrm>
            <a:custGeom>
              <a:rect b="b" l="l" r="r" t="t"/>
              <a:pathLst>
                <a:path extrusionOk="0" h="238125" w="1971675">
                  <a:moveTo>
                    <a:pt x="0" y="57023"/>
                  </a:moveTo>
                  <a:lnTo>
                    <a:pt x="4480" y="34825"/>
                  </a:lnTo>
                  <a:lnTo>
                    <a:pt x="16700" y="16700"/>
                  </a:lnTo>
                  <a:lnTo>
                    <a:pt x="34825" y="4480"/>
                  </a:lnTo>
                  <a:lnTo>
                    <a:pt x="57023" y="0"/>
                  </a:lnTo>
                  <a:lnTo>
                    <a:pt x="1914525" y="0"/>
                  </a:lnTo>
                  <a:lnTo>
                    <a:pt x="1936742" y="4480"/>
                  </a:lnTo>
                  <a:lnTo>
                    <a:pt x="1954910" y="16700"/>
                  </a:lnTo>
                  <a:lnTo>
                    <a:pt x="1967174" y="34825"/>
                  </a:lnTo>
                  <a:lnTo>
                    <a:pt x="1971675" y="57023"/>
                  </a:lnTo>
                  <a:lnTo>
                    <a:pt x="1971675" y="180975"/>
                  </a:lnTo>
                  <a:lnTo>
                    <a:pt x="1967174" y="203192"/>
                  </a:lnTo>
                  <a:lnTo>
                    <a:pt x="1954910" y="221360"/>
                  </a:lnTo>
                  <a:lnTo>
                    <a:pt x="1936742" y="233624"/>
                  </a:lnTo>
                  <a:lnTo>
                    <a:pt x="1914525" y="238125"/>
                  </a:lnTo>
                  <a:lnTo>
                    <a:pt x="57023" y="238125"/>
                  </a:lnTo>
                  <a:lnTo>
                    <a:pt x="34825" y="233624"/>
                  </a:lnTo>
                  <a:lnTo>
                    <a:pt x="16700" y="221360"/>
                  </a:lnTo>
                  <a:lnTo>
                    <a:pt x="4480" y="203192"/>
                  </a:lnTo>
                  <a:lnTo>
                    <a:pt x="0" y="180975"/>
                  </a:lnTo>
                  <a:lnTo>
                    <a:pt x="0" y="57023"/>
                  </a:lnTo>
                  <a:close/>
                </a:path>
              </a:pathLst>
            </a:custGeom>
            <a:noFill/>
            <a:ln cap="flat" cmpd="sng" w="9525">
              <a:solidFill>
                <a:srgbClr val="FCE6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4" name="Google Shape;364;p15"/>
          <p:cNvSpPr txBox="1"/>
          <p:nvPr/>
        </p:nvSpPr>
        <p:spPr>
          <a:xfrm>
            <a:off x="9596501" y="163131"/>
            <a:ext cx="1786889" cy="16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B45209"/>
                </a:solidFill>
                <a:latin typeface="Arial"/>
                <a:ea typeface="Arial"/>
                <a:cs typeface="Arial"/>
                <a:sym typeface="Arial"/>
              </a:rPr>
              <a:t>ESTADO DE AVANCE s GITHUB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295275" y="447675"/>
            <a:ext cx="5886450" cy="838200"/>
          </a:xfrm>
          <a:custGeom>
            <a:rect b="b" l="l" r="r" t="t"/>
            <a:pathLst>
              <a:path extrusionOk="0" h="838200" w="5886450">
                <a:moveTo>
                  <a:pt x="5791200" y="0"/>
                </a:moveTo>
                <a:lnTo>
                  <a:pt x="95237" y="0"/>
                </a:lnTo>
                <a:lnTo>
                  <a:pt x="58169" y="7489"/>
                </a:lnTo>
                <a:lnTo>
                  <a:pt x="27897" y="27908"/>
                </a:lnTo>
                <a:lnTo>
                  <a:pt x="7485" y="58185"/>
                </a:lnTo>
                <a:lnTo>
                  <a:pt x="0" y="95250"/>
                </a:lnTo>
                <a:lnTo>
                  <a:pt x="0" y="742950"/>
                </a:lnTo>
                <a:lnTo>
                  <a:pt x="7485" y="780014"/>
                </a:lnTo>
                <a:lnTo>
                  <a:pt x="27897" y="810291"/>
                </a:lnTo>
                <a:lnTo>
                  <a:pt x="58169" y="830710"/>
                </a:lnTo>
                <a:lnTo>
                  <a:pt x="95237" y="838200"/>
                </a:lnTo>
                <a:lnTo>
                  <a:pt x="5791200" y="838200"/>
                </a:lnTo>
                <a:lnTo>
                  <a:pt x="5828264" y="830710"/>
                </a:lnTo>
                <a:lnTo>
                  <a:pt x="5858541" y="810291"/>
                </a:lnTo>
                <a:lnTo>
                  <a:pt x="5878960" y="780014"/>
                </a:lnTo>
                <a:lnTo>
                  <a:pt x="5886450" y="742950"/>
                </a:lnTo>
                <a:lnTo>
                  <a:pt x="5886450" y="95250"/>
                </a:lnTo>
                <a:lnTo>
                  <a:pt x="5878960" y="58185"/>
                </a:lnTo>
                <a:lnTo>
                  <a:pt x="5858541" y="27908"/>
                </a:lnTo>
                <a:lnTo>
                  <a:pt x="5828264" y="7489"/>
                </a:lnTo>
                <a:lnTo>
                  <a:pt x="5791200" y="0"/>
                </a:lnTo>
                <a:close/>
              </a:path>
            </a:pathLst>
          </a:custGeom>
          <a:solidFill>
            <a:srgbClr val="1E293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5"/>
          <p:cNvSpPr/>
          <p:nvPr/>
        </p:nvSpPr>
        <p:spPr>
          <a:xfrm>
            <a:off x="295275" y="447675"/>
            <a:ext cx="57150" cy="838200"/>
          </a:xfrm>
          <a:custGeom>
            <a:rect b="b" l="l" r="r" t="t"/>
            <a:pathLst>
              <a:path extrusionOk="0" h="838200" w="57150">
                <a:moveTo>
                  <a:pt x="57150" y="0"/>
                </a:moveTo>
                <a:lnTo>
                  <a:pt x="0" y="0"/>
                </a:lnTo>
                <a:lnTo>
                  <a:pt x="0" y="838200"/>
                </a:lnTo>
                <a:lnTo>
                  <a:pt x="57150" y="838200"/>
                </a:lnTo>
                <a:lnTo>
                  <a:pt x="57150" y="0"/>
                </a:lnTo>
                <a:close/>
              </a:path>
            </a:pathLst>
          </a:custGeom>
          <a:solidFill>
            <a:srgbClr val="F59E0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5"/>
          <p:cNvSpPr txBox="1"/>
          <p:nvPr/>
        </p:nvSpPr>
        <p:spPr>
          <a:xfrm>
            <a:off x="531177" y="693420"/>
            <a:ext cx="1717675" cy="296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59E0A"/>
                </a:solidFill>
                <a:latin typeface="Arial"/>
                <a:ea typeface="Arial"/>
                <a:cs typeface="Arial"/>
                <a:sym typeface="Arial"/>
              </a:rPr>
              <a:t>Estado Global Estimado </a:t>
            </a:r>
            <a:r>
              <a:rPr b="1" lang="en-US" sz="900">
                <a:solidFill>
                  <a:srgbClr val="CAD4E0"/>
                </a:solidFill>
                <a:latin typeface="Arial"/>
                <a:ea typeface="Arial"/>
                <a:cs typeface="Arial"/>
                <a:sym typeface="Arial"/>
              </a:rPr>
              <a:t>Meta de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CAD4E0"/>
                </a:solidFill>
                <a:latin typeface="Arial"/>
                <a:ea typeface="Arial"/>
                <a:cs typeface="Arial"/>
                <a:sym typeface="Arial"/>
              </a:rPr>
              <a:t>presentación Semana 11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5"/>
          <p:cNvSpPr txBox="1"/>
          <p:nvPr/>
        </p:nvSpPr>
        <p:spPr>
          <a:xfrm>
            <a:off x="5095240" y="550544"/>
            <a:ext cx="911860" cy="588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2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68 %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3937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93A2B8"/>
                </a:solidFill>
                <a:latin typeface="Arial"/>
                <a:ea typeface="Arial"/>
                <a:cs typeface="Arial"/>
                <a:sym typeface="Arial"/>
              </a:rPr>
              <a:t>Avance Solicitado</a:t>
            </a:r>
            <a:endParaRPr sz="7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5"/>
          <p:cNvSpPr txBox="1"/>
          <p:nvPr/>
        </p:nvSpPr>
        <p:spPr>
          <a:xfrm>
            <a:off x="6271640" y="1063878"/>
            <a:ext cx="2881630" cy="173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0E172A"/>
                </a:solidFill>
                <a:latin typeface="Arial"/>
                <a:ea typeface="Arial"/>
                <a:cs typeface="Arial"/>
                <a:sym typeface="Arial"/>
              </a:rPr>
              <a:t>APORTES Y RESPONSABILIDADES DEL EQUIPO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295275" y="1409700"/>
            <a:ext cx="4905375" cy="1143000"/>
          </a:xfrm>
          <a:custGeom>
            <a:rect b="b" l="l" r="r" t="t"/>
            <a:pathLst>
              <a:path extrusionOk="0" h="1143000" w="4905375">
                <a:moveTo>
                  <a:pt x="4829556" y="0"/>
                </a:moveTo>
                <a:lnTo>
                  <a:pt x="75882" y="0"/>
                </a:lnTo>
                <a:lnTo>
                  <a:pt x="46345" y="5970"/>
                </a:lnTo>
                <a:lnTo>
                  <a:pt x="22225" y="22240"/>
                </a:lnTo>
                <a:lnTo>
                  <a:pt x="5963" y="46345"/>
                </a:lnTo>
                <a:lnTo>
                  <a:pt x="0" y="75819"/>
                </a:lnTo>
                <a:lnTo>
                  <a:pt x="0" y="1067180"/>
                </a:lnTo>
                <a:lnTo>
                  <a:pt x="5963" y="1096654"/>
                </a:lnTo>
                <a:lnTo>
                  <a:pt x="22225" y="1120759"/>
                </a:lnTo>
                <a:lnTo>
                  <a:pt x="46345" y="1137029"/>
                </a:lnTo>
                <a:lnTo>
                  <a:pt x="75882" y="1143000"/>
                </a:lnTo>
                <a:lnTo>
                  <a:pt x="4829556" y="1143000"/>
                </a:lnTo>
                <a:lnTo>
                  <a:pt x="4859029" y="1137029"/>
                </a:lnTo>
                <a:lnTo>
                  <a:pt x="4883134" y="1120759"/>
                </a:lnTo>
                <a:lnTo>
                  <a:pt x="4899404" y="1096654"/>
                </a:lnTo>
                <a:lnTo>
                  <a:pt x="4905375" y="1067180"/>
                </a:lnTo>
                <a:lnTo>
                  <a:pt x="4905375" y="75819"/>
                </a:lnTo>
                <a:lnTo>
                  <a:pt x="4899404" y="46345"/>
                </a:lnTo>
                <a:lnTo>
                  <a:pt x="4883134" y="22240"/>
                </a:lnTo>
                <a:lnTo>
                  <a:pt x="4859029" y="5970"/>
                </a:lnTo>
                <a:lnTo>
                  <a:pt x="48295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295275" y="1409700"/>
            <a:ext cx="38100" cy="1143000"/>
          </a:xfrm>
          <a:custGeom>
            <a:rect b="b" l="l" r="r" t="t"/>
            <a:pathLst>
              <a:path extrusionOk="0" h="1143000" w="38100">
                <a:moveTo>
                  <a:pt x="38100" y="0"/>
                </a:moveTo>
                <a:lnTo>
                  <a:pt x="0" y="0"/>
                </a:lnTo>
                <a:lnTo>
                  <a:pt x="0" y="1143000"/>
                </a:lnTo>
                <a:lnTo>
                  <a:pt x="38100" y="1143000"/>
                </a:lnTo>
                <a:lnTo>
                  <a:pt x="38100" y="0"/>
                </a:lnTo>
                <a:close/>
              </a:path>
            </a:pathLst>
          </a:custGeom>
          <a:solidFill>
            <a:srgbClr val="D9770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5"/>
          <p:cNvSpPr txBox="1"/>
          <p:nvPr/>
        </p:nvSpPr>
        <p:spPr>
          <a:xfrm>
            <a:off x="416242" y="1328725"/>
            <a:ext cx="9087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E172A"/>
                </a:solidFill>
                <a:latin typeface="Arial"/>
                <a:ea typeface="Arial"/>
                <a:cs typeface="Arial"/>
                <a:sym typeface="Arial"/>
              </a:rPr>
              <a:t>Alan Cruz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D97705"/>
                </a:solidFill>
                <a:latin typeface="Arial"/>
                <a:ea typeface="Arial"/>
                <a:cs typeface="Arial"/>
                <a:sym typeface="Arial"/>
              </a:rPr>
              <a:t>Jefe de Proyecto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5"/>
          <p:cNvSpPr txBox="1"/>
          <p:nvPr/>
        </p:nvSpPr>
        <p:spPr>
          <a:xfrm>
            <a:off x="571350" y="1788400"/>
            <a:ext cx="1203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65469"/>
                </a:solidFill>
                <a:latin typeface="Tahoma"/>
                <a:ea typeface="Tahoma"/>
                <a:cs typeface="Tahoma"/>
                <a:sym typeface="Tahoma"/>
              </a:rPr>
              <a:t>•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4" name="Google Shape;374;p15"/>
          <p:cNvSpPr txBox="1"/>
          <p:nvPr/>
        </p:nvSpPr>
        <p:spPr>
          <a:xfrm>
            <a:off x="537527" y="1775744"/>
            <a:ext cx="28119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975">
            <a:spAutoFit/>
          </a:bodyPr>
          <a:lstStyle/>
          <a:p>
            <a:pPr indent="0" lvl="0" marL="1003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465469"/>
                </a:solidFill>
                <a:latin typeface="Tahoma"/>
                <a:ea typeface="Tahoma"/>
                <a:cs typeface="Tahoma"/>
                <a:sym typeface="Tahoma"/>
              </a:rPr>
              <a:t>Coordinación general y seguimiento de la Carta Gantt.</a:t>
            </a:r>
            <a:endParaRPr sz="800">
              <a:latin typeface="Tahoma"/>
              <a:ea typeface="Tahoma"/>
              <a:cs typeface="Tahoma"/>
              <a:sym typeface="Tahoma"/>
            </a:endParaRPr>
          </a:p>
          <a:p>
            <a:pPr indent="-74930" lvl="0" marL="100330" rtl="0" algn="l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>
                <a:srgbClr val="465469"/>
              </a:buClr>
              <a:buSzPts val="800"/>
              <a:buFont typeface="Tahoma"/>
              <a:buChar char="•"/>
            </a:pPr>
            <a:r>
              <a:rPr lang="en-US" sz="800">
                <a:solidFill>
                  <a:srgbClr val="465469"/>
                </a:solidFill>
                <a:latin typeface="Tahoma"/>
                <a:ea typeface="Tahoma"/>
                <a:cs typeface="Tahoma"/>
                <a:sym typeface="Tahoma"/>
              </a:rPr>
              <a:t>Planificación de entregables y organización de tareas.</a:t>
            </a:r>
            <a:endParaRPr sz="800">
              <a:latin typeface="Tahoma"/>
              <a:ea typeface="Tahoma"/>
              <a:cs typeface="Tahoma"/>
              <a:sym typeface="Tahoma"/>
            </a:endParaRPr>
          </a:p>
          <a:p>
            <a:pPr indent="-74930" lvl="0" marL="10033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465469"/>
              </a:buClr>
              <a:buSzPts val="800"/>
              <a:buFont typeface="Tahoma"/>
              <a:buChar char="•"/>
            </a:pPr>
            <a:r>
              <a:rPr lang="en-US" sz="800">
                <a:solidFill>
                  <a:srgbClr val="465469"/>
                </a:solidFill>
                <a:latin typeface="Tahoma"/>
                <a:ea typeface="Tahoma"/>
                <a:cs typeface="Tahoma"/>
                <a:sym typeface="Tahoma"/>
              </a:rPr>
              <a:t>Gestión de documentación y evidencias del proyecto.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5524500" y="1400175"/>
            <a:ext cx="4895850" cy="1152525"/>
          </a:xfrm>
          <a:custGeom>
            <a:rect b="b" l="l" r="r" t="t"/>
            <a:pathLst>
              <a:path extrusionOk="0" h="1152525" w="4895850">
                <a:moveTo>
                  <a:pt x="4819396" y="0"/>
                </a:moveTo>
                <a:lnTo>
                  <a:pt x="76453" y="0"/>
                </a:lnTo>
                <a:lnTo>
                  <a:pt x="46720" y="6016"/>
                </a:lnTo>
                <a:lnTo>
                  <a:pt x="22415" y="22415"/>
                </a:lnTo>
                <a:lnTo>
                  <a:pt x="6016" y="46720"/>
                </a:lnTo>
                <a:lnTo>
                  <a:pt x="0" y="76453"/>
                </a:lnTo>
                <a:lnTo>
                  <a:pt x="0" y="1076071"/>
                </a:lnTo>
                <a:lnTo>
                  <a:pt x="6016" y="1105804"/>
                </a:lnTo>
                <a:lnTo>
                  <a:pt x="22415" y="1130109"/>
                </a:lnTo>
                <a:lnTo>
                  <a:pt x="46720" y="1146508"/>
                </a:lnTo>
                <a:lnTo>
                  <a:pt x="76453" y="1152525"/>
                </a:lnTo>
                <a:lnTo>
                  <a:pt x="4819396" y="1152525"/>
                </a:lnTo>
                <a:lnTo>
                  <a:pt x="4849129" y="1146508"/>
                </a:lnTo>
                <a:lnTo>
                  <a:pt x="4873434" y="1130109"/>
                </a:lnTo>
                <a:lnTo>
                  <a:pt x="4889833" y="1105804"/>
                </a:lnTo>
                <a:lnTo>
                  <a:pt x="4895850" y="1076071"/>
                </a:lnTo>
                <a:lnTo>
                  <a:pt x="4895850" y="76453"/>
                </a:lnTo>
                <a:lnTo>
                  <a:pt x="4889833" y="46720"/>
                </a:lnTo>
                <a:lnTo>
                  <a:pt x="4873434" y="22415"/>
                </a:lnTo>
                <a:lnTo>
                  <a:pt x="4849129" y="6016"/>
                </a:lnTo>
                <a:lnTo>
                  <a:pt x="481939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6" name="Google Shape;376;p15"/>
          <p:cNvGrpSpPr/>
          <p:nvPr/>
        </p:nvGrpSpPr>
        <p:grpSpPr>
          <a:xfrm>
            <a:off x="5524500" y="1400175"/>
            <a:ext cx="4895850" cy="1152525"/>
            <a:chOff x="5524500" y="1400175"/>
            <a:chExt cx="4895850" cy="1152525"/>
          </a:xfrm>
        </p:grpSpPr>
        <p:sp>
          <p:nvSpPr>
            <p:cNvPr id="377" name="Google Shape;377;p15"/>
            <p:cNvSpPr/>
            <p:nvPr/>
          </p:nvSpPr>
          <p:spPr>
            <a:xfrm>
              <a:off x="5524500" y="1400175"/>
              <a:ext cx="4895850" cy="9525"/>
            </a:xfrm>
            <a:custGeom>
              <a:rect b="b" l="l" r="r" t="t"/>
              <a:pathLst>
                <a:path extrusionOk="0" h="9525" w="4895850">
                  <a:moveTo>
                    <a:pt x="489585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4895850" y="9525"/>
                  </a:lnTo>
                  <a:lnTo>
                    <a:pt x="4895850" y="0"/>
                  </a:lnTo>
                  <a:close/>
                </a:path>
              </a:pathLst>
            </a:custGeom>
            <a:solidFill>
              <a:srgbClr val="CAD4E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5534025" y="1400175"/>
              <a:ext cx="38100" cy="1152525"/>
            </a:xfrm>
            <a:custGeom>
              <a:rect b="b" l="l" r="r" t="t"/>
              <a:pathLst>
                <a:path extrusionOk="0" h="1152525" w="38100">
                  <a:moveTo>
                    <a:pt x="38100" y="0"/>
                  </a:moveTo>
                  <a:lnTo>
                    <a:pt x="0" y="0"/>
                  </a:lnTo>
                  <a:lnTo>
                    <a:pt x="0" y="1152525"/>
                  </a:lnTo>
                  <a:lnTo>
                    <a:pt x="38100" y="115252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184C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9" name="Google Shape;379;p15"/>
          <p:cNvSpPr txBox="1"/>
          <p:nvPr/>
        </p:nvSpPr>
        <p:spPr>
          <a:xfrm>
            <a:off x="5658484" y="1485357"/>
            <a:ext cx="3507104" cy="944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20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E172A"/>
                </a:solidFill>
                <a:latin typeface="Arial"/>
                <a:ea typeface="Arial"/>
                <a:cs typeface="Arial"/>
                <a:sym typeface="Arial"/>
              </a:rPr>
              <a:t>Jonatan Gordillo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0184C6"/>
                </a:solidFill>
                <a:latin typeface="Arial"/>
                <a:ea typeface="Arial"/>
                <a:cs typeface="Arial"/>
                <a:sym typeface="Arial"/>
              </a:rPr>
              <a:t>Desarrollo y QA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-113664" lvl="0" marL="247015" rtl="0" algn="l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Clr>
                <a:srgbClr val="465469"/>
              </a:buClr>
              <a:buSzPts val="800"/>
              <a:buFont typeface="Tahoma"/>
              <a:buChar char="•"/>
            </a:pPr>
            <a:r>
              <a:rPr lang="en-US" sz="800">
                <a:solidFill>
                  <a:srgbClr val="465469"/>
                </a:solidFill>
                <a:latin typeface="Tahoma"/>
                <a:ea typeface="Tahoma"/>
                <a:cs typeface="Tahoma"/>
                <a:sym typeface="Tahoma"/>
              </a:rPr>
              <a:t>Desarrollo de funcionalidades backend y componentes frontend.</a:t>
            </a:r>
            <a:endParaRPr sz="800">
              <a:latin typeface="Tahoma"/>
              <a:ea typeface="Tahoma"/>
              <a:cs typeface="Tahoma"/>
              <a:sym typeface="Tahoma"/>
            </a:endParaRPr>
          </a:p>
          <a:p>
            <a:pPr indent="-113664" lvl="0" marL="247015" rtl="0" algn="l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>
                <a:srgbClr val="465469"/>
              </a:buClr>
              <a:buSzPts val="800"/>
              <a:buFont typeface="Tahoma"/>
              <a:buChar char="•"/>
            </a:pPr>
            <a:r>
              <a:rPr lang="en-US" sz="800">
                <a:solidFill>
                  <a:srgbClr val="465469"/>
                </a:solidFill>
                <a:latin typeface="Tahoma"/>
                <a:ea typeface="Tahoma"/>
                <a:cs typeface="Tahoma"/>
                <a:sym typeface="Tahoma"/>
              </a:rPr>
              <a:t>Apoyo en diseño de casos de prueba y verificación QA.</a:t>
            </a:r>
            <a:endParaRPr sz="800">
              <a:latin typeface="Tahoma"/>
              <a:ea typeface="Tahoma"/>
              <a:cs typeface="Tahoma"/>
              <a:sym typeface="Tahoma"/>
            </a:endParaRPr>
          </a:p>
          <a:p>
            <a:pPr indent="-113664" lvl="0" marL="247015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465469"/>
              </a:buClr>
              <a:buSzPts val="800"/>
              <a:buFont typeface="Tahoma"/>
              <a:buChar char="•"/>
            </a:pPr>
            <a:r>
              <a:rPr lang="en-US" sz="800">
                <a:solidFill>
                  <a:srgbClr val="465469"/>
                </a:solidFill>
                <a:latin typeface="Tahoma"/>
                <a:ea typeface="Tahoma"/>
                <a:cs typeface="Tahoma"/>
                <a:sym typeface="Tahoma"/>
              </a:rPr>
              <a:t>Evidencias de código y avances registrados en commits.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5648325" y="2762250"/>
            <a:ext cx="4895850" cy="9525"/>
          </a:xfrm>
          <a:custGeom>
            <a:rect b="b" l="l" r="r" t="t"/>
            <a:pathLst>
              <a:path extrusionOk="0" h="9525" w="4895850">
                <a:moveTo>
                  <a:pt x="4895850" y="0"/>
                </a:moveTo>
                <a:lnTo>
                  <a:pt x="0" y="0"/>
                </a:lnTo>
                <a:lnTo>
                  <a:pt x="0" y="9525"/>
                </a:lnTo>
                <a:lnTo>
                  <a:pt x="4895850" y="9525"/>
                </a:lnTo>
                <a:lnTo>
                  <a:pt x="4895850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419100" y="2771775"/>
            <a:ext cx="4905375" cy="9525"/>
          </a:xfrm>
          <a:custGeom>
            <a:rect b="b" l="l" r="r" t="t"/>
            <a:pathLst>
              <a:path extrusionOk="0" h="9525" w="4905375">
                <a:moveTo>
                  <a:pt x="4905375" y="0"/>
                </a:moveTo>
                <a:lnTo>
                  <a:pt x="0" y="0"/>
                </a:lnTo>
                <a:lnTo>
                  <a:pt x="0" y="9525"/>
                </a:lnTo>
                <a:lnTo>
                  <a:pt x="4905375" y="9525"/>
                </a:lnTo>
                <a:lnTo>
                  <a:pt x="4905375" y="0"/>
                </a:lnTo>
                <a:close/>
              </a:path>
            </a:pathLst>
          </a:custGeom>
          <a:solidFill>
            <a:srgbClr val="CAD4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5"/>
          <p:cNvSpPr/>
          <p:nvPr/>
        </p:nvSpPr>
        <p:spPr>
          <a:xfrm>
            <a:off x="609600" y="6419850"/>
            <a:ext cx="10972800" cy="9525"/>
          </a:xfrm>
          <a:custGeom>
            <a:rect b="b" l="l" r="r" t="t"/>
            <a:pathLst>
              <a:path extrusionOk="0" h="9525" w="10972800">
                <a:moveTo>
                  <a:pt x="10972800" y="0"/>
                </a:moveTo>
                <a:lnTo>
                  <a:pt x="0" y="0"/>
                </a:lnTo>
                <a:lnTo>
                  <a:pt x="0" y="9525"/>
                </a:lnTo>
                <a:lnTo>
                  <a:pt x="10972800" y="9525"/>
                </a:lnTo>
                <a:lnTo>
                  <a:pt x="10972800" y="0"/>
                </a:lnTo>
                <a:close/>
              </a:path>
            </a:pathLst>
          </a:custGeom>
          <a:solidFill>
            <a:srgbClr val="F0F5F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5"/>
          <p:cNvSpPr txBox="1"/>
          <p:nvPr/>
        </p:nvSpPr>
        <p:spPr>
          <a:xfrm>
            <a:off x="597534" y="6521132"/>
            <a:ext cx="17418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4" name="Google Shape;384;p15"/>
          <p:cNvSpPr txBox="1"/>
          <p:nvPr/>
        </p:nvSpPr>
        <p:spPr>
          <a:xfrm>
            <a:off x="9491091" y="6521132"/>
            <a:ext cx="21165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85" name="Google Shape;38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375" y="2571750"/>
            <a:ext cx="11582400" cy="39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6"/>
          <p:cNvSpPr txBox="1"/>
          <p:nvPr/>
        </p:nvSpPr>
        <p:spPr>
          <a:xfrm>
            <a:off x="749934" y="512190"/>
            <a:ext cx="2032635" cy="18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D97705"/>
                </a:solidFill>
                <a:latin typeface="Arial"/>
                <a:ea typeface="Arial"/>
                <a:cs typeface="Arial"/>
                <a:sym typeface="Arial"/>
              </a:rPr>
              <a:t>SEGUIMIENTO DEL PROYECTO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$PPTXTitle" id="391" name="Google Shape;391;p16"/>
          <p:cNvSpPr txBox="1"/>
          <p:nvPr>
            <p:ph type="title"/>
          </p:nvPr>
        </p:nvSpPr>
        <p:spPr>
          <a:xfrm>
            <a:off x="749934" y="731456"/>
            <a:ext cx="4629785" cy="437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1C1817"/>
                </a:solidFill>
              </a:rPr>
              <a:t>Estado Actual — Semana 11</a:t>
            </a:r>
            <a:endParaRPr sz="2700"/>
          </a:p>
        </p:txBody>
      </p:sp>
      <p:grpSp>
        <p:nvGrpSpPr>
          <p:cNvPr id="392" name="Google Shape;392;p16"/>
          <p:cNvGrpSpPr/>
          <p:nvPr/>
        </p:nvGrpSpPr>
        <p:grpSpPr>
          <a:xfrm>
            <a:off x="966787" y="1233550"/>
            <a:ext cx="5182235" cy="4886325"/>
            <a:chOff x="966787" y="1233550"/>
            <a:chExt cx="5182235" cy="4886325"/>
          </a:xfrm>
        </p:grpSpPr>
        <p:sp>
          <p:nvSpPr>
            <p:cNvPr id="393" name="Google Shape;393;p16"/>
            <p:cNvSpPr/>
            <p:nvPr/>
          </p:nvSpPr>
          <p:spPr>
            <a:xfrm>
              <a:off x="966787" y="1233550"/>
              <a:ext cx="5182235" cy="4886325"/>
            </a:xfrm>
            <a:custGeom>
              <a:rect b="b" l="l" r="r" t="t"/>
              <a:pathLst>
                <a:path extrusionOk="0" h="4886325" w="5182235">
                  <a:moveTo>
                    <a:pt x="5067363" y="0"/>
                  </a:moveTo>
                  <a:lnTo>
                    <a:pt x="114287" y="0"/>
                  </a:lnTo>
                  <a:lnTo>
                    <a:pt x="69801" y="8963"/>
                  </a:lnTo>
                  <a:lnTo>
                    <a:pt x="33474" y="33416"/>
                  </a:lnTo>
                  <a:lnTo>
                    <a:pt x="8981" y="69705"/>
                  </a:lnTo>
                  <a:lnTo>
                    <a:pt x="0" y="114173"/>
                  </a:lnTo>
                  <a:lnTo>
                    <a:pt x="0" y="4771974"/>
                  </a:lnTo>
                  <a:lnTo>
                    <a:pt x="8981" y="4816459"/>
                  </a:lnTo>
                  <a:lnTo>
                    <a:pt x="33474" y="4852787"/>
                  </a:lnTo>
                  <a:lnTo>
                    <a:pt x="69801" y="4877280"/>
                  </a:lnTo>
                  <a:lnTo>
                    <a:pt x="114287" y="4886261"/>
                  </a:lnTo>
                  <a:lnTo>
                    <a:pt x="5067363" y="4886261"/>
                  </a:lnTo>
                  <a:lnTo>
                    <a:pt x="5111851" y="4877280"/>
                  </a:lnTo>
                  <a:lnTo>
                    <a:pt x="5148183" y="4852787"/>
                  </a:lnTo>
                  <a:lnTo>
                    <a:pt x="5172680" y="4816459"/>
                  </a:lnTo>
                  <a:lnTo>
                    <a:pt x="5181663" y="4771974"/>
                  </a:lnTo>
                  <a:lnTo>
                    <a:pt x="5181663" y="114173"/>
                  </a:lnTo>
                  <a:lnTo>
                    <a:pt x="5172680" y="69705"/>
                  </a:lnTo>
                  <a:lnTo>
                    <a:pt x="5148183" y="33416"/>
                  </a:lnTo>
                  <a:lnTo>
                    <a:pt x="5111851" y="8963"/>
                  </a:lnTo>
                  <a:lnTo>
                    <a:pt x="5067363" y="0"/>
                  </a:lnTo>
                  <a:close/>
                </a:path>
              </a:pathLst>
            </a:custGeom>
            <a:solidFill>
              <a:srgbClr val="F8F9F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6"/>
            <p:cNvSpPr/>
            <p:nvPr/>
          </p:nvSpPr>
          <p:spPr>
            <a:xfrm>
              <a:off x="966787" y="1233550"/>
              <a:ext cx="5182235" cy="4886325"/>
            </a:xfrm>
            <a:custGeom>
              <a:rect b="b" l="l" r="r" t="t"/>
              <a:pathLst>
                <a:path extrusionOk="0" h="4886325" w="5182235">
                  <a:moveTo>
                    <a:pt x="0" y="114173"/>
                  </a:moveTo>
                  <a:lnTo>
                    <a:pt x="8981" y="69705"/>
                  </a:lnTo>
                  <a:lnTo>
                    <a:pt x="33474" y="33416"/>
                  </a:lnTo>
                  <a:lnTo>
                    <a:pt x="69801" y="8963"/>
                  </a:lnTo>
                  <a:lnTo>
                    <a:pt x="114287" y="0"/>
                  </a:lnTo>
                  <a:lnTo>
                    <a:pt x="5067363" y="0"/>
                  </a:lnTo>
                  <a:lnTo>
                    <a:pt x="5111851" y="8963"/>
                  </a:lnTo>
                  <a:lnTo>
                    <a:pt x="5148183" y="33416"/>
                  </a:lnTo>
                  <a:lnTo>
                    <a:pt x="5172680" y="69705"/>
                  </a:lnTo>
                  <a:lnTo>
                    <a:pt x="5181663" y="114173"/>
                  </a:lnTo>
                  <a:lnTo>
                    <a:pt x="5181663" y="4771974"/>
                  </a:lnTo>
                  <a:lnTo>
                    <a:pt x="5172680" y="4816459"/>
                  </a:lnTo>
                  <a:lnTo>
                    <a:pt x="5148183" y="4852787"/>
                  </a:lnTo>
                  <a:lnTo>
                    <a:pt x="5111851" y="4877280"/>
                  </a:lnTo>
                  <a:lnTo>
                    <a:pt x="5067363" y="4886261"/>
                  </a:lnTo>
                  <a:lnTo>
                    <a:pt x="114287" y="4886261"/>
                  </a:lnTo>
                  <a:lnTo>
                    <a:pt x="69801" y="4877280"/>
                  </a:lnTo>
                  <a:lnTo>
                    <a:pt x="33474" y="4852787"/>
                  </a:lnTo>
                  <a:lnTo>
                    <a:pt x="8981" y="4816459"/>
                  </a:lnTo>
                  <a:lnTo>
                    <a:pt x="0" y="4771974"/>
                  </a:lnTo>
                  <a:lnTo>
                    <a:pt x="0" y="114173"/>
                  </a:lnTo>
                  <a:close/>
                </a:path>
              </a:pathLst>
            </a:custGeom>
            <a:noFill/>
            <a:ln cap="flat" cmpd="sng" w="9525">
              <a:solidFill>
                <a:srgbClr val="E1E8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image.png" id="395" name="Google Shape;39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225" y="172402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6"/>
          <p:cNvSpPr txBox="1"/>
          <p:nvPr/>
        </p:nvSpPr>
        <p:spPr>
          <a:xfrm>
            <a:off x="1331213" y="1694497"/>
            <a:ext cx="2471420" cy="254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293A"/>
                </a:solidFill>
                <a:latin typeface="Arial"/>
                <a:ea typeface="Arial"/>
                <a:cs typeface="Arial"/>
                <a:sym typeface="Arial"/>
              </a:rPr>
              <a:t>COMPLETADO / DEFINIDO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1038225" y="2057400"/>
            <a:ext cx="4629150" cy="19050"/>
          </a:xfrm>
          <a:custGeom>
            <a:rect b="b" l="l" r="r" t="t"/>
            <a:pathLst>
              <a:path extrusionOk="0" h="19050" w="4629150">
                <a:moveTo>
                  <a:pt x="4629150" y="0"/>
                </a:moveTo>
                <a:lnTo>
                  <a:pt x="0" y="0"/>
                </a:lnTo>
                <a:lnTo>
                  <a:pt x="0" y="19050"/>
                </a:lnTo>
                <a:lnTo>
                  <a:pt x="4629150" y="19050"/>
                </a:lnTo>
                <a:lnTo>
                  <a:pt x="4629150" y="0"/>
                </a:lnTo>
                <a:close/>
              </a:path>
            </a:pathLst>
          </a:custGeom>
          <a:solidFill>
            <a:srgbClr val="E1E8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8" name="Google Shape;398;p16"/>
          <p:cNvGrpSpPr/>
          <p:nvPr/>
        </p:nvGrpSpPr>
        <p:grpSpPr>
          <a:xfrm>
            <a:off x="6267776" y="1401625"/>
            <a:ext cx="5181600" cy="5153025"/>
            <a:chOff x="6253226" y="1176400"/>
            <a:chExt cx="5181600" cy="5153025"/>
          </a:xfrm>
        </p:grpSpPr>
        <p:sp>
          <p:nvSpPr>
            <p:cNvPr id="399" name="Google Shape;399;p16"/>
            <p:cNvSpPr/>
            <p:nvPr/>
          </p:nvSpPr>
          <p:spPr>
            <a:xfrm>
              <a:off x="6253226" y="1176400"/>
              <a:ext cx="5181600" cy="5153025"/>
            </a:xfrm>
            <a:custGeom>
              <a:rect b="b" l="l" r="r" t="t"/>
              <a:pathLst>
                <a:path extrusionOk="0" h="5153025" w="5181600">
                  <a:moveTo>
                    <a:pt x="5060950" y="0"/>
                  </a:moveTo>
                  <a:lnTo>
                    <a:pt x="120523" y="0"/>
                  </a:lnTo>
                  <a:lnTo>
                    <a:pt x="73562" y="9455"/>
                  </a:lnTo>
                  <a:lnTo>
                    <a:pt x="35258" y="35258"/>
                  </a:lnTo>
                  <a:lnTo>
                    <a:pt x="9455" y="73562"/>
                  </a:lnTo>
                  <a:lnTo>
                    <a:pt x="0" y="120523"/>
                  </a:lnTo>
                  <a:lnTo>
                    <a:pt x="0" y="5032425"/>
                  </a:lnTo>
                  <a:lnTo>
                    <a:pt x="9455" y="5079345"/>
                  </a:lnTo>
                  <a:lnTo>
                    <a:pt x="35258" y="5117658"/>
                  </a:lnTo>
                  <a:lnTo>
                    <a:pt x="73562" y="5143489"/>
                  </a:lnTo>
                  <a:lnTo>
                    <a:pt x="120523" y="5152961"/>
                  </a:lnTo>
                  <a:lnTo>
                    <a:pt x="5060950" y="5152961"/>
                  </a:lnTo>
                  <a:lnTo>
                    <a:pt x="5107930" y="5143489"/>
                  </a:lnTo>
                  <a:lnTo>
                    <a:pt x="5146278" y="5117658"/>
                  </a:lnTo>
                  <a:lnTo>
                    <a:pt x="5172124" y="5079345"/>
                  </a:lnTo>
                  <a:lnTo>
                    <a:pt x="5181600" y="5032425"/>
                  </a:lnTo>
                  <a:lnTo>
                    <a:pt x="5181600" y="120523"/>
                  </a:lnTo>
                  <a:lnTo>
                    <a:pt x="5172124" y="73562"/>
                  </a:lnTo>
                  <a:lnTo>
                    <a:pt x="5146278" y="35258"/>
                  </a:lnTo>
                  <a:lnTo>
                    <a:pt x="5107930" y="9455"/>
                  </a:lnTo>
                  <a:lnTo>
                    <a:pt x="5060950" y="0"/>
                  </a:lnTo>
                  <a:close/>
                </a:path>
              </a:pathLst>
            </a:custGeom>
            <a:solidFill>
              <a:srgbClr val="F8F9F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6253226" y="1176400"/>
              <a:ext cx="5181600" cy="5153025"/>
            </a:xfrm>
            <a:custGeom>
              <a:rect b="b" l="l" r="r" t="t"/>
              <a:pathLst>
                <a:path extrusionOk="0" h="5153025" w="5181600">
                  <a:moveTo>
                    <a:pt x="0" y="120523"/>
                  </a:moveTo>
                  <a:lnTo>
                    <a:pt x="9455" y="73562"/>
                  </a:lnTo>
                  <a:lnTo>
                    <a:pt x="35258" y="35258"/>
                  </a:lnTo>
                  <a:lnTo>
                    <a:pt x="73562" y="9455"/>
                  </a:lnTo>
                  <a:lnTo>
                    <a:pt x="120523" y="0"/>
                  </a:lnTo>
                  <a:lnTo>
                    <a:pt x="5060950" y="0"/>
                  </a:lnTo>
                  <a:lnTo>
                    <a:pt x="5107930" y="9455"/>
                  </a:lnTo>
                  <a:lnTo>
                    <a:pt x="5146278" y="35258"/>
                  </a:lnTo>
                  <a:lnTo>
                    <a:pt x="5172124" y="73562"/>
                  </a:lnTo>
                  <a:lnTo>
                    <a:pt x="5181600" y="120523"/>
                  </a:lnTo>
                  <a:lnTo>
                    <a:pt x="5181600" y="5032425"/>
                  </a:lnTo>
                  <a:lnTo>
                    <a:pt x="5172124" y="5079345"/>
                  </a:lnTo>
                  <a:lnTo>
                    <a:pt x="5146278" y="5117658"/>
                  </a:lnTo>
                  <a:lnTo>
                    <a:pt x="5107930" y="5143489"/>
                  </a:lnTo>
                  <a:lnTo>
                    <a:pt x="5060950" y="5152961"/>
                  </a:lnTo>
                  <a:lnTo>
                    <a:pt x="120523" y="5152961"/>
                  </a:lnTo>
                  <a:lnTo>
                    <a:pt x="73562" y="5143489"/>
                  </a:lnTo>
                  <a:lnTo>
                    <a:pt x="35258" y="5117658"/>
                  </a:lnTo>
                  <a:lnTo>
                    <a:pt x="9455" y="5079345"/>
                  </a:lnTo>
                  <a:lnTo>
                    <a:pt x="0" y="5032425"/>
                  </a:lnTo>
                  <a:lnTo>
                    <a:pt x="0" y="120523"/>
                  </a:lnTo>
                  <a:close/>
                </a:path>
              </a:pathLst>
            </a:custGeom>
            <a:noFill/>
            <a:ln cap="flat" cmpd="sng" w="9525">
              <a:solidFill>
                <a:srgbClr val="E1E8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image.png" id="401" name="Google Shape;40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172402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6"/>
          <p:cNvSpPr txBox="1"/>
          <p:nvPr/>
        </p:nvSpPr>
        <p:spPr>
          <a:xfrm>
            <a:off x="6822058" y="1694497"/>
            <a:ext cx="1780539" cy="254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293A"/>
                </a:solidFill>
                <a:latin typeface="Arial"/>
                <a:ea typeface="Arial"/>
                <a:cs typeface="Arial"/>
                <a:sym typeface="Arial"/>
              </a:rPr>
              <a:t>PRÓXIMOS PASOS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6524625" y="2057400"/>
            <a:ext cx="4629150" cy="19050"/>
          </a:xfrm>
          <a:custGeom>
            <a:rect b="b" l="l" r="r" t="t"/>
            <a:pathLst>
              <a:path extrusionOk="0" h="19050" w="4629150">
                <a:moveTo>
                  <a:pt x="4629150" y="0"/>
                </a:moveTo>
                <a:lnTo>
                  <a:pt x="0" y="0"/>
                </a:lnTo>
                <a:lnTo>
                  <a:pt x="0" y="19050"/>
                </a:lnTo>
                <a:lnTo>
                  <a:pt x="4629150" y="19050"/>
                </a:lnTo>
                <a:lnTo>
                  <a:pt x="4629150" y="0"/>
                </a:lnTo>
                <a:close/>
              </a:path>
            </a:pathLst>
          </a:custGeom>
          <a:solidFill>
            <a:srgbClr val="E1E8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404" name="Google Shape;40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225" y="2305050"/>
            <a:ext cx="1238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5" name="Google Shape;40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2295525"/>
            <a:ext cx="12382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6" name="Google Shape;40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225" y="2619375"/>
            <a:ext cx="1238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7" name="Google Shape;40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2590800"/>
            <a:ext cx="12382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8" name="Google Shape;40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225" y="2933700"/>
            <a:ext cx="1238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2886075"/>
            <a:ext cx="12382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0" name="Google Shape;41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3181350"/>
            <a:ext cx="12382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1" name="Google Shape;41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225" y="3248025"/>
            <a:ext cx="1238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3476625"/>
            <a:ext cx="12382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3" name="Google Shape;41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225" y="3562350"/>
            <a:ext cx="123825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6"/>
          <p:cNvSpPr txBox="1"/>
          <p:nvPr/>
        </p:nvSpPr>
        <p:spPr>
          <a:xfrm>
            <a:off x="1245550" y="2184725"/>
            <a:ext cx="3815100" cy="13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4154"/>
                </a:solidFill>
                <a:latin typeface="Tahoma"/>
                <a:ea typeface="Tahoma"/>
                <a:cs typeface="Tahoma"/>
                <a:sym typeface="Tahoma"/>
              </a:rPr>
              <a:t>Modelo de datos y modelo entidad-relación definidos.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4154"/>
                </a:solidFill>
                <a:latin typeface="Tahoma"/>
                <a:ea typeface="Tahoma"/>
                <a:cs typeface="Tahoma"/>
                <a:sym typeface="Tahoma"/>
              </a:rPr>
              <a:t>Casos de uso y arquitectura del sistema documentados.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898525" rtl="0" algn="l">
              <a:lnSpc>
                <a:spcPct val="187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4154"/>
                </a:solidFill>
                <a:latin typeface="Tahoma"/>
                <a:ea typeface="Tahoma"/>
                <a:cs typeface="Tahoma"/>
                <a:sym typeface="Tahoma"/>
              </a:rPr>
              <a:t>Backend Django y API REST desarrollados. Casos de prueba documentados.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34154"/>
                </a:solidFill>
                <a:latin typeface="Tahoma"/>
                <a:ea typeface="Tahoma"/>
                <a:cs typeface="Tahoma"/>
                <a:sym typeface="Tahoma"/>
              </a:rPr>
              <a:t>Avances en el web y móvil.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.png" id="415" name="Google Shape;41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3771900"/>
            <a:ext cx="12382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6"/>
          <p:cNvSpPr txBox="1"/>
          <p:nvPr/>
        </p:nvSpPr>
        <p:spPr>
          <a:xfrm>
            <a:off x="6736075" y="2243449"/>
            <a:ext cx="4245000" cy="13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4154"/>
                </a:solidFill>
                <a:latin typeface="Tahoma"/>
                <a:ea typeface="Tahoma"/>
                <a:cs typeface="Tahoma"/>
                <a:sym typeface="Tahoma"/>
              </a:rPr>
              <a:t>Continuar el desarrollo de las plataformas web y móvil.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690880" rtl="0" algn="l">
              <a:lnSpc>
                <a:spcPct val="1763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4154"/>
                </a:solidFill>
                <a:latin typeface="Tahoma"/>
                <a:ea typeface="Tahoma"/>
                <a:cs typeface="Tahoma"/>
                <a:sym typeface="Tahoma"/>
              </a:rPr>
              <a:t>Completar y verificar la integración con la API REST. Desarrollar el módulo Carrito (Semana 14).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4154"/>
                </a:solidFill>
                <a:latin typeface="Tahoma"/>
                <a:ea typeface="Tahoma"/>
                <a:cs typeface="Tahoma"/>
                <a:sym typeface="Tahoma"/>
              </a:rPr>
              <a:t>Implementar el Checkout en entorno de prueba.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4545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4154"/>
                </a:solidFill>
                <a:latin typeface="Tahoma"/>
                <a:ea typeface="Tahoma"/>
                <a:cs typeface="Tahoma"/>
                <a:sym typeface="Tahoma"/>
              </a:rPr>
              <a:t>Completar el portal de administración y el CRUD de inventario.</a:t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4154"/>
                </a:solidFill>
                <a:latin typeface="Tahoma"/>
                <a:ea typeface="Tahoma"/>
                <a:cs typeface="Tahoma"/>
                <a:sym typeface="Tahoma"/>
              </a:rPr>
              <a:t>Pruebas QA y despliegue final en Render.</a:t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966125" y="1225350"/>
            <a:ext cx="5181600" cy="4886400"/>
          </a:xfrm>
          <a:prstGeom prst="roundRect">
            <a:avLst>
              <a:gd fmla="val 233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6"/>
          <p:cNvSpPr/>
          <p:nvPr/>
        </p:nvSpPr>
        <p:spPr>
          <a:xfrm>
            <a:off x="6248475" y="1167975"/>
            <a:ext cx="5181600" cy="5156700"/>
          </a:xfrm>
          <a:prstGeom prst="roundRect">
            <a:avLst>
              <a:gd fmla="val 233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6"/>
          <p:cNvSpPr/>
          <p:nvPr/>
        </p:nvSpPr>
        <p:spPr>
          <a:xfrm>
            <a:off x="1038225" y="1714500"/>
            <a:ext cx="46293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6524625" y="1714500"/>
            <a:ext cx="46293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6"/>
          <p:cNvSpPr/>
          <p:nvPr/>
        </p:nvSpPr>
        <p:spPr>
          <a:xfrm>
            <a:off x="1038225" y="2057400"/>
            <a:ext cx="46293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6524625" y="2057400"/>
            <a:ext cx="46293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23" name="Google Shape;42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225" y="172402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4" name="Google Shape;42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4625" y="172402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5" name="Google Shape;42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38225" y="228600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6" name="Google Shape;42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38225" y="260032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7" name="Google Shape;42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38225" y="291465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8" name="Google Shape;42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38225" y="322897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9" name="Google Shape;42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38225" y="354330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0" name="Google Shape;43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24625" y="228600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1" name="Google Shape;431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24625" y="258127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2" name="Google Shape;432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24625" y="287655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3" name="Google Shape;433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24625" y="317182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4" name="Google Shape;434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24625" y="346710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5" name="Google Shape;435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24625" y="3762375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16"/>
          <p:cNvSpPr txBox="1"/>
          <p:nvPr/>
        </p:nvSpPr>
        <p:spPr>
          <a:xfrm>
            <a:off x="762000" y="752475"/>
            <a:ext cx="1143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C1917"/>
                </a:solidFill>
                <a:latin typeface="Inter"/>
                <a:ea typeface="Inter"/>
                <a:cs typeface="Inter"/>
                <a:sym typeface="Inter"/>
              </a:rPr>
              <a:t>Estado Actual — Semana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6"/>
          <p:cNvSpPr txBox="1"/>
          <p:nvPr/>
        </p:nvSpPr>
        <p:spPr>
          <a:xfrm>
            <a:off x="1343025" y="1714500"/>
            <a:ext cx="315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COMPLETADO / DEFINIDO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6"/>
          <p:cNvSpPr txBox="1"/>
          <p:nvPr/>
        </p:nvSpPr>
        <p:spPr>
          <a:xfrm>
            <a:off x="1038225" y="2266950"/>
            <a:ext cx="57864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11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odelo de datos y modelo entidad-relación definidos.</a:t>
            </a:r>
            <a:endParaRPr b="0" i="0" sz="1125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t/>
            </a:r>
            <a:endParaRPr b="0" i="0" sz="1125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9" name="Google Shape;439;p16"/>
          <p:cNvSpPr txBox="1"/>
          <p:nvPr/>
        </p:nvSpPr>
        <p:spPr>
          <a:xfrm>
            <a:off x="1038225" y="2581275"/>
            <a:ext cx="57864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Casos de uso y arquitectura del sistema documentados.</a:t>
            </a:r>
            <a:endParaRPr b="0" i="0" sz="1125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t/>
            </a:r>
            <a:endParaRPr b="0" i="0" sz="1125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0" name="Google Shape;440;p16"/>
          <p:cNvSpPr txBox="1"/>
          <p:nvPr/>
        </p:nvSpPr>
        <p:spPr>
          <a:xfrm>
            <a:off x="1038225" y="2895600"/>
            <a:ext cx="57864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lang="en-US" sz="11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ackend Django y API REST desarrollados. Casos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125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t/>
            </a:r>
            <a:endParaRPr b="0" i="0" sz="1125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1" name="Google Shape;441;p16"/>
          <p:cNvSpPr txBox="1"/>
          <p:nvPr/>
        </p:nvSpPr>
        <p:spPr>
          <a:xfrm>
            <a:off x="1038225" y="3209925"/>
            <a:ext cx="57864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Casos de prueba documentados.</a:t>
            </a:r>
            <a:endParaRPr b="0" i="0" sz="1125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t/>
            </a:r>
            <a:endParaRPr b="0" i="0" sz="1125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2" name="Google Shape;442;p16"/>
          <p:cNvSpPr txBox="1"/>
          <p:nvPr/>
        </p:nvSpPr>
        <p:spPr>
          <a:xfrm>
            <a:off x="1038225" y="3524250"/>
            <a:ext cx="5786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Avances en el web y móvil.</a:t>
            </a:r>
            <a:endParaRPr b="0" i="0" sz="1125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3" name="Google Shape;443;p16"/>
          <p:cNvSpPr txBox="1"/>
          <p:nvPr/>
        </p:nvSpPr>
        <p:spPr>
          <a:xfrm>
            <a:off x="6829425" y="1714500"/>
            <a:ext cx="225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PRÓXIMOS PASOS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6"/>
          <p:cNvSpPr txBox="1"/>
          <p:nvPr/>
        </p:nvSpPr>
        <p:spPr>
          <a:xfrm>
            <a:off x="6524625" y="2266950"/>
            <a:ext cx="56673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Continuar el desarrollo de las plataformas web y móvil.</a:t>
            </a:r>
            <a:endParaRPr b="0" i="0" sz="1125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t/>
            </a:r>
            <a:endParaRPr b="0" i="0" sz="1125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5" name="Google Shape;445;p16"/>
          <p:cNvSpPr txBox="1"/>
          <p:nvPr/>
        </p:nvSpPr>
        <p:spPr>
          <a:xfrm>
            <a:off x="6524625" y="2562225"/>
            <a:ext cx="56673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erificar la integración con la API REST.</a:t>
            </a:r>
            <a:endParaRPr b="0" i="0" sz="1125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t/>
            </a:r>
            <a:endParaRPr b="0" i="0" sz="1125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6" name="Google Shape;446;p16"/>
          <p:cNvSpPr txBox="1"/>
          <p:nvPr/>
        </p:nvSpPr>
        <p:spPr>
          <a:xfrm>
            <a:off x="6524625" y="2857500"/>
            <a:ext cx="56673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Desarrollar el módulo Carrito (Semana 14).</a:t>
            </a:r>
            <a:endParaRPr b="0" i="0" sz="1125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t/>
            </a:r>
            <a:endParaRPr b="0" i="0" sz="1125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7" name="Google Shape;447;p16"/>
          <p:cNvSpPr txBox="1"/>
          <p:nvPr/>
        </p:nvSpPr>
        <p:spPr>
          <a:xfrm>
            <a:off x="6524625" y="3152775"/>
            <a:ext cx="56673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Implementar el Checkout en entorno de prueba.</a:t>
            </a:r>
            <a:endParaRPr b="0" i="0" sz="1125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t/>
            </a:r>
            <a:endParaRPr b="0" i="0" sz="1125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8" name="Google Shape;448;p16"/>
          <p:cNvSpPr txBox="1"/>
          <p:nvPr/>
        </p:nvSpPr>
        <p:spPr>
          <a:xfrm>
            <a:off x="6524625" y="3448050"/>
            <a:ext cx="56673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Completar el portal de administración y el CRUD de inventario.</a:t>
            </a:r>
            <a:endParaRPr b="0" i="0" sz="1125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t/>
            </a:r>
            <a:endParaRPr b="0" i="0" sz="1125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9" name="Google Shape;449;p16"/>
          <p:cNvSpPr txBox="1"/>
          <p:nvPr/>
        </p:nvSpPr>
        <p:spPr>
          <a:xfrm>
            <a:off x="6524625" y="3743325"/>
            <a:ext cx="5667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Pruebas QA y despliegue final en Render.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7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C181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$PPTXTitle" id="455" name="Google Shape;455;p17"/>
          <p:cNvSpPr txBox="1"/>
          <p:nvPr>
            <p:ph type="title"/>
          </p:nvPr>
        </p:nvSpPr>
        <p:spPr>
          <a:xfrm>
            <a:off x="4450461" y="1780539"/>
            <a:ext cx="3291077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28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FerreMundo</a:t>
            </a:r>
            <a:endParaRPr/>
          </a:p>
        </p:txBody>
      </p:sp>
      <p:sp>
        <p:nvSpPr>
          <p:cNvPr id="456" name="Google Shape;456;p17"/>
          <p:cNvSpPr txBox="1"/>
          <p:nvPr/>
        </p:nvSpPr>
        <p:spPr>
          <a:xfrm>
            <a:off x="2382266" y="2553969"/>
            <a:ext cx="7442200" cy="711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3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5D2D1"/>
                </a:solidFill>
                <a:latin typeface="Tahoma"/>
                <a:ea typeface="Tahoma"/>
                <a:cs typeface="Tahoma"/>
                <a:sym typeface="Tahoma"/>
              </a:rPr>
              <a:t>Sistema integrado para la gestión y comercialización de productos de la Ferretería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905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5D2D1"/>
                </a:solidFill>
                <a:latin typeface="Tahoma"/>
                <a:ea typeface="Tahoma"/>
                <a:cs typeface="Tahoma"/>
                <a:sym typeface="Tahoma"/>
              </a:rPr>
              <a:t>ConstruMax.</a:t>
            </a:r>
            <a:endParaRPr sz="15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7" name="Google Shape;457;p17"/>
          <p:cNvSpPr txBox="1"/>
          <p:nvPr/>
        </p:nvSpPr>
        <p:spPr>
          <a:xfrm>
            <a:off x="4657471" y="3493868"/>
            <a:ext cx="1189990" cy="456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3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9F9F8"/>
                </a:solidFill>
                <a:latin typeface="Arial"/>
                <a:ea typeface="Arial"/>
                <a:cs typeface="Arial"/>
                <a:sym typeface="Arial"/>
              </a:rPr>
              <a:t>Jonatan Gordillo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A8A19E"/>
                </a:solidFill>
                <a:latin typeface="Tahoma"/>
                <a:ea typeface="Tahoma"/>
                <a:cs typeface="Tahoma"/>
                <a:sym typeface="Tahoma"/>
              </a:rPr>
              <a:t>Desarrollo &amp; QA</a:t>
            </a:r>
            <a:endParaRPr sz="10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8" name="Google Shape;458;p17"/>
          <p:cNvSpPr/>
          <p:nvPr/>
        </p:nvSpPr>
        <p:spPr>
          <a:xfrm>
            <a:off x="6124575" y="3562350"/>
            <a:ext cx="9525" cy="381000"/>
          </a:xfrm>
          <a:custGeom>
            <a:rect b="b" l="l" r="r" t="t"/>
            <a:pathLst>
              <a:path extrusionOk="0" h="381000" w="9525">
                <a:moveTo>
                  <a:pt x="9525" y="0"/>
                </a:moveTo>
                <a:lnTo>
                  <a:pt x="0" y="0"/>
                </a:lnTo>
                <a:lnTo>
                  <a:pt x="0" y="381000"/>
                </a:lnTo>
                <a:lnTo>
                  <a:pt x="9525" y="381000"/>
                </a:lnTo>
                <a:lnTo>
                  <a:pt x="9525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7"/>
          <p:cNvSpPr txBox="1"/>
          <p:nvPr/>
        </p:nvSpPr>
        <p:spPr>
          <a:xfrm>
            <a:off x="6428104" y="3493868"/>
            <a:ext cx="1104900" cy="456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3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9F9F8"/>
                </a:solidFill>
                <a:latin typeface="Arial"/>
                <a:ea typeface="Arial"/>
                <a:cs typeface="Arial"/>
                <a:sym typeface="Arial"/>
              </a:rPr>
              <a:t>Alan Cruz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A8A19E"/>
                </a:solidFill>
                <a:latin typeface="Tahoma"/>
                <a:ea typeface="Tahoma"/>
                <a:cs typeface="Tahoma"/>
                <a:sym typeface="Tahoma"/>
              </a:rPr>
              <a:t>Jefe de Proyecto</a:t>
            </a:r>
            <a:endParaRPr sz="10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0" name="Google Shape;460;p17"/>
          <p:cNvSpPr txBox="1"/>
          <p:nvPr/>
        </p:nvSpPr>
        <p:spPr>
          <a:xfrm>
            <a:off x="4091051" y="4333749"/>
            <a:ext cx="4012565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78706C"/>
                </a:solidFill>
                <a:latin typeface="Tahoma"/>
                <a:ea typeface="Tahoma"/>
                <a:cs typeface="Tahoma"/>
                <a:sym typeface="Tahoma"/>
              </a:rPr>
              <a:t>CAPSTONE_011V — INGENIERÍA EN INFORMÁTICA • DUOC UC</a:t>
            </a:r>
            <a:endParaRPr sz="1050">
              <a:latin typeface="Tahoma"/>
              <a:ea typeface="Tahoma"/>
              <a:cs typeface="Tahoma"/>
              <a:sym typeface="Tahoma"/>
            </a:endParaRPr>
          </a:p>
          <a:p>
            <a:pPr indent="0" lvl="0" marL="5080" rtl="0" algn="ctr">
              <a:lnSpc>
                <a:spcPct val="100000"/>
              </a:lnSpc>
              <a:spcBef>
                <a:spcPts val="919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59E0A"/>
                </a:solidFill>
                <a:latin typeface="Arial"/>
                <a:ea typeface="Arial"/>
                <a:cs typeface="Arial"/>
                <a:sym typeface="Arial"/>
              </a:rPr>
              <a:t>¡Gracias!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2026-10-23T19:39:56Z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2026-10-23T00:00:00Z</vt:filetime>
  </property>
  <property fmtid="{D5CDD505-2E9C-101B-9397-08002B2CF9AE}" pid="4" name="LastSaved">
    <vt:filetime>2026-10-23T00:00:00Z</vt:filetime>
  </property>
</Properties>
</file>