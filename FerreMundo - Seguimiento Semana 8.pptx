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Inter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jOuyTrMvbbt4ZsIODOJ8p0nDOb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38EA336-8A62-406D-A076-B766DB162C0C}">
  <a:tblStyle styleId="{738EA336-8A62-406D-A076-B766DB162C0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Inter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Int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9" name="Google Shape;30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9" name="Google Shape;34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6.png"/><Relationship Id="rId6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29.png"/><Relationship Id="rId10" Type="http://schemas.openxmlformats.org/officeDocument/2006/relationships/image" Target="../media/image10.png"/><Relationship Id="rId13" Type="http://schemas.openxmlformats.org/officeDocument/2006/relationships/image" Target="../media/image18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9" Type="http://schemas.openxmlformats.org/officeDocument/2006/relationships/image" Target="../media/image15.png"/><Relationship Id="rId15" Type="http://schemas.openxmlformats.org/officeDocument/2006/relationships/image" Target="../media/image17.png"/><Relationship Id="rId14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13.png"/><Relationship Id="rId7" Type="http://schemas.openxmlformats.org/officeDocument/2006/relationships/image" Target="../media/image11.png"/><Relationship Id="rId8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9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762000" y="3868935"/>
            <a:ext cx="10668000" cy="9525"/>
          </a:xfrm>
          <a:prstGeom prst="rect">
            <a:avLst/>
          </a:prstGeom>
          <a:solidFill>
            <a:srgbClr val="FFFFF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62000" y="2050702"/>
            <a:ext cx="114300" cy="114300"/>
          </a:xfrm>
          <a:prstGeom prst="roundRect">
            <a:avLst>
              <a:gd fmla="val 16666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62000" y="2388840"/>
            <a:ext cx="11430000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AFAF9"/>
                </a:solidFill>
                <a:latin typeface="Inter"/>
                <a:ea typeface="Inter"/>
                <a:cs typeface="Inter"/>
                <a:sym typeface="Inter"/>
              </a:rPr>
              <a:t>FerreMundo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62000" y="3211710"/>
            <a:ext cx="11430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6D3D1"/>
                </a:solidFill>
                <a:latin typeface="Inter"/>
                <a:ea typeface="Inter"/>
                <a:cs typeface="Inter"/>
                <a:sym typeface="Inter"/>
              </a:rPr>
              <a:t>Seguimiento Semana 8 — Proyecto Ferretería ConstruMax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90600" y="2017365"/>
            <a:ext cx="59769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CAPSTONE_011V — INGENIERÍA EN INFORMÁTICA • DUOC 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762000" y="4183260"/>
            <a:ext cx="3202781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8A29E"/>
                </a:solidFill>
                <a:latin typeface="Inter"/>
                <a:ea typeface="Inter"/>
                <a:cs typeface="Inter"/>
                <a:sym typeface="Inter"/>
              </a:rPr>
              <a:t>INTEGRANTES DEL EQUIPO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762000" y="4402335"/>
            <a:ext cx="3202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AFAF9"/>
                </a:solidFill>
                <a:latin typeface="Inter"/>
                <a:ea typeface="Inter"/>
                <a:cs typeface="Inter"/>
                <a:sym typeface="Inter"/>
              </a:rPr>
              <a:t>Alan Cruz </a:t>
            </a:r>
            <a:r>
              <a:rPr b="0" i="0" lang="en-US" sz="1125" u="none" cap="none" strike="noStrike">
                <a:solidFill>
                  <a:srgbClr val="A8A29E"/>
                </a:solidFill>
                <a:latin typeface="Inter"/>
                <a:ea typeface="Inter"/>
                <a:cs typeface="Inter"/>
                <a:sym typeface="Inter"/>
              </a:rPr>
              <a:t>(Jefe de Proyecto)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1" i="0" sz="1350" u="none" cap="none" strike="noStrike">
              <a:solidFill>
                <a:srgbClr val="FAFAF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62000" y="4640460"/>
            <a:ext cx="3202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AFAF9"/>
                </a:solidFill>
                <a:latin typeface="Inter"/>
                <a:ea typeface="Inter"/>
                <a:cs typeface="Inter"/>
                <a:sym typeface="Inter"/>
              </a:rPr>
              <a:t>Jonatan Gordillo </a:t>
            </a:r>
            <a:r>
              <a:rPr b="0" i="0" lang="en-US" sz="1125" u="none" cap="none" strike="noStrike">
                <a:solidFill>
                  <a:srgbClr val="A8A29E"/>
                </a:solidFill>
                <a:latin typeface="Inter"/>
                <a:ea typeface="Inter"/>
                <a:cs typeface="Inter"/>
                <a:sym typeface="Inter"/>
              </a:rPr>
              <a:t>(Desarrollo  &amp; QA)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8181975" y="4183260"/>
            <a:ext cx="40100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8A29E"/>
                </a:solidFill>
                <a:latin typeface="Inter"/>
                <a:ea typeface="Inter"/>
                <a:cs typeface="Inter"/>
                <a:sym typeface="Inter"/>
              </a:rPr>
              <a:t>PROFESOR GUÍA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8181975" y="4402335"/>
            <a:ext cx="40100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AFAF9"/>
                </a:solidFill>
                <a:latin typeface="Inter"/>
                <a:ea typeface="Inter"/>
                <a:cs typeface="Inter"/>
                <a:sym typeface="Inter"/>
              </a:rPr>
              <a:t>Fernando Gonzalo Herrera Francesconi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685800" y="1333500"/>
            <a:ext cx="10820400" cy="1043880"/>
          </a:xfrm>
          <a:prstGeom prst="roundRect">
            <a:avLst>
              <a:gd fmla="val 7299" name="adj"/>
            </a:avLst>
          </a:prstGeom>
          <a:solidFill>
            <a:srgbClr val="FFFB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685800" y="2367855"/>
            <a:ext cx="10820400" cy="9525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685800" y="1333500"/>
            <a:ext cx="10820400" cy="9525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685800" y="1333500"/>
            <a:ext cx="47625" cy="1043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11496675" y="1333500"/>
            <a:ext cx="9525" cy="1043880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685800" y="5457825"/>
            <a:ext cx="5295900" cy="904875"/>
          </a:xfrm>
          <a:prstGeom prst="roundRect">
            <a:avLst>
              <a:gd fmla="val 842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6210300" y="5457825"/>
            <a:ext cx="5295900" cy="904875"/>
          </a:xfrm>
          <a:prstGeom prst="roundRect">
            <a:avLst>
              <a:gd fmla="val 842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9144000" y="1693515"/>
            <a:ext cx="2124075" cy="333375"/>
          </a:xfrm>
          <a:prstGeom prst="roundRect">
            <a:avLst>
              <a:gd fmla="val 50000" name="adj"/>
            </a:avLst>
          </a:prstGeom>
          <a:solidFill>
            <a:srgbClr val="FEF3C7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685800" y="3034605"/>
            <a:ext cx="1514772" cy="847725"/>
          </a:xfrm>
          <a:prstGeom prst="roundRect">
            <a:avLst>
              <a:gd fmla="val 8988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2486322" y="3082230"/>
            <a:ext cx="1817786" cy="752475"/>
          </a:xfrm>
          <a:prstGeom prst="roundRect">
            <a:avLst>
              <a:gd fmla="val 10126" name="adj"/>
            </a:avLst>
          </a:prstGeom>
          <a:solidFill>
            <a:srgbClr val="FEF3C7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4589859" y="3115567"/>
            <a:ext cx="1514772" cy="685800"/>
          </a:xfrm>
          <a:prstGeom prst="roundRect">
            <a:avLst>
              <a:gd fmla="val 11111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6390382" y="3115567"/>
            <a:ext cx="1514772" cy="685800"/>
          </a:xfrm>
          <a:prstGeom prst="roundRect">
            <a:avLst>
              <a:gd fmla="val 11111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8190904" y="3115567"/>
            <a:ext cx="1514772" cy="685800"/>
          </a:xfrm>
          <a:prstGeom prst="roundRect">
            <a:avLst>
              <a:gd fmla="val 11111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9991427" y="3115567"/>
            <a:ext cx="1514772" cy="685800"/>
          </a:xfrm>
          <a:prstGeom prst="roundRect">
            <a:avLst>
              <a:gd fmla="val 11111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2" name="Google Shape;11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5822" y="338226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99359" y="338226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9882" y="338226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0404" y="338226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00927" y="338226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3925" y="5657850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48425" y="5657850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"/>
          <p:cNvSpPr txBox="1"/>
          <p:nvPr/>
        </p:nvSpPr>
        <p:spPr>
          <a:xfrm>
            <a:off x="685800" y="495300"/>
            <a:ext cx="11506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MARCO DE TRABAJO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685800" y="714375"/>
            <a:ext cx="11506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Metodología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685800" y="2682180"/>
            <a:ext cx="115062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SECUENCIA DE LAS 6 ETAPAS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962025" y="1533525"/>
            <a:ext cx="994171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MODELO SELECCIONADO: METODOLOGÍA WATERFALL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962025" y="1724025"/>
            <a:ext cx="8048625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“Waterfall es una metodología de desarrollo secuencial, donde cada etapa se planifica y completa antes de avanzar a la siguiente.”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9220200" y="1769715"/>
            <a:ext cx="18764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Duración total: 18 semanas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923925" y="5638800"/>
            <a:ext cx="602456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Control Secuencial de Calidad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923925" y="5857875"/>
            <a:ext cx="49149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Validación documental obligatoria y revisión formal previa al paso a la siguiente fase.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6448425" y="5638800"/>
            <a:ext cx="57435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Trazabilidad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6448425" y="5857875"/>
            <a:ext cx="49149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Alineación directa entre Especificación de Requisitos (ERS), Modelos UML/BD y Casos de Prueba.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615515" y="3206055"/>
            <a:ext cx="16553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1. Levantamiento y Diseño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615515" y="3568005"/>
            <a:ext cx="165534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Completado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2401974" y="3272730"/>
            <a:ext cx="198648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2. Desarrollo 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2401974" y="3501330"/>
            <a:ext cx="198648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Semana 8 (Actual)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4519575" y="3287017"/>
            <a:ext cx="165534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3. Integración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4519575" y="3487042"/>
            <a:ext cx="165534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Planificado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6320097" y="3287017"/>
            <a:ext cx="165534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4.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6320097" y="3487042"/>
            <a:ext cx="165534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Planificado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8120620" y="3287017"/>
            <a:ext cx="165534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5. Despliegue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"/>
          <p:cNvSpPr txBox="1"/>
          <p:nvPr/>
        </p:nvSpPr>
        <p:spPr>
          <a:xfrm>
            <a:off x="8120620" y="3487042"/>
            <a:ext cx="165534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Planificado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"/>
          <p:cNvSpPr txBox="1"/>
          <p:nvPr/>
        </p:nvSpPr>
        <p:spPr>
          <a:xfrm>
            <a:off x="9921143" y="3287017"/>
            <a:ext cx="165534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6. Cierre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"/>
          <p:cNvSpPr txBox="1"/>
          <p:nvPr/>
        </p:nvSpPr>
        <p:spPr>
          <a:xfrm>
            <a:off x="9921143" y="3487042"/>
            <a:ext cx="165534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Planificado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"/>
          <p:cNvSpPr/>
          <p:nvPr/>
        </p:nvSpPr>
        <p:spPr>
          <a:xfrm>
            <a:off x="2457450" y="2643187"/>
            <a:ext cx="9525" cy="228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4517826" y="2643187"/>
            <a:ext cx="9525" cy="228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6578203" y="2643187"/>
            <a:ext cx="9525" cy="228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8638579" y="2643187"/>
            <a:ext cx="9525" cy="228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10698956" y="2643187"/>
            <a:ext cx="9525" cy="228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2457450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2972544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3487638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4002732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4517826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5032920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5548014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6063108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6578203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7093297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7608391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8123485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8638579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9153673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9668767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10183862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10698956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11214050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8" name="Google Shape;168;p3"/>
          <p:cNvGraphicFramePr/>
          <p:nvPr/>
        </p:nvGraphicFramePr>
        <p:xfrm>
          <a:off x="457200" y="26431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{738EA336-8A62-406D-A076-B766DB162C0C}</a:tableStyleId>
              </a:tblPr>
              <a:tblGrid>
                <a:gridCol w="2000250"/>
                <a:gridCol w="2060375"/>
                <a:gridCol w="2060375"/>
                <a:gridCol w="2060375"/>
                <a:gridCol w="2060375"/>
                <a:gridCol w="1031075"/>
              </a:tblGrid>
              <a:tr h="274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i="0" lang="en-US" sz="7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Fases Oficiales (18 Semanas)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i="0" lang="en-US" sz="7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SEPTIEMBRE (S1–S4)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i="0" lang="en-US" sz="7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OCTUBRE (S5–S8)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i="0" lang="en-US" sz="7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NOVIEMBRE (S9–S12)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i="0" lang="en-US" sz="7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DICIEMBRE (S13–S16)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i="0" lang="en-US" sz="7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ENERO (S17–S18)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4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75"/>
                        <a:buFont typeface="Arial"/>
                        <a:buNone/>
                      </a:pPr>
                      <a:r>
                        <a:rPr b="1" i="0" lang="en-US" sz="67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Fase / Etapa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75"/>
                        <a:buFont typeface="Arial"/>
                        <a:buNone/>
                      </a:pPr>
                      <a:r>
                        <a:rPr b="1" i="0" lang="en-US" sz="67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S1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75"/>
                        <a:buFont typeface="Arial"/>
                        <a:buNone/>
                      </a:pPr>
                      <a:r>
                        <a:rPr b="1" i="0" lang="en-US" sz="67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S2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75"/>
                        <a:buFont typeface="Arial"/>
                        <a:buNone/>
                      </a:pPr>
                      <a:r>
                        <a:rPr b="1" i="0" lang="en-US" sz="67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S3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75"/>
                        <a:buFont typeface="Arial"/>
                        <a:buNone/>
                      </a:pPr>
                      <a:r>
                        <a:rPr b="1" i="0" lang="en-US" sz="67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S4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75"/>
                        <a:buFont typeface="Arial"/>
                        <a:buNone/>
                      </a:pPr>
                      <a:r>
                        <a:rPr b="1" i="0" lang="en-US" sz="67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S5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4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9" name="Google Shape;169;p3"/>
          <p:cNvSpPr txBox="1"/>
          <p:nvPr/>
        </p:nvSpPr>
        <p:spPr>
          <a:xfrm>
            <a:off x="457200" y="6381750"/>
            <a:ext cx="402431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COMPLETADO:</a:t>
            </a: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S1 a S7 (F1 Levantamiento + Avance F2 Backend)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"/>
          <p:cNvSpPr txBox="1"/>
          <p:nvPr/>
        </p:nvSpPr>
        <p:spPr>
          <a:xfrm>
            <a:off x="4319587" y="6381750"/>
            <a:ext cx="354806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SEMANA ACTUAL:</a:t>
            </a: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S8 (Autenticación y Cierre de Fase 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"/>
          <p:cNvSpPr txBox="1"/>
          <p:nvPr/>
        </p:nvSpPr>
        <p:spPr>
          <a:xfrm>
            <a:off x="7800975" y="6381750"/>
            <a:ext cx="43910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PLANIFICADO:</a:t>
            </a: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S9 a S18 (F3 Frontend Web/Móvil, F4 Checkout, F5 QA y Cierre)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"/>
          <p:cNvSpPr txBox="1"/>
          <p:nvPr/>
        </p:nvSpPr>
        <p:spPr>
          <a:xfrm>
            <a:off x="457200" y="342900"/>
            <a:ext cx="735806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PLANIFICACIÓN GENERAL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"/>
          <p:cNvSpPr txBox="1"/>
          <p:nvPr/>
        </p:nvSpPr>
        <p:spPr>
          <a:xfrm>
            <a:off x="457200" y="514350"/>
            <a:ext cx="772596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Roadmap — Planificación y Avance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"/>
          <p:cNvSpPr txBox="1"/>
          <p:nvPr/>
        </p:nvSpPr>
        <p:spPr>
          <a:xfrm>
            <a:off x="7236618" y="647700"/>
            <a:ext cx="1750218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✓ Completado (S1–S7)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"/>
          <p:cNvSpPr txBox="1"/>
          <p:nvPr/>
        </p:nvSpPr>
        <p:spPr>
          <a:xfrm>
            <a:off x="8789193" y="647700"/>
            <a:ext cx="1750218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★ Semana Actual (S8)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"/>
          <p:cNvSpPr txBox="1"/>
          <p:nvPr/>
        </p:nvSpPr>
        <p:spPr>
          <a:xfrm>
            <a:off x="10341768" y="647700"/>
            <a:ext cx="1741289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○ Planificado (S9–S18)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50350"/>
            <a:ext cx="11774125" cy="324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525" y="1236600"/>
            <a:ext cx="11632675" cy="347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" title="ChatGPT Image 2 oct 2026, 07_37_11 p.m..png"/>
          <p:cNvPicPr preferRelativeResize="0"/>
          <p:nvPr/>
        </p:nvPicPr>
        <p:blipFill rotWithShape="1">
          <a:blip r:embed="rId4">
            <a:alphaModFix/>
          </a:blip>
          <a:srcRect b="5994" l="0" r="0" t="5994"/>
          <a:stretch/>
        </p:blipFill>
        <p:spPr>
          <a:xfrm>
            <a:off x="208937" y="1043700"/>
            <a:ext cx="11774126" cy="361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"/>
          <p:cNvSpPr/>
          <p:nvPr/>
        </p:nvSpPr>
        <p:spPr>
          <a:xfrm>
            <a:off x="571500" y="1047750"/>
            <a:ext cx="11049000" cy="4562475"/>
          </a:xfrm>
          <a:prstGeom prst="roundRect">
            <a:avLst>
              <a:gd fmla="val 2505" name="adj"/>
            </a:avLst>
          </a:prstGeom>
          <a:solidFill>
            <a:srgbClr val="FFFBEB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571500" y="5743575"/>
            <a:ext cx="11049000" cy="695325"/>
          </a:xfrm>
          <a:prstGeom prst="roundRect">
            <a:avLst>
              <a:gd fmla="val 1095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6491733" y="5867400"/>
            <a:ext cx="4928741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6491733" y="5867400"/>
            <a:ext cx="9525" cy="4476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8" name="Google Shape;18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0262" y="2847975"/>
            <a:ext cx="3714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4"/>
          <p:cNvSpPr txBox="1"/>
          <p:nvPr/>
        </p:nvSpPr>
        <p:spPr>
          <a:xfrm>
            <a:off x="571500" y="419100"/>
            <a:ext cx="11620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ARQUITECTURA DE PERSISTENCIA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571500" y="590550"/>
            <a:ext cx="11620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Modelo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"/>
          <p:cNvSpPr txBox="1"/>
          <p:nvPr/>
        </p:nvSpPr>
        <p:spPr>
          <a:xfrm>
            <a:off x="2547937" y="3362325"/>
            <a:ext cx="7096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[ INSERTAR AQUÍ IMAGEN DEL MODELO ENTIDAD-RELACIÓN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"/>
          <p:cNvSpPr txBox="1"/>
          <p:nvPr/>
        </p:nvSpPr>
        <p:spPr>
          <a:xfrm>
            <a:off x="3774281" y="3629025"/>
            <a:ext cx="46434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Modelo Entidad-Relación Normalizado — FerreMundo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771525" y="5867400"/>
            <a:ext cx="715026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Entidades de Persistencia Conceptual: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"/>
          <p:cNvSpPr txBox="1"/>
          <p:nvPr/>
        </p:nvSpPr>
        <p:spPr>
          <a:xfrm>
            <a:off x="771525" y="6029325"/>
            <a:ext cx="581545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CLIENTE | CARRITO | ITEM_CARRITO | PRODUCTO | CATEGORIA | BOLETA | DETALLE_BOLETA | CODIGO_RECUPERACION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"/>
          <p:cNvSpPr txBox="1"/>
          <p:nvPr/>
        </p:nvSpPr>
        <p:spPr>
          <a:xfrm>
            <a:off x="6653650" y="5867400"/>
            <a:ext cx="553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"/>
          <p:cNvSpPr txBox="1"/>
          <p:nvPr/>
        </p:nvSpPr>
        <p:spPr>
          <a:xfrm>
            <a:off x="6653658" y="6029325"/>
            <a:ext cx="4862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850" y="1029275"/>
            <a:ext cx="11364451" cy="4599424"/>
          </a:xfrm>
          <a:prstGeom prst="rect">
            <a:avLst/>
          </a:prstGeom>
          <a:solidFill>
            <a:srgbClr val="FFFBEB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"/>
          <p:cNvSpPr/>
          <p:nvPr/>
        </p:nvSpPr>
        <p:spPr>
          <a:xfrm>
            <a:off x="571500" y="1047750"/>
            <a:ext cx="11049000" cy="4600575"/>
          </a:xfrm>
          <a:prstGeom prst="roundRect">
            <a:avLst>
              <a:gd fmla="val 2484" name="adj"/>
            </a:avLst>
          </a:prstGeom>
          <a:solidFill>
            <a:srgbClr val="FFFBEB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571500" y="5781675"/>
            <a:ext cx="5448300" cy="657225"/>
          </a:xfrm>
          <a:prstGeom prst="roundRect">
            <a:avLst>
              <a:gd fmla="val 1159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6172200" y="5781675"/>
            <a:ext cx="5448300" cy="657225"/>
          </a:xfrm>
          <a:prstGeom prst="roundRect">
            <a:avLst>
              <a:gd fmla="val 11594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5" name="Google Shape;20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7875" y="2867025"/>
            <a:ext cx="4762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425" y="5905500"/>
            <a:ext cx="1047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5905500"/>
            <a:ext cx="1428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5"/>
          <p:cNvSpPr txBox="1"/>
          <p:nvPr/>
        </p:nvSpPr>
        <p:spPr>
          <a:xfrm>
            <a:off x="571500" y="419100"/>
            <a:ext cx="11620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ESPECIFICACIÓN FUNCIONAL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571500" y="590550"/>
            <a:ext cx="11620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Casos de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2524125" y="3381375"/>
            <a:ext cx="7143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[ INSERTAR AQUÍ IMAGEN DEL DIAGRAMA DE CASOS DE USO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"/>
          <p:cNvSpPr txBox="1"/>
          <p:nvPr/>
        </p:nvSpPr>
        <p:spPr>
          <a:xfrm>
            <a:off x="3899296" y="3648075"/>
            <a:ext cx="439340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Diagrama General de Casos de Uso — FerreMundo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5"/>
          <p:cNvSpPr txBox="1"/>
          <p:nvPr/>
        </p:nvSpPr>
        <p:spPr>
          <a:xfrm>
            <a:off x="733425" y="5886450"/>
            <a:ext cx="640556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Actor CLIENTE: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5"/>
          <p:cNvSpPr txBox="1"/>
          <p:nvPr/>
        </p:nvSpPr>
        <p:spPr>
          <a:xfrm>
            <a:off x="733425" y="6048375"/>
            <a:ext cx="5219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Registrar cuenta, Iniciar sesión, Consultar productos, Gestionar carrito, Realizar compra, Consultar historial, Actualizar perfil, Recuperar contraseña.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6117400" y="5726700"/>
            <a:ext cx="6120300" cy="21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6091925" y="5831975"/>
            <a:ext cx="5755800" cy="65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047750"/>
            <a:ext cx="11049001" cy="4600576"/>
          </a:xfrm>
          <a:prstGeom prst="rect">
            <a:avLst/>
          </a:prstGeom>
          <a:solidFill>
            <a:srgbClr val="FFFBEB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"/>
          <p:cNvSpPr/>
          <p:nvPr/>
        </p:nvSpPr>
        <p:spPr>
          <a:xfrm>
            <a:off x="571500" y="5934075"/>
            <a:ext cx="5438775" cy="50482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6181725" y="5934075"/>
            <a:ext cx="5438775" cy="50482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571500" y="5934075"/>
            <a:ext cx="38100" cy="50482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6181725" y="5934075"/>
            <a:ext cx="38100" cy="5048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5" name="Google Shape;225;p6"/>
          <p:cNvGraphicFramePr/>
          <p:nvPr/>
        </p:nvGraphicFramePr>
        <p:xfrm>
          <a:off x="571500" y="104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{738EA336-8A62-406D-A076-B766DB162C0C}</a:tableStyleId>
              </a:tblPr>
              <a:tblGrid>
                <a:gridCol w="857250"/>
                <a:gridCol w="2571750"/>
                <a:gridCol w="7620000"/>
              </a:tblGrid>
              <a:tr h="49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5"/>
                        <a:buFont typeface="Arial"/>
                        <a:buNone/>
                      </a:pPr>
                      <a:r>
                        <a:rPr b="1" i="0" lang="en-US" sz="82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 Caso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5"/>
                        <a:buFont typeface="Arial"/>
                        <a:buNone/>
                      </a:pPr>
                      <a:r>
                        <a:rPr b="1" i="0" lang="en-US" sz="82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Nombre del Caso de Prueba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5"/>
                        <a:buFont typeface="Arial"/>
                        <a:buNone/>
                      </a:pPr>
                      <a:r>
                        <a:rPr b="1" i="0" lang="en-US" sz="82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Requisito Funcional Relacionado (Código y Nombre)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49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5"/>
                        <a:buFont typeface="Arial"/>
                        <a:buNone/>
                      </a:pPr>
                      <a:r>
                        <a:rPr b="1" i="0" lang="en-US" sz="825" u="none" cap="none" strike="noStrike">
                          <a:solidFill>
                            <a:srgbClr val="D9770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CP-01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5"/>
                        <a:buFont typeface="Arial"/>
                        <a:buNone/>
                      </a:pPr>
                      <a:r>
                        <a:rPr b="1" i="0" lang="en-US" sz="8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Registro de usuario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5"/>
                        <a:buFont typeface="Arial"/>
                        <a:buNone/>
                      </a:pPr>
                      <a:r>
                        <a:rPr b="0" i="0" lang="en-US" sz="8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RF-01 — Registro de Usuarios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9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5"/>
                        <a:buFont typeface="Arial"/>
                        <a:buNone/>
                      </a:pPr>
                      <a:r>
                        <a:rPr b="1" i="0" lang="en-US" sz="825" u="none" cap="none" strike="noStrike">
                          <a:solidFill>
                            <a:srgbClr val="D9770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CP-02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5"/>
                        <a:buFont typeface="Arial"/>
                        <a:buNone/>
                      </a:pPr>
                      <a:r>
                        <a:rPr b="1" i="0" lang="en-US" sz="8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Inicio de sesión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5"/>
                        <a:buFont typeface="Arial"/>
                        <a:buNone/>
                      </a:pPr>
                      <a:r>
                        <a:rPr b="0" i="0" lang="en-US" sz="8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RF-02 — Inicio de Sesión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5"/>
                        <a:buFont typeface="Arial"/>
                        <a:buNone/>
                      </a:pPr>
                      <a:r>
                        <a:rPr b="1" i="0" lang="en-US" sz="825" u="none" cap="none" strike="noStrike">
                          <a:solidFill>
                            <a:srgbClr val="D9770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CP-03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5"/>
                        <a:buFont typeface="Arial"/>
                        <a:buNone/>
                      </a:pPr>
                      <a:r>
                        <a:rPr b="1" i="0" lang="en-US" sz="8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Consulta y búsqueda de productos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5"/>
                        <a:buFont typeface="Arial"/>
                        <a:buNone/>
                      </a:pPr>
                      <a:r>
                        <a:rPr b="0" i="0" lang="en-US" sz="8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RF-04 — Visualización del Catálogo; RF-05 — Detalle de Producto; RF-06 — Búsqueda de Productos; RF-07 — Filtrado por Categorías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9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5"/>
                        <a:buFont typeface="Arial"/>
                        <a:buNone/>
                      </a:pPr>
                      <a:r>
                        <a:rPr b="1" i="0" lang="en-US" sz="825" u="none" cap="none" strike="noStrike">
                          <a:solidFill>
                            <a:srgbClr val="D9770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CP-04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5"/>
                        <a:buFont typeface="Arial"/>
                        <a:buNone/>
                      </a:pPr>
                      <a:r>
                        <a:rPr b="1" i="0" lang="en-US" sz="8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Gestión del carrito y cálculo del total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5"/>
                        <a:buFont typeface="Arial"/>
                        <a:buNone/>
                      </a:pPr>
                      <a:r>
                        <a:rPr b="0" i="0" lang="en-US" sz="8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RF-08 — Agregar al Carrito; RF-09 — Gestión del Carrito; RF-10 — Cálculo de Totales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5"/>
                        <a:buFont typeface="Arial"/>
                        <a:buNone/>
                      </a:pPr>
                      <a:r>
                        <a:rPr b="1" i="0" lang="en-US" sz="825" u="none" cap="none" strike="noStrike">
                          <a:solidFill>
                            <a:srgbClr val="D9770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CP-05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5"/>
                        <a:buFont typeface="Arial"/>
                        <a:buNone/>
                      </a:pPr>
                      <a:r>
                        <a:rPr b="1" i="0" lang="en-US" sz="8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Realización de compra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5"/>
                        <a:buFont typeface="Arial"/>
                        <a:buNone/>
                      </a:pPr>
                      <a:r>
                        <a:rPr b="0" i="0" lang="en-US" sz="8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RF-11 — Checkout (Entorno de Prueba)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9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5"/>
                        <a:buFont typeface="Arial"/>
                        <a:buNone/>
                      </a:pPr>
                      <a:r>
                        <a:rPr b="1" i="0" lang="en-US" sz="825" u="none" cap="none" strike="noStrike">
                          <a:solidFill>
                            <a:srgbClr val="D9770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CP-06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5"/>
                        <a:buFont typeface="Arial"/>
                        <a:buNone/>
                      </a:pPr>
                      <a:r>
                        <a:rPr b="1" i="0" lang="en-US" sz="8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Consulta historial de compras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5"/>
                        <a:buFont typeface="Arial"/>
                        <a:buNone/>
                      </a:pPr>
                      <a:r>
                        <a:rPr b="0" i="0" lang="en-US" sz="8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RF-12 — Historial de Compras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5"/>
                        <a:buFont typeface="Arial"/>
                        <a:buNone/>
                      </a:pPr>
                      <a:r>
                        <a:rPr b="1" i="0" lang="en-US" sz="825" u="none" cap="none" strike="noStrike">
                          <a:solidFill>
                            <a:srgbClr val="D9770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CP-07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5"/>
                        <a:buFont typeface="Arial"/>
                        <a:buNone/>
                      </a:pPr>
                      <a:r>
                        <a:rPr b="1" i="0" lang="en-US" sz="8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Gestión de productos por administrador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5"/>
                        <a:buFont typeface="Arial"/>
                        <a:buNone/>
                      </a:pPr>
                      <a:r>
                        <a:rPr b="0" i="0" lang="en-US" sz="8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RF-13 — Gestión de Inventario (Crear); RF-14 — Gestión de Inventario (Editar); RF-15 — Gestión de Inventario (Eliminar)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9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5"/>
                        <a:buFont typeface="Arial"/>
                        <a:buNone/>
                      </a:pPr>
                      <a:r>
                        <a:rPr b="1" i="0" lang="en-US" sz="825" u="none" cap="none" strike="noStrike">
                          <a:solidFill>
                            <a:srgbClr val="D9770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CP-08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5"/>
                        <a:buFont typeface="Arial"/>
                        <a:buNone/>
                      </a:pPr>
                      <a:r>
                        <a:rPr b="1" i="0" lang="en-US" sz="8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Recuperación de contraseña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5"/>
                        <a:buFont typeface="Arial"/>
                        <a:buNone/>
                      </a:pPr>
                      <a:r>
                        <a:rPr b="0" i="0" lang="en-US" sz="8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RF-17 — Recuperación de contraseña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6" name="Google Shape;226;p6"/>
          <p:cNvSpPr txBox="1"/>
          <p:nvPr/>
        </p:nvSpPr>
        <p:spPr>
          <a:xfrm>
            <a:off x="571500" y="419100"/>
            <a:ext cx="11620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ASEGURAMIENTO DE CALIDAD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6"/>
          <p:cNvSpPr txBox="1"/>
          <p:nvPr/>
        </p:nvSpPr>
        <p:spPr>
          <a:xfrm>
            <a:off x="571500" y="590550"/>
            <a:ext cx="11620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Casos de Prueba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6"/>
          <p:cNvSpPr txBox="1"/>
          <p:nvPr/>
        </p:nvSpPr>
        <p:spPr>
          <a:xfrm>
            <a:off x="762000" y="6029325"/>
            <a:ext cx="636984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ESTADO ACTUAL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762000" y="6191250"/>
            <a:ext cx="636984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Definidos y documentados (Aún no ejecutados).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6"/>
          <p:cNvSpPr txBox="1"/>
          <p:nvPr/>
        </p:nvSpPr>
        <p:spPr>
          <a:xfrm>
            <a:off x="6372225" y="6029325"/>
            <a:ext cx="58197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PRÓXIMA ETAPA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6372225" y="6191250"/>
            <a:ext cx="58197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Ejecución formal → QA / Semana 16.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"/>
          <p:cNvSpPr/>
          <p:nvPr/>
        </p:nvSpPr>
        <p:spPr>
          <a:xfrm>
            <a:off x="609600" y="6010275"/>
            <a:ext cx="10972800" cy="390525"/>
          </a:xfrm>
          <a:prstGeom prst="roundRect">
            <a:avLst>
              <a:gd fmla="val 19512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609600" y="1800225"/>
            <a:ext cx="6882556" cy="904875"/>
          </a:xfrm>
          <a:prstGeom prst="roundRect">
            <a:avLst>
              <a:gd fmla="val 10526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609600" y="3057525"/>
            <a:ext cx="6882556" cy="904875"/>
          </a:xfrm>
          <a:prstGeom prst="roundRect">
            <a:avLst>
              <a:gd fmla="val 10526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609600" y="4314825"/>
            <a:ext cx="6882556" cy="904875"/>
          </a:xfrm>
          <a:prstGeom prst="roundRect">
            <a:avLst>
              <a:gd fmla="val 10526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7796956" y="2667000"/>
            <a:ext cx="3785443" cy="571500"/>
          </a:xfrm>
          <a:prstGeom prst="roundRect">
            <a:avLst>
              <a:gd fmla="val 1333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7796956" y="3352800"/>
            <a:ext cx="3785443" cy="571500"/>
          </a:xfrm>
          <a:prstGeom prst="roundRect">
            <a:avLst>
              <a:gd fmla="val 1333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7796956" y="4038600"/>
            <a:ext cx="3785443" cy="571500"/>
          </a:xfrm>
          <a:prstGeom prst="roundRect">
            <a:avLst>
              <a:gd fmla="val 13333" name="adj"/>
            </a:avLst>
          </a:prstGeom>
          <a:solidFill>
            <a:srgbClr val="FFFBEB"/>
          </a:solidFill>
          <a:ln cap="flat" cmpd="sng" w="9525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3" name="Google Shape;24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6148387"/>
            <a:ext cx="1524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92106" y="2119312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4128" y="2800350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25431" y="337661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4128" y="4057650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54006" y="4633912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39831" y="2809875"/>
            <a:ext cx="1714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39831" y="3495675"/>
            <a:ext cx="123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939831" y="4181475"/>
            <a:ext cx="1524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7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STACK TECNOLÓGICO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7"/>
          <p:cNvSpPr txBox="1"/>
          <p:nvPr/>
        </p:nvSpPr>
        <p:spPr>
          <a:xfrm>
            <a:off x="609600" y="628650"/>
            <a:ext cx="1158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Arquitectura y Tecnologías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7"/>
          <p:cNvSpPr txBox="1"/>
          <p:nvPr/>
        </p:nvSpPr>
        <p:spPr>
          <a:xfrm>
            <a:off x="800100" y="6129337"/>
            <a:ext cx="305990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DESPLIEGUE FINAL (DEPLOYMENT):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"/>
          <p:cNvSpPr txBox="1"/>
          <p:nvPr/>
        </p:nvSpPr>
        <p:spPr>
          <a:xfrm>
            <a:off x="9382125" y="6124575"/>
            <a:ext cx="2512218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Render (Infraestructura Cloud)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7"/>
          <p:cNvSpPr txBox="1"/>
          <p:nvPr/>
        </p:nvSpPr>
        <p:spPr>
          <a:xfrm>
            <a:off x="7796956" y="2409825"/>
            <a:ext cx="439504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SERVICIOS INTEGRADOS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7"/>
          <p:cNvSpPr txBox="1"/>
          <p:nvPr/>
        </p:nvSpPr>
        <p:spPr>
          <a:xfrm>
            <a:off x="809625" y="1962150"/>
            <a:ext cx="33051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1. PLATAFORMAS DE 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7"/>
          <p:cNvSpPr txBox="1"/>
          <p:nvPr/>
        </p:nvSpPr>
        <p:spPr>
          <a:xfrm>
            <a:off x="809625" y="3219450"/>
            <a:ext cx="30003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2. CAPA DE NEGOCIO &amp; 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7"/>
          <p:cNvSpPr txBox="1"/>
          <p:nvPr/>
        </p:nvSpPr>
        <p:spPr>
          <a:xfrm>
            <a:off x="809625" y="4476750"/>
            <a:ext cx="20669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3. BASE DE DATOS CENTRALIZADA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7"/>
          <p:cNvSpPr txBox="1"/>
          <p:nvPr/>
        </p:nvSpPr>
        <p:spPr>
          <a:xfrm>
            <a:off x="7939831" y="2790825"/>
            <a:ext cx="4252168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Cloudinary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7"/>
          <p:cNvSpPr txBox="1"/>
          <p:nvPr/>
        </p:nvSpPr>
        <p:spPr>
          <a:xfrm>
            <a:off x="7939831" y="2971800"/>
            <a:ext cx="425216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Almacenamiento de imágenes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7"/>
          <p:cNvSpPr txBox="1"/>
          <p:nvPr/>
        </p:nvSpPr>
        <p:spPr>
          <a:xfrm>
            <a:off x="7939831" y="3476625"/>
            <a:ext cx="4252168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Google Cloud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7"/>
          <p:cNvSpPr txBox="1"/>
          <p:nvPr/>
        </p:nvSpPr>
        <p:spPr>
          <a:xfrm>
            <a:off x="7939831" y="3657600"/>
            <a:ext cx="425216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Recuperación de contraseña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7"/>
          <p:cNvSpPr txBox="1"/>
          <p:nvPr/>
        </p:nvSpPr>
        <p:spPr>
          <a:xfrm>
            <a:off x="7939831" y="4162425"/>
            <a:ext cx="4252168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Mercado Pago Sandbox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7"/>
          <p:cNvSpPr txBox="1"/>
          <p:nvPr/>
        </p:nvSpPr>
        <p:spPr>
          <a:xfrm>
            <a:off x="7939831" y="4343400"/>
            <a:ext cx="425216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Simulación de pago en entorno de prueba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7"/>
          <p:cNvSpPr txBox="1"/>
          <p:nvPr/>
        </p:nvSpPr>
        <p:spPr>
          <a:xfrm>
            <a:off x="809625" y="2171700"/>
            <a:ext cx="40124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Web + Aplicación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7"/>
          <p:cNvSpPr txBox="1"/>
          <p:nvPr/>
        </p:nvSpPr>
        <p:spPr>
          <a:xfrm>
            <a:off x="809625" y="2390775"/>
            <a:ext cx="401240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HTML • CSS • JavaScript • Ionic • Angular • Capacitor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7"/>
          <p:cNvSpPr txBox="1"/>
          <p:nvPr/>
        </p:nvSpPr>
        <p:spPr>
          <a:xfrm>
            <a:off x="809625" y="3429000"/>
            <a:ext cx="36314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Django + Django REST Framework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7"/>
          <p:cNvSpPr txBox="1"/>
          <p:nvPr/>
        </p:nvSpPr>
        <p:spPr>
          <a:xfrm>
            <a:off x="809625" y="3648075"/>
            <a:ext cx="363140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Lógica de backend en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7"/>
          <p:cNvSpPr txBox="1"/>
          <p:nvPr/>
        </p:nvSpPr>
        <p:spPr>
          <a:xfrm>
            <a:off x="809625" y="4686300"/>
            <a:ext cx="246459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PostgreSQL — Neon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7"/>
          <p:cNvSpPr txBox="1"/>
          <p:nvPr/>
        </p:nvSpPr>
        <p:spPr>
          <a:xfrm>
            <a:off x="809625" y="4905375"/>
            <a:ext cx="246459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Persistencia relacional serverless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533400" y="1028700"/>
            <a:ext cx="2148900" cy="681900"/>
          </a:xfrm>
          <a:prstGeom prst="roundRect">
            <a:avLst>
              <a:gd fmla="val 838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2777430" y="1028700"/>
            <a:ext cx="2148900" cy="681900"/>
          </a:xfrm>
          <a:prstGeom prst="roundRect">
            <a:avLst>
              <a:gd fmla="val 838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5021460" y="1028700"/>
            <a:ext cx="2148900" cy="681900"/>
          </a:xfrm>
          <a:prstGeom prst="roundRect">
            <a:avLst>
              <a:gd fmla="val 838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7265640" y="1028700"/>
            <a:ext cx="2148900" cy="681900"/>
          </a:xfrm>
          <a:prstGeom prst="roundRect">
            <a:avLst>
              <a:gd fmla="val 838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9509670" y="1028700"/>
            <a:ext cx="2148900" cy="681900"/>
          </a:xfrm>
          <a:prstGeom prst="roundRect">
            <a:avLst>
              <a:gd fmla="val 8380" name="adj"/>
            </a:avLst>
          </a:prstGeom>
          <a:solidFill>
            <a:srgbClr val="FFFB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533400" y="1028700"/>
            <a:ext cx="2148900" cy="28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533400" y="1028700"/>
            <a:ext cx="9600" cy="6819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2672655" y="1028700"/>
            <a:ext cx="9600" cy="6819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2777430" y="1028700"/>
            <a:ext cx="2148900" cy="28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2777430" y="1028700"/>
            <a:ext cx="9600" cy="6819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4916685" y="1028700"/>
            <a:ext cx="9600" cy="6819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5021460" y="1028700"/>
            <a:ext cx="2148900" cy="28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5021460" y="1028700"/>
            <a:ext cx="9600" cy="6819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7160865" y="1028700"/>
            <a:ext cx="9600" cy="6819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7265640" y="1028700"/>
            <a:ext cx="2148900" cy="28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7265640" y="1028700"/>
            <a:ext cx="9600" cy="6819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9404895" y="1028700"/>
            <a:ext cx="9600" cy="6819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9509670" y="1028700"/>
            <a:ext cx="2148900" cy="28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9509670" y="1028700"/>
            <a:ext cx="9600" cy="681900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11649075" y="1028700"/>
            <a:ext cx="9600" cy="681900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2" name="Google Shape;292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7225" y="1171575"/>
            <a:ext cx="13335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901255" y="1171575"/>
            <a:ext cx="1428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145285" y="1171575"/>
            <a:ext cx="1428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389465" y="1171575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633495" y="1171575"/>
            <a:ext cx="8572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7"/>
          <p:cNvSpPr txBox="1"/>
          <p:nvPr/>
        </p:nvSpPr>
        <p:spPr>
          <a:xfrm>
            <a:off x="657225" y="1152525"/>
            <a:ext cx="2376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Vista Lógica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7"/>
          <p:cNvSpPr txBox="1"/>
          <p:nvPr/>
        </p:nvSpPr>
        <p:spPr>
          <a:xfrm>
            <a:off x="657225" y="1333500"/>
            <a:ext cx="19965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Usuarios, Productos, Categorías, Stock, Carrito y Compras.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7"/>
          <p:cNvSpPr txBox="1"/>
          <p:nvPr/>
        </p:nvSpPr>
        <p:spPr>
          <a:xfrm>
            <a:off x="2901255" y="1152525"/>
            <a:ext cx="2376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Vista 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7"/>
          <p:cNvSpPr txBox="1"/>
          <p:nvPr/>
        </p:nvSpPr>
        <p:spPr>
          <a:xfrm>
            <a:off x="2901255" y="1333500"/>
            <a:ext cx="19965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→ Lógica → Datos → Externos.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7"/>
          <p:cNvSpPr txBox="1"/>
          <p:nvPr/>
        </p:nvSpPr>
        <p:spPr>
          <a:xfrm>
            <a:off x="5145285" y="1152525"/>
            <a:ext cx="237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Vista Procesos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7"/>
          <p:cNvSpPr txBox="1"/>
          <p:nvPr/>
        </p:nvSpPr>
        <p:spPr>
          <a:xfrm>
            <a:off x="5145285" y="1333500"/>
            <a:ext cx="19965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Web/Móvil → API REST → Lógica → Datos/Servicios.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7"/>
          <p:cNvSpPr txBox="1"/>
          <p:nvPr/>
        </p:nvSpPr>
        <p:spPr>
          <a:xfrm>
            <a:off x="7389465" y="1152525"/>
            <a:ext cx="2376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Vista Física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7"/>
          <p:cNvSpPr txBox="1"/>
          <p:nvPr/>
        </p:nvSpPr>
        <p:spPr>
          <a:xfrm>
            <a:off x="7389465" y="1333500"/>
            <a:ext cx="19965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Dispositivos → Render → Neon + Servicios externos.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7"/>
          <p:cNvSpPr txBox="1"/>
          <p:nvPr/>
        </p:nvSpPr>
        <p:spPr>
          <a:xfrm>
            <a:off x="9633495" y="1152525"/>
            <a:ext cx="237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+1 Escenarios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7"/>
          <p:cNvSpPr txBox="1"/>
          <p:nvPr/>
        </p:nvSpPr>
        <p:spPr>
          <a:xfrm>
            <a:off x="9633495" y="1333500"/>
            <a:ext cx="19965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Registrar cuenta, consultar productos, carrito y compra.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8"/>
          <p:cNvSpPr/>
          <p:nvPr/>
        </p:nvSpPr>
        <p:spPr>
          <a:xfrm>
            <a:off x="762000" y="1438275"/>
            <a:ext cx="5181600" cy="4886325"/>
          </a:xfrm>
          <a:prstGeom prst="roundRect">
            <a:avLst>
              <a:gd fmla="val 233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6248400" y="1438275"/>
            <a:ext cx="5181600" cy="4886325"/>
          </a:xfrm>
          <a:prstGeom prst="roundRect">
            <a:avLst>
              <a:gd fmla="val 233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1038225" y="1714500"/>
            <a:ext cx="46291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6524625" y="1714500"/>
            <a:ext cx="46291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1038225" y="2057400"/>
            <a:ext cx="46291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6524625" y="2057400"/>
            <a:ext cx="46291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7" name="Google Shape;31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225" y="172402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172402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8225" y="228600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8225" y="260032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8225" y="291465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8225" y="322897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8225" y="354330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228600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258127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287655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317182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346710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376237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4057650"/>
            <a:ext cx="1238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8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SEGUIMIENTO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8"/>
          <p:cNvSpPr txBox="1"/>
          <p:nvPr/>
        </p:nvSpPr>
        <p:spPr>
          <a:xfrm>
            <a:off x="762000" y="752475"/>
            <a:ext cx="11430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Estado Actual — Semana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8"/>
          <p:cNvSpPr txBox="1"/>
          <p:nvPr/>
        </p:nvSpPr>
        <p:spPr>
          <a:xfrm>
            <a:off x="1343025" y="1714500"/>
            <a:ext cx="31503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COMPLETADO / DEFINIDO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8"/>
          <p:cNvSpPr txBox="1"/>
          <p:nvPr/>
        </p:nvSpPr>
        <p:spPr>
          <a:xfrm>
            <a:off x="1038225" y="2266950"/>
            <a:ext cx="57864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Modelo de datos definido.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8"/>
          <p:cNvSpPr txBox="1"/>
          <p:nvPr/>
        </p:nvSpPr>
        <p:spPr>
          <a:xfrm>
            <a:off x="1038225" y="2581275"/>
            <a:ext cx="57864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Casos de uso definidos.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8"/>
          <p:cNvSpPr txBox="1"/>
          <p:nvPr/>
        </p:nvSpPr>
        <p:spPr>
          <a:xfrm>
            <a:off x="1038225" y="2895600"/>
            <a:ext cx="57864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Arquitectura definida.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8"/>
          <p:cNvSpPr txBox="1"/>
          <p:nvPr/>
        </p:nvSpPr>
        <p:spPr>
          <a:xfrm>
            <a:off x="1038225" y="3209925"/>
            <a:ext cx="57864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Desarrollo del sistema avanzado.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8"/>
          <p:cNvSpPr txBox="1"/>
          <p:nvPr/>
        </p:nvSpPr>
        <p:spPr>
          <a:xfrm>
            <a:off x="1038225" y="3524250"/>
            <a:ext cx="57864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Casos de prueba documentados.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8"/>
          <p:cNvSpPr txBox="1"/>
          <p:nvPr/>
        </p:nvSpPr>
        <p:spPr>
          <a:xfrm>
            <a:off x="6829425" y="1714500"/>
            <a:ext cx="225028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PRÓXIMOS PASOS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8"/>
          <p:cNvSpPr txBox="1"/>
          <p:nvPr/>
        </p:nvSpPr>
        <p:spPr>
          <a:xfrm>
            <a:off x="6524625" y="2266950"/>
            <a:ext cx="5667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Continuar desarrollo Web / Mobile.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8"/>
          <p:cNvSpPr txBox="1"/>
          <p:nvPr/>
        </p:nvSpPr>
        <p:spPr>
          <a:xfrm>
            <a:off x="6524625" y="2562225"/>
            <a:ext cx="5667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Integración de componentes.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8"/>
          <p:cNvSpPr txBox="1"/>
          <p:nvPr/>
        </p:nvSpPr>
        <p:spPr>
          <a:xfrm>
            <a:off x="6524625" y="2857500"/>
            <a:ext cx="5667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Integración API REST.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8"/>
          <p:cNvSpPr txBox="1"/>
          <p:nvPr/>
        </p:nvSpPr>
        <p:spPr>
          <a:xfrm>
            <a:off x="6524625" y="3152775"/>
            <a:ext cx="5667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Ejecución de pruebas QA.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8"/>
          <p:cNvSpPr txBox="1"/>
          <p:nvPr/>
        </p:nvSpPr>
        <p:spPr>
          <a:xfrm>
            <a:off x="6524625" y="3448050"/>
            <a:ext cx="5667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Corrección de errores.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8"/>
          <p:cNvSpPr txBox="1"/>
          <p:nvPr/>
        </p:nvSpPr>
        <p:spPr>
          <a:xfrm>
            <a:off x="6524625" y="3743325"/>
            <a:ext cx="5667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Despliegue final.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8"/>
          <p:cNvSpPr txBox="1"/>
          <p:nvPr/>
        </p:nvSpPr>
        <p:spPr>
          <a:xfrm>
            <a:off x="6524625" y="4038600"/>
            <a:ext cx="5667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Presentación y cierre.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917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9"/>
          <p:cNvSpPr/>
          <p:nvPr/>
        </p:nvSpPr>
        <p:spPr>
          <a:xfrm>
            <a:off x="6124575" y="3562350"/>
            <a:ext cx="9525" cy="3810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 txBox="1"/>
          <p:nvPr/>
        </p:nvSpPr>
        <p:spPr>
          <a:xfrm>
            <a:off x="3958232" y="1809750"/>
            <a:ext cx="4275534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AFAF9"/>
                </a:solidFill>
                <a:latin typeface="Inter"/>
                <a:ea typeface="Inter"/>
                <a:cs typeface="Inter"/>
                <a:sym typeface="Inter"/>
              </a:rPr>
              <a:t>FerreMundo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9"/>
          <p:cNvSpPr txBox="1"/>
          <p:nvPr/>
        </p:nvSpPr>
        <p:spPr>
          <a:xfrm>
            <a:off x="1928812" y="2609850"/>
            <a:ext cx="8334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6D3D1"/>
                </a:solidFill>
                <a:latin typeface="Inter"/>
                <a:ea typeface="Inter"/>
                <a:cs typeface="Inter"/>
                <a:sym typeface="Inter"/>
              </a:rPr>
              <a:t>Sistema integrado para la gestión y comercialización de productos de la Ferretería ConstruMax.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9"/>
          <p:cNvSpPr txBox="1"/>
          <p:nvPr/>
        </p:nvSpPr>
        <p:spPr>
          <a:xfrm>
            <a:off x="3140273" y="4400550"/>
            <a:ext cx="591145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78716C"/>
                </a:solidFill>
                <a:latin typeface="Inter"/>
                <a:ea typeface="Inter"/>
                <a:cs typeface="Inter"/>
                <a:sym typeface="Inter"/>
              </a:rPr>
              <a:t>CAPSTONE_011V — INGENIERÍA EN INFORMÁTICA • DUOC 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9"/>
          <p:cNvSpPr txBox="1"/>
          <p:nvPr/>
        </p:nvSpPr>
        <p:spPr>
          <a:xfrm>
            <a:off x="5202138" y="4676775"/>
            <a:ext cx="178772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¡Gracias!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9"/>
          <p:cNvSpPr txBox="1"/>
          <p:nvPr/>
        </p:nvSpPr>
        <p:spPr>
          <a:xfrm>
            <a:off x="4533900" y="3562350"/>
            <a:ext cx="1428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FAFAF9"/>
                </a:solidFill>
                <a:latin typeface="Inter"/>
                <a:ea typeface="Inter"/>
                <a:cs typeface="Inter"/>
                <a:sym typeface="Inter"/>
              </a:rPr>
              <a:t>Alan Cruz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t/>
            </a:r>
            <a:endParaRPr b="1" i="0" sz="1125" u="none" cap="none" strike="noStrike">
              <a:solidFill>
                <a:srgbClr val="FAFAF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7" name="Google Shape;357;p9"/>
          <p:cNvSpPr txBox="1"/>
          <p:nvPr/>
        </p:nvSpPr>
        <p:spPr>
          <a:xfrm>
            <a:off x="4533900" y="3781425"/>
            <a:ext cx="1428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8A29E"/>
                </a:solidFill>
                <a:latin typeface="Inter"/>
                <a:ea typeface="Inter"/>
                <a:cs typeface="Inter"/>
                <a:sym typeface="Inter"/>
              </a:rPr>
              <a:t>Jefe de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9"/>
          <p:cNvSpPr txBox="1"/>
          <p:nvPr/>
        </p:nvSpPr>
        <p:spPr>
          <a:xfrm>
            <a:off x="6296025" y="3562350"/>
            <a:ext cx="13620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FAFAF9"/>
                </a:solidFill>
                <a:latin typeface="Inter"/>
                <a:ea typeface="Inter"/>
                <a:cs typeface="Inter"/>
                <a:sym typeface="Inter"/>
              </a:rPr>
              <a:t>Jonatan Gordillo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9"/>
          <p:cNvSpPr txBox="1"/>
          <p:nvPr/>
        </p:nvSpPr>
        <p:spPr>
          <a:xfrm>
            <a:off x="6296025" y="3781425"/>
            <a:ext cx="1362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8A29E"/>
                </a:solidFill>
                <a:latin typeface="Inter"/>
                <a:ea typeface="Inter"/>
                <a:cs typeface="Inter"/>
                <a:sym typeface="Inter"/>
              </a:rPr>
              <a:t>Desarrollo &amp; QA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A8A29E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