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C04030-0E24-4EC0-82AB-F02A076B03FA}">
  <a:tblStyle styleId="{69C04030-0E24-4EC0-82AB-F02A076B03F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11" Type="http://schemas.openxmlformats.org/officeDocument/2006/relationships/slide" Target="slides/slide5.xml"/><Relationship Id="rId22" Type="http://schemas.openxmlformats.org/officeDocument/2006/relationships/font" Target="fonts/Inter-italic.fntdata"/><Relationship Id="rId10" Type="http://schemas.openxmlformats.org/officeDocument/2006/relationships/slide" Target="slides/slide4.xml"/><Relationship Id="rId21" Type="http://schemas.openxmlformats.org/officeDocument/2006/relationships/font" Target="fonts/Inter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h258efe4ffc20be44_1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h258efe4ffc20be44_1_3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h258efe4ffc20be44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h258efe4ffc20be44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h13134bd3f3b774d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h13134bd3f3b774d8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5.png"/><Relationship Id="rId10" Type="http://schemas.openxmlformats.org/officeDocument/2006/relationships/image" Target="../media/image28.png"/><Relationship Id="rId9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31.png"/><Relationship Id="rId7" Type="http://schemas.openxmlformats.org/officeDocument/2006/relationships/image" Target="../media/image20.png"/><Relationship Id="rId8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32.png"/><Relationship Id="rId5" Type="http://schemas.openxmlformats.org/officeDocument/2006/relationships/image" Target="../media/image29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9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33.png"/><Relationship Id="rId5" Type="http://schemas.openxmlformats.org/officeDocument/2006/relationships/image" Target="../media/image27.png"/><Relationship Id="rId6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9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002285"/>
            <a:ext cx="10668000" cy="9525"/>
          </a:xfrm>
          <a:prstGeom prst="rect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1917352"/>
            <a:ext cx="114300" cy="1143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487935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762000" y="2255490"/>
            <a:ext cx="1143000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FerreMundo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3068835"/>
            <a:ext cx="1143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6D3D1"/>
                </a:solidFill>
                <a:latin typeface="Inter"/>
                <a:ea typeface="Inter"/>
                <a:cs typeface="Inter"/>
                <a:sym typeface="Inter"/>
              </a:rPr>
              <a:t>Seguimiento del Proyecto — Semana </a:t>
            </a:r>
            <a:r>
              <a:rPr lang="en-US" sz="1800">
                <a:solidFill>
                  <a:srgbClr val="D6D3D1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3468885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Fecha de presentación: </a:t>
            </a:r>
            <a:r>
              <a:rPr b="1" lang="en-US" sz="1200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r>
              <a:rPr b="1" i="0" lang="en-US" sz="120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 de octubre de 2026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90600" y="1884015"/>
            <a:ext cx="59769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CAPSTONE_011V — INGENIERÍA EN INFORMÁTICA • DUOC UC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62000" y="4316610"/>
            <a:ext cx="3202781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8A29E"/>
                </a:solidFill>
                <a:latin typeface="Inter"/>
                <a:ea typeface="Inter"/>
                <a:cs typeface="Inter"/>
                <a:sym typeface="Inter"/>
              </a:rPr>
              <a:t>INTEGRANTES DEL EQUIPO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62000" y="4535685"/>
            <a:ext cx="32027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Jonatan Gordillo </a:t>
            </a:r>
            <a:r>
              <a:rPr b="0" i="0" lang="en-US" sz="1125" u="none" cap="none" strike="noStrike">
                <a:solidFill>
                  <a:srgbClr val="A8A29E"/>
                </a:solidFill>
                <a:latin typeface="Inter"/>
                <a:ea typeface="Inter"/>
                <a:cs typeface="Inter"/>
                <a:sym typeface="Inter"/>
              </a:rPr>
              <a:t>(Desarrollo &amp; QA)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62000" y="4773810"/>
            <a:ext cx="32027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Alan Cruz </a:t>
            </a:r>
            <a:r>
              <a:rPr b="0" i="0" lang="en-US" sz="1125" u="none" cap="none" strike="noStrike">
                <a:solidFill>
                  <a:srgbClr val="A8A29E"/>
                </a:solidFill>
                <a:latin typeface="Inter"/>
                <a:ea typeface="Inter"/>
                <a:cs typeface="Inter"/>
                <a:sym typeface="Inter"/>
              </a:rPr>
              <a:t>(Jefe de Proyecto)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8181975" y="4316610"/>
            <a:ext cx="40100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8A29E"/>
                </a:solidFill>
                <a:latin typeface="Inter"/>
                <a:ea typeface="Inter"/>
                <a:cs typeface="Inter"/>
                <a:sym typeface="Inter"/>
              </a:rPr>
              <a:t>PROFESOR GUÍA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8181975" y="4535685"/>
            <a:ext cx="40100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Fernando Gonzalo Herrera Francesconi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685800" y="1333500"/>
            <a:ext cx="10820400" cy="1043880"/>
          </a:xfrm>
          <a:prstGeom prst="roundRect">
            <a:avLst>
              <a:gd fmla="val 7299" name="adj"/>
            </a:avLst>
          </a:prstGeom>
          <a:solidFill>
            <a:srgbClr val="FFFB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85800" y="2367855"/>
            <a:ext cx="10820400" cy="9525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685800" y="1333500"/>
            <a:ext cx="10820400" cy="9525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685800" y="1333500"/>
            <a:ext cx="47625" cy="1043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11496675" y="1333500"/>
            <a:ext cx="9525" cy="1043880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85800" y="5619750"/>
            <a:ext cx="5295900" cy="742950"/>
          </a:xfrm>
          <a:prstGeom prst="roundRect">
            <a:avLst>
              <a:gd fmla="val 1025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6210300" y="5619750"/>
            <a:ext cx="5295900" cy="742950"/>
          </a:xfrm>
          <a:prstGeom prst="roundRect">
            <a:avLst>
              <a:gd fmla="val 1025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9296400" y="1541115"/>
            <a:ext cx="1971675" cy="285750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8791575" y="1884015"/>
            <a:ext cx="2476500" cy="2857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685800" y="3034605"/>
            <a:ext cx="1514772" cy="847725"/>
          </a:xfrm>
          <a:prstGeom prst="roundRect">
            <a:avLst>
              <a:gd fmla="val 8988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2486322" y="3115567"/>
            <a:ext cx="1514772" cy="685800"/>
          </a:xfrm>
          <a:prstGeom prst="roundRect">
            <a:avLst>
              <a:gd fmla="val 1111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4286845" y="3082230"/>
            <a:ext cx="1817786" cy="752475"/>
          </a:xfrm>
          <a:prstGeom prst="roundRect">
            <a:avLst>
              <a:gd fmla="val 10126" name="adj"/>
            </a:avLst>
          </a:prstGeom>
          <a:solidFill>
            <a:srgbClr val="FEF3C7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6390382" y="3115567"/>
            <a:ext cx="1514772" cy="685800"/>
          </a:xfrm>
          <a:prstGeom prst="roundRect">
            <a:avLst>
              <a:gd fmla="val 1111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8190904" y="3115567"/>
            <a:ext cx="1514772" cy="685800"/>
          </a:xfrm>
          <a:prstGeom prst="roundRect">
            <a:avLst>
              <a:gd fmla="val 1111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9991427" y="3115567"/>
            <a:ext cx="1514772" cy="685800"/>
          </a:xfrm>
          <a:prstGeom prst="roundRect">
            <a:avLst>
              <a:gd fmla="val 1111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5" name="Google Shape;11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5822" y="338226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6345" y="338226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9882" y="338226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0404" y="338226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0927" y="338226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3925" y="5819775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8425" y="581977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>
            <a:off x="685800" y="495300"/>
            <a:ext cx="11506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MARCO DE TRABAJO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85800" y="714375"/>
            <a:ext cx="11506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Metodología Waterfall (Cascada tradicional)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85800" y="2682180"/>
            <a:ext cx="11506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SECUENCIA DE LAS 6 ETAPAS DEL PROYECTO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962025" y="1533525"/>
            <a:ext cx="95011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DEFINICIÓN METODOLÓGICA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962025" y="1724025"/>
            <a:ext cx="769620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“Waterfall es una metodología de desarrollo secuencial, donde cada etapa se planifica y completa antes de avanzar a la siguiente”.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9353550" y="1598265"/>
            <a:ext cx="1762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Duración total: 18 semanas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8848725" y="1941165"/>
            <a:ext cx="2267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Fecha actual: </a:t>
            </a:r>
            <a:r>
              <a:rPr b="1" lang="en-US" sz="975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23 </a:t>
            </a:r>
            <a:r>
              <a:rPr b="1" i="0" lang="en-US" sz="975" u="none" cap="none" strike="noStrike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de octubre de 2026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923925" y="5800725"/>
            <a:ext cx="602456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Control Secuencial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923925" y="6019800"/>
            <a:ext cx="602456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Validación documental obligatoria antes de avanzar a la siguiente fase.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6448425" y="5800725"/>
            <a:ext cx="57435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Trazabilidad del Proyecto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6448425" y="6019800"/>
            <a:ext cx="57435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Alineación estricta entre ERS, Modelos UML/BD y Casos de Prueba.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615515" y="3206055"/>
            <a:ext cx="16553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 Levantamiento y diseño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615515" y="3568005"/>
            <a:ext cx="165534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Completado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2416038" y="3287017"/>
            <a:ext cx="165534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 Desarrollo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2416038" y="3487042"/>
            <a:ext cx="165534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Completado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4202496" y="3272730"/>
            <a:ext cx="198648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3. Integración ★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4202496" y="3501330"/>
            <a:ext cx="198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Semana </a:t>
            </a:r>
            <a:r>
              <a:rPr b="1" lang="en-US" sz="9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r>
              <a:rPr b="1" i="0" lang="en-US" sz="90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 (Actual)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6320097" y="3287017"/>
            <a:ext cx="165534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4. QA y pruebas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6320097" y="3487042"/>
            <a:ext cx="165534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Planificado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8120620" y="3287017"/>
            <a:ext cx="165534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5. Despliegue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8120620" y="3487042"/>
            <a:ext cx="165534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Planificado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9921143" y="3287017"/>
            <a:ext cx="165534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6. Cierre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9921143" y="3487042"/>
            <a:ext cx="165534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Planificado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/>
          <p:nvPr/>
        </p:nvSpPr>
        <p:spPr>
          <a:xfrm>
            <a:off x="2228850" y="2767012"/>
            <a:ext cx="9525" cy="228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3818334" y="2767012"/>
            <a:ext cx="9525" cy="228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5937646" y="2767012"/>
            <a:ext cx="9525" cy="228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8586787" y="2767012"/>
            <a:ext cx="9525" cy="228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10706100" y="2767012"/>
            <a:ext cx="9525" cy="228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2228850" y="2995612"/>
            <a:ext cx="9525" cy="266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2758678" y="2995612"/>
            <a:ext cx="9525" cy="266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3288506" y="2995612"/>
            <a:ext cx="9525" cy="266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3818334" y="2995612"/>
            <a:ext cx="9525" cy="266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4348162" y="2995612"/>
            <a:ext cx="9525" cy="266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4877990" y="2995612"/>
            <a:ext cx="9525" cy="266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5407818" y="2995612"/>
            <a:ext cx="9525" cy="266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5937646" y="2995612"/>
            <a:ext cx="9525" cy="266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6467475" y="2995612"/>
            <a:ext cx="9525" cy="266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6997303" y="2995612"/>
            <a:ext cx="9525" cy="266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7527131" y="2995612"/>
            <a:ext cx="9525" cy="266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8056959" y="2995612"/>
            <a:ext cx="9525" cy="266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8586787" y="2995612"/>
            <a:ext cx="9525" cy="266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9116615" y="2995612"/>
            <a:ext cx="9525" cy="266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9646443" y="2995612"/>
            <a:ext cx="9525" cy="266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10176271" y="2995612"/>
            <a:ext cx="9525" cy="266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10706100" y="2995612"/>
            <a:ext cx="9525" cy="266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11235928" y="2995612"/>
            <a:ext cx="9525" cy="266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419100" y="6381750"/>
            <a:ext cx="354806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COMPLETADO:</a:t>
            </a: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S1 a S8 (F1 Levantamiento + F2 Backend)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3686175" y="6381750"/>
            <a:ext cx="4452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SEMANA ACTUAL:</a:t>
            </a: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S</a:t>
            </a:r>
            <a:r>
              <a:rPr lang="en-US" sz="82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— </a:t>
            </a:r>
            <a:r>
              <a:rPr lang="en-US" sz="82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de octubre de 2026 (Diseño UI/UX y Figma)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7677150" y="6381750"/>
            <a:ext cx="4515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PLANIFICADO:</a:t>
            </a: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S1</a:t>
            </a:r>
            <a:r>
              <a:rPr lang="en-US" sz="82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a S18 (F3 Desarrollo Web/Móvil, F4 Checkout, F5 QA y Deploy)</a:t>
            </a:r>
            <a:endParaRPr/>
          </a:p>
        </p:txBody>
      </p:sp>
      <p:sp>
        <p:nvSpPr>
          <p:cNvPr id="175" name="Google Shape;175;p15"/>
          <p:cNvSpPr txBox="1"/>
          <p:nvPr/>
        </p:nvSpPr>
        <p:spPr>
          <a:xfrm>
            <a:off x="419100" y="342900"/>
            <a:ext cx="52149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PLANIFICACIÓN GENERAL</a:t>
            </a:r>
            <a:endParaRPr/>
          </a:p>
        </p:txBody>
      </p:sp>
      <p:sp>
        <p:nvSpPr>
          <p:cNvPr id="176" name="Google Shape;176;p15"/>
          <p:cNvSpPr txBox="1"/>
          <p:nvPr/>
        </p:nvSpPr>
        <p:spPr>
          <a:xfrm>
            <a:off x="419100" y="514350"/>
            <a:ext cx="54756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Planificación general del proyecto</a:t>
            </a:r>
            <a:endParaRPr/>
          </a:p>
        </p:txBody>
      </p:sp>
      <p:sp>
        <p:nvSpPr>
          <p:cNvPr id="177" name="Google Shape;177;p15"/>
          <p:cNvSpPr txBox="1"/>
          <p:nvPr/>
        </p:nvSpPr>
        <p:spPr>
          <a:xfrm>
            <a:off x="7553325" y="666750"/>
            <a:ext cx="145256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S1–S8 Completadas</a:t>
            </a:r>
            <a:endParaRPr/>
          </a:p>
        </p:txBody>
      </p:sp>
      <p:sp>
        <p:nvSpPr>
          <p:cNvPr id="178" name="Google Shape;178;p15"/>
          <p:cNvSpPr txBox="1"/>
          <p:nvPr/>
        </p:nvSpPr>
        <p:spPr>
          <a:xfrm>
            <a:off x="8848725" y="666750"/>
            <a:ext cx="19764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★ S</a:t>
            </a:r>
            <a:r>
              <a:rPr b="1" lang="en-US" sz="82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r>
              <a:rPr b="1" i="0" lang="en-US" sz="825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Semana Actual (</a:t>
            </a:r>
            <a:r>
              <a:rPr b="1" lang="en-US" sz="82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r>
              <a:rPr b="1" i="0" lang="en-US" sz="825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Oct)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10563225" y="666750"/>
            <a:ext cx="1512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S1</a:t>
            </a:r>
            <a:r>
              <a:rPr b="1" lang="en-US" sz="82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b="1" i="0" lang="en-US" sz="825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–S18 Planificadas</a:t>
            </a:r>
            <a:endParaRPr/>
          </a:p>
        </p:txBody>
      </p:sp>
      <p:pic>
        <p:nvPicPr>
          <p:cNvPr id="180" name="Google Shape;180;p15" title="Hoja de ruta Gantt con S11 destaca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00" y="953350"/>
            <a:ext cx="11656223" cy="456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"/>
          <p:cNvSpPr/>
          <p:nvPr/>
        </p:nvSpPr>
        <p:spPr>
          <a:xfrm>
            <a:off x="571500" y="1289438"/>
            <a:ext cx="11049000" cy="4362600"/>
          </a:xfrm>
          <a:prstGeom prst="roundRect">
            <a:avLst>
              <a:gd fmla="val 2620" name="adj"/>
            </a:avLst>
          </a:prstGeom>
          <a:solidFill>
            <a:srgbClr val="FFFBEB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571500" y="5923350"/>
            <a:ext cx="11049000" cy="695400"/>
          </a:xfrm>
          <a:prstGeom prst="roundRect">
            <a:avLst>
              <a:gd fmla="val 1095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6491733" y="5847150"/>
            <a:ext cx="4928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8" name="Google Shape;18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0262" y="2927737"/>
            <a:ext cx="3714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6"/>
          <p:cNvSpPr txBox="1"/>
          <p:nvPr/>
        </p:nvSpPr>
        <p:spPr>
          <a:xfrm>
            <a:off x="571500" y="398850"/>
            <a:ext cx="11620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ARQUITECTURA DE PERSISTENCIA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571500" y="570300"/>
            <a:ext cx="1162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Modelo Entidad-Relación (MER)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571500" y="932250"/>
            <a:ext cx="11620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“El MER representa las entidades, atributos y relaciones que estructuran la base de datos de FerreMundo”.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3565921" y="3442087"/>
            <a:ext cx="506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[ INSERTAR AQUÍ CAPTURA REAL DEL MER ]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3774281" y="3708787"/>
            <a:ext cx="4643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Modelo Entidad-Relación Normalizado — FerreMundo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771525" y="6118612"/>
            <a:ext cx="7150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Entidades Principales: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771525" y="6280537"/>
            <a:ext cx="7150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CLIENTE | CARRITO | ITEM_CARRITO | PRODUCTO | CATEGORIA | BOLETA | DETALLE_BOLETA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6653658" y="5847150"/>
            <a:ext cx="553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6653658" y="6009075"/>
            <a:ext cx="4862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700" y="1193175"/>
            <a:ext cx="11155899" cy="4653976"/>
          </a:xfrm>
          <a:prstGeom prst="rect">
            <a:avLst/>
          </a:prstGeom>
          <a:solidFill>
            <a:srgbClr val="FFFBEB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"/>
          <p:cNvSpPr/>
          <p:nvPr/>
        </p:nvSpPr>
        <p:spPr>
          <a:xfrm>
            <a:off x="571500" y="1247775"/>
            <a:ext cx="11049000" cy="4400550"/>
          </a:xfrm>
          <a:prstGeom prst="roundRect">
            <a:avLst>
              <a:gd fmla="val 2597" name="adj"/>
            </a:avLst>
          </a:prstGeom>
          <a:solidFill>
            <a:srgbClr val="FFFBEB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622150" y="6076925"/>
            <a:ext cx="5448300" cy="657300"/>
          </a:xfrm>
          <a:prstGeom prst="roundRect">
            <a:avLst>
              <a:gd fmla="val 1159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6222850" y="6076925"/>
            <a:ext cx="5448300" cy="657300"/>
          </a:xfrm>
          <a:prstGeom prst="roundRect">
            <a:avLst>
              <a:gd fmla="val 1159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6" name="Google Shape;2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7875" y="2967037"/>
            <a:ext cx="4762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4075" y="6200750"/>
            <a:ext cx="1047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4775" y="6200750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7"/>
          <p:cNvSpPr txBox="1"/>
          <p:nvPr/>
        </p:nvSpPr>
        <p:spPr>
          <a:xfrm>
            <a:off x="571500" y="419100"/>
            <a:ext cx="11620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ESPECIFICACIÓN FUNCIONAL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571500" y="590550"/>
            <a:ext cx="11620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Casos de uso del sistema FerreMundo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571500" y="952500"/>
            <a:ext cx="11620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“El diagrama representa las principales funciones del sistema para los actores Cliente y Administrador”.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2089546" y="3481387"/>
            <a:ext cx="80129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[ INSERTAR AQUÍ CAPTURA REAL DEL DIAGRAMA DE CASOS DE USO ]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3899296" y="3748087"/>
            <a:ext cx="439340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Diagrama General de Casos de Uso — FerreMundo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784075" y="6181700"/>
            <a:ext cx="6405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Actor CLIENTE: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784075" y="6343625"/>
            <a:ext cx="521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Registrar cuenta, Iniciar sesión, Consultar productos, Gestionar carrito, Realizar compra, Historial de compras, Recuperar contraseña.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6384775" y="6181700"/>
            <a:ext cx="5857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Actor ADMINISTRADOR: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6384775" y="6343625"/>
            <a:ext cx="5857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Gestionar productos, Gestionar categorías, Gestionar stock de inventario.</a:t>
            </a:r>
            <a:endParaRPr/>
          </a:p>
        </p:txBody>
      </p:sp>
      <p:pic>
        <p:nvPicPr>
          <p:cNvPr id="218" name="Google Shape;21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150" y="1247775"/>
            <a:ext cx="11103725" cy="4671149"/>
          </a:xfrm>
          <a:prstGeom prst="rect">
            <a:avLst/>
          </a:prstGeom>
          <a:solidFill>
            <a:srgbClr val="FFFBEB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/>
          <p:nvPr/>
        </p:nvSpPr>
        <p:spPr>
          <a:xfrm>
            <a:off x="533400" y="6126509"/>
            <a:ext cx="11125200" cy="35049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533400" y="6126509"/>
            <a:ext cx="38100" cy="35049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5" name="Google Shape;225;p18"/>
          <p:cNvGraphicFramePr/>
          <p:nvPr/>
        </p:nvGraphicFramePr>
        <p:xfrm>
          <a:off x="533400" y="96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{69C04030-0E24-4EC0-82AB-F02A076B03FA}</a:tableStyleId>
              </a:tblPr>
              <a:tblGrid>
                <a:gridCol w="666750"/>
                <a:gridCol w="2095500"/>
                <a:gridCol w="8362950"/>
              </a:tblGrid>
              <a:tr h="442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87" u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Código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87" u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Caso de prueba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87" u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Requisitos asociados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442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87" u="none">
                          <a:solidFill>
                            <a:srgbClr val="D9770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CP-01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87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Registro de usuario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87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RF-01: Registro de usuario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2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87" u="none">
                          <a:solidFill>
                            <a:srgbClr val="D9770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CP-02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87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Inicio de sesión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87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RF-02: Inicio de sesión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2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87" u="none">
                          <a:solidFill>
                            <a:srgbClr val="D9770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CP-03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87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Consulta y búsqueda de productos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87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RF-04: Consulta de productos;</a:t>
                      </a:r>
                      <a:r>
                        <a:rPr b="0" i="0" lang="en-US" sz="787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b="0" i="0" lang="en-US" sz="787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RF-05: Búsqueda; RF-06: Filtrado por categoría</a:t>
                      </a:r>
                      <a:r>
                        <a:rPr b="0" i="0" lang="en-US" sz="787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; </a:t>
                      </a:r>
                      <a:r>
                        <a:rPr b="0" i="0" lang="en-US" sz="787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RF-07: Detalle del producto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2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87" u="none">
                          <a:solidFill>
                            <a:srgbClr val="D9770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CP-04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87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Gestión del carrito y cálculo del total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87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RF-08: Agregar productos al carrito; RF-09: Modificar cantidades; RF-10: Eliminar productos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2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87" u="none">
                          <a:solidFill>
                            <a:srgbClr val="D9770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CP-05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87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Realización de compra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87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RF-11: Realizar compra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2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87" u="none">
                          <a:solidFill>
                            <a:srgbClr val="D9770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CP-06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87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Consulta del historial de compras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87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RF-12: Consultar historial de compras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2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87" u="none">
                          <a:solidFill>
                            <a:srgbClr val="D9770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CP-07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87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Gestión de productos por administrador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87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RF-13: Crear productos; RF-14: Consultar y modificar; RF-15: Eliminar productos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2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87" u="none">
                          <a:solidFill>
                            <a:srgbClr val="D9770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CP-08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87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Recuperación de contraseña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87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RF-17: Recuperación de contraseña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p18"/>
          <p:cNvSpPr txBox="1"/>
          <p:nvPr/>
        </p:nvSpPr>
        <p:spPr>
          <a:xfrm>
            <a:off x="533400" y="381000"/>
            <a:ext cx="11658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ASEGURAMIENTO DE CALIDAD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533400" y="552450"/>
            <a:ext cx="116586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Plan de pruebas funcionales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723900" y="6221759"/>
            <a:ext cx="1146810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Nota: “Los casos de prueba están documentados. Su ejecución y registro de resultados se realizarán durante la etapa de QA, según la planificación del proyecto”.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"/>
          <p:cNvSpPr/>
          <p:nvPr/>
        </p:nvSpPr>
        <p:spPr>
          <a:xfrm>
            <a:off x="533400" y="2300287"/>
            <a:ext cx="6538019" cy="847725"/>
          </a:xfrm>
          <a:prstGeom prst="roundRect">
            <a:avLst>
              <a:gd fmla="val 8988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533400" y="3424237"/>
            <a:ext cx="6538019" cy="847725"/>
          </a:xfrm>
          <a:prstGeom prst="roundRect">
            <a:avLst>
              <a:gd fmla="val 8988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533400" y="4548187"/>
            <a:ext cx="6538019" cy="847725"/>
          </a:xfrm>
          <a:prstGeom prst="roundRect">
            <a:avLst>
              <a:gd fmla="val 8988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7300100" y="2876631"/>
            <a:ext cx="4358700" cy="742800"/>
          </a:xfrm>
          <a:prstGeom prst="roundRect">
            <a:avLst>
              <a:gd fmla="val 1481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7300082" y="3849400"/>
            <a:ext cx="4358700" cy="514500"/>
          </a:xfrm>
          <a:prstGeom prst="roundRect">
            <a:avLst>
              <a:gd fmla="val 1481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7300019" y="4681537"/>
            <a:ext cx="4358580" cy="514350"/>
          </a:xfrm>
          <a:prstGeom prst="roundRect">
            <a:avLst>
              <a:gd fmla="val 14814" name="adj"/>
            </a:avLst>
          </a:prstGeom>
          <a:solidFill>
            <a:srgbClr val="FFFBEB"/>
          </a:solidFill>
          <a:ln cap="flat" cmpd="sng" w="9525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7300019" y="5962650"/>
            <a:ext cx="4358580" cy="514350"/>
          </a:xfrm>
          <a:prstGeom prst="roundRect">
            <a:avLst>
              <a:gd fmla="val 1481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0" name="Google Shape;24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8994" y="2609850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0022" y="3224212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4694" y="37338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0022" y="4348162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90419" y="48577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306175" y="6134100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43032" y="3028900"/>
            <a:ext cx="1524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42957" y="3973225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42894" y="4805362"/>
            <a:ext cx="14287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9"/>
          <p:cNvSpPr txBox="1"/>
          <p:nvPr/>
        </p:nvSpPr>
        <p:spPr>
          <a:xfrm>
            <a:off x="533400" y="381000"/>
            <a:ext cx="11658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ARQUITECTURA DE SOFTWARE</a:t>
            </a:r>
            <a:endParaRPr/>
          </a:p>
        </p:txBody>
      </p:sp>
      <p:sp>
        <p:nvSpPr>
          <p:cNvPr id="250" name="Google Shape;250;p19"/>
          <p:cNvSpPr txBox="1"/>
          <p:nvPr/>
        </p:nvSpPr>
        <p:spPr>
          <a:xfrm>
            <a:off x="533400" y="552450"/>
            <a:ext cx="11658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Arquitectura del sistema y tecnologías</a:t>
            </a:r>
            <a:endParaRPr/>
          </a:p>
        </p:txBody>
      </p:sp>
      <p:sp>
        <p:nvSpPr>
          <p:cNvPr id="251" name="Google Shape;251;p19"/>
          <p:cNvSpPr txBox="1"/>
          <p:nvPr/>
        </p:nvSpPr>
        <p:spPr>
          <a:xfrm>
            <a:off x="533400" y="914400"/>
            <a:ext cx="11658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El Modelo 4+1 describe el sistema desde múltiples perspectivas arquitectónicas (Lógica, Desarrollo, Procesos, Física y Escenarios).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7264375" y="2351784"/>
            <a:ext cx="4892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SERVICIOS EXTERNOS INTEGRADOS</a:t>
            </a:r>
            <a:endParaRPr/>
          </a:p>
        </p:txBody>
      </p:sp>
      <p:sp>
        <p:nvSpPr>
          <p:cNvPr id="253" name="Google Shape;253;p19"/>
          <p:cNvSpPr txBox="1"/>
          <p:nvPr/>
        </p:nvSpPr>
        <p:spPr>
          <a:xfrm>
            <a:off x="714375" y="2443162"/>
            <a:ext cx="2457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CAPA DE PRESENTACIÓN</a:t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714375" y="3567112"/>
            <a:ext cx="204787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BACKEND &amp; API REST</a:t>
            </a:r>
            <a:endParaRPr/>
          </a:p>
        </p:txBody>
      </p:sp>
      <p:sp>
        <p:nvSpPr>
          <p:cNvPr id="255" name="Google Shape;255;p19"/>
          <p:cNvSpPr txBox="1"/>
          <p:nvPr/>
        </p:nvSpPr>
        <p:spPr>
          <a:xfrm>
            <a:off x="714375" y="4691062"/>
            <a:ext cx="19145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BASE DE DATOS</a:t>
            </a:r>
            <a:endParaRPr/>
          </a:p>
        </p:txBody>
      </p:sp>
      <p:sp>
        <p:nvSpPr>
          <p:cNvPr id="256" name="Google Shape;256;p19"/>
          <p:cNvSpPr txBox="1"/>
          <p:nvPr/>
        </p:nvSpPr>
        <p:spPr>
          <a:xfrm>
            <a:off x="7443032" y="3009850"/>
            <a:ext cx="4749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Cloudinary</a:t>
            </a:r>
            <a:endParaRPr/>
          </a:p>
        </p:txBody>
      </p:sp>
      <p:sp>
        <p:nvSpPr>
          <p:cNvPr id="257" name="Google Shape;257;p19"/>
          <p:cNvSpPr txBox="1"/>
          <p:nvPr/>
        </p:nvSpPr>
        <p:spPr>
          <a:xfrm>
            <a:off x="7443032" y="3181300"/>
            <a:ext cx="4749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Almacenamiento de imágenes</a:t>
            </a:r>
            <a:endParaRPr/>
          </a:p>
        </p:txBody>
      </p:sp>
      <p:sp>
        <p:nvSpPr>
          <p:cNvPr id="258" name="Google Shape;258;p19"/>
          <p:cNvSpPr txBox="1"/>
          <p:nvPr/>
        </p:nvSpPr>
        <p:spPr>
          <a:xfrm>
            <a:off x="7442957" y="3954175"/>
            <a:ext cx="4749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Google Cloud</a:t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7442957" y="4125625"/>
            <a:ext cx="4749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Recuperación de contraseña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7442894" y="4786312"/>
            <a:ext cx="474910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Mercado Pago Sandbox</a:t>
            </a:r>
            <a:endParaRPr/>
          </a:p>
        </p:txBody>
      </p:sp>
      <p:sp>
        <p:nvSpPr>
          <p:cNvPr id="261" name="Google Shape;261;p19"/>
          <p:cNvSpPr txBox="1"/>
          <p:nvPr/>
        </p:nvSpPr>
        <p:spPr>
          <a:xfrm>
            <a:off x="7442894" y="4957762"/>
            <a:ext cx="474910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Simulación de pagos en prueba</a:t>
            </a:r>
            <a:endParaRPr/>
          </a:p>
        </p:txBody>
      </p:sp>
      <p:sp>
        <p:nvSpPr>
          <p:cNvPr id="262" name="Google Shape;262;p19"/>
          <p:cNvSpPr txBox="1"/>
          <p:nvPr/>
        </p:nvSpPr>
        <p:spPr>
          <a:xfrm>
            <a:off x="714375" y="2652712"/>
            <a:ext cx="2952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Sitio Web + App Móvil</a:t>
            </a:r>
            <a:endParaRPr/>
          </a:p>
        </p:txBody>
      </p:sp>
      <p:sp>
        <p:nvSpPr>
          <p:cNvPr id="263" name="Google Shape;263;p19"/>
          <p:cNvSpPr txBox="1"/>
          <p:nvPr/>
        </p:nvSpPr>
        <p:spPr>
          <a:xfrm>
            <a:off x="714375" y="2862262"/>
            <a:ext cx="29527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Ionic • Angular • Capacitor • HTML/CSS/JS</a:t>
            </a:r>
            <a:endParaRPr/>
          </a:p>
        </p:txBody>
      </p:sp>
      <p:sp>
        <p:nvSpPr>
          <p:cNvPr id="264" name="Google Shape;264;p19"/>
          <p:cNvSpPr txBox="1"/>
          <p:nvPr/>
        </p:nvSpPr>
        <p:spPr>
          <a:xfrm>
            <a:off x="714375" y="3776662"/>
            <a:ext cx="244078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Python + Django + DRF</a:t>
            </a:r>
            <a:endParaRPr/>
          </a:p>
        </p:txBody>
      </p:sp>
      <p:sp>
        <p:nvSpPr>
          <p:cNvPr id="265" name="Google Shape;265;p19"/>
          <p:cNvSpPr txBox="1"/>
          <p:nvPr/>
        </p:nvSpPr>
        <p:spPr>
          <a:xfrm>
            <a:off x="714375" y="3986212"/>
            <a:ext cx="244078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Lógica de negocio y endpoints REST</a:t>
            </a:r>
            <a:endParaRPr/>
          </a:p>
        </p:txBody>
      </p:sp>
      <p:sp>
        <p:nvSpPr>
          <p:cNvPr id="266" name="Google Shape;266;p19"/>
          <p:cNvSpPr txBox="1"/>
          <p:nvPr/>
        </p:nvSpPr>
        <p:spPr>
          <a:xfrm>
            <a:off x="714375" y="4900612"/>
            <a:ext cx="227409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PostgreSQL en Neon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714375" y="5110162"/>
            <a:ext cx="227409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Persistencia relacional serverless</a:t>
            </a:r>
            <a:endParaRPr/>
          </a:p>
        </p:txBody>
      </p:sp>
      <p:sp>
        <p:nvSpPr>
          <p:cNvPr id="268" name="Google Shape;268;p19"/>
          <p:cNvSpPr txBox="1"/>
          <p:nvPr/>
        </p:nvSpPr>
        <p:spPr>
          <a:xfrm>
            <a:off x="7433369" y="6076950"/>
            <a:ext cx="16192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DESPLIEGUE PLANIFICADO</a:t>
            </a:r>
            <a:endParaRPr/>
          </a:p>
        </p:txBody>
      </p:sp>
      <p:sp>
        <p:nvSpPr>
          <p:cNvPr id="269" name="Google Shape;269;p19"/>
          <p:cNvSpPr txBox="1"/>
          <p:nvPr/>
        </p:nvSpPr>
        <p:spPr>
          <a:xfrm>
            <a:off x="7433369" y="6210300"/>
            <a:ext cx="1619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Render (Cloud)</a:t>
            </a:r>
            <a:endParaRPr/>
          </a:p>
        </p:txBody>
      </p:sp>
      <p:sp>
        <p:nvSpPr>
          <p:cNvPr id="270" name="Google Shape;270;p19"/>
          <p:cNvSpPr/>
          <p:nvPr/>
        </p:nvSpPr>
        <p:spPr>
          <a:xfrm>
            <a:off x="486600" y="1231138"/>
            <a:ext cx="2103000" cy="714300"/>
          </a:xfrm>
          <a:prstGeom prst="roundRect">
            <a:avLst>
              <a:gd fmla="val 1066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2703990" y="1231138"/>
            <a:ext cx="2103000" cy="714300"/>
          </a:xfrm>
          <a:prstGeom prst="roundRect">
            <a:avLst>
              <a:gd fmla="val 1066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921380" y="1231138"/>
            <a:ext cx="2103000" cy="714300"/>
          </a:xfrm>
          <a:prstGeom prst="roundRect">
            <a:avLst>
              <a:gd fmla="val 1066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7138770" y="1231138"/>
            <a:ext cx="2103000" cy="714300"/>
          </a:xfrm>
          <a:prstGeom prst="roundRect">
            <a:avLst>
              <a:gd fmla="val 1066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9356160" y="1231138"/>
            <a:ext cx="2103000" cy="714300"/>
          </a:xfrm>
          <a:prstGeom prst="roundRect">
            <a:avLst>
              <a:gd fmla="val 1066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486600" y="1231138"/>
            <a:ext cx="9600" cy="7143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2580165" y="1231138"/>
            <a:ext cx="9600" cy="7143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2703990" y="1231138"/>
            <a:ext cx="9600" cy="7143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4797555" y="1231138"/>
            <a:ext cx="9600" cy="7143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9"/>
          <p:cNvSpPr/>
          <p:nvPr/>
        </p:nvSpPr>
        <p:spPr>
          <a:xfrm>
            <a:off x="4921380" y="1231138"/>
            <a:ext cx="9600" cy="7143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7014945" y="1231138"/>
            <a:ext cx="9600" cy="7143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7138770" y="1231138"/>
            <a:ext cx="9600" cy="7143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9232335" y="1231138"/>
            <a:ext cx="9600" cy="7143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9"/>
          <p:cNvSpPr/>
          <p:nvPr/>
        </p:nvSpPr>
        <p:spPr>
          <a:xfrm>
            <a:off x="9356160" y="1231138"/>
            <a:ext cx="9600" cy="7143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 txBox="1"/>
          <p:nvPr/>
        </p:nvSpPr>
        <p:spPr>
          <a:xfrm>
            <a:off x="610425" y="1374013"/>
            <a:ext cx="231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Vista Lógica</a:t>
            </a:r>
            <a:endParaRPr/>
          </a:p>
        </p:txBody>
      </p:sp>
      <p:sp>
        <p:nvSpPr>
          <p:cNvPr id="285" name="Google Shape;285;p19"/>
          <p:cNvSpPr txBox="1"/>
          <p:nvPr/>
        </p:nvSpPr>
        <p:spPr>
          <a:xfrm>
            <a:off x="610425" y="1554988"/>
            <a:ext cx="1950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Usuarios, Productos, Categorías, Stock, Carrito y Compras.</a:t>
            </a:r>
            <a:endParaRPr/>
          </a:p>
        </p:txBody>
      </p:sp>
      <p:sp>
        <p:nvSpPr>
          <p:cNvPr id="286" name="Google Shape;286;p19"/>
          <p:cNvSpPr txBox="1"/>
          <p:nvPr/>
        </p:nvSpPr>
        <p:spPr>
          <a:xfrm>
            <a:off x="2827815" y="1374013"/>
            <a:ext cx="231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Vista Desarrollo</a:t>
            </a:r>
            <a:endParaRPr/>
          </a:p>
        </p:txBody>
      </p:sp>
      <p:sp>
        <p:nvSpPr>
          <p:cNvPr id="287" name="Google Shape;287;p19"/>
          <p:cNvSpPr txBox="1"/>
          <p:nvPr/>
        </p:nvSpPr>
        <p:spPr>
          <a:xfrm>
            <a:off x="2827815" y="1554988"/>
            <a:ext cx="1950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Presentación → Lógica → Datos → Servicios externos.</a:t>
            </a:r>
            <a:endParaRPr/>
          </a:p>
        </p:txBody>
      </p:sp>
      <p:sp>
        <p:nvSpPr>
          <p:cNvPr id="288" name="Google Shape;288;p19"/>
          <p:cNvSpPr txBox="1"/>
          <p:nvPr/>
        </p:nvSpPr>
        <p:spPr>
          <a:xfrm>
            <a:off x="5045205" y="1374013"/>
            <a:ext cx="231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Vista Procesos</a:t>
            </a:r>
            <a:endParaRPr/>
          </a:p>
        </p:txBody>
      </p:sp>
      <p:sp>
        <p:nvSpPr>
          <p:cNvPr id="289" name="Google Shape;289;p19"/>
          <p:cNvSpPr txBox="1"/>
          <p:nvPr/>
        </p:nvSpPr>
        <p:spPr>
          <a:xfrm>
            <a:off x="5045205" y="1554988"/>
            <a:ext cx="1950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Web/Móvil → API REST → Lógica de negocio → Datos.</a:t>
            </a:r>
            <a:endParaRPr/>
          </a:p>
        </p:txBody>
      </p:sp>
      <p:sp>
        <p:nvSpPr>
          <p:cNvPr id="290" name="Google Shape;290;p19"/>
          <p:cNvSpPr txBox="1"/>
          <p:nvPr/>
        </p:nvSpPr>
        <p:spPr>
          <a:xfrm>
            <a:off x="7262595" y="1374013"/>
            <a:ext cx="231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333EA"/>
                </a:solidFill>
                <a:latin typeface="Inter"/>
                <a:ea typeface="Inter"/>
                <a:cs typeface="Inter"/>
                <a:sym typeface="Inter"/>
              </a:rPr>
              <a:t>Vista Física</a:t>
            </a:r>
            <a:endParaRPr/>
          </a:p>
        </p:txBody>
      </p:sp>
      <p:sp>
        <p:nvSpPr>
          <p:cNvPr id="291" name="Google Shape;291;p19"/>
          <p:cNvSpPr txBox="1"/>
          <p:nvPr/>
        </p:nvSpPr>
        <p:spPr>
          <a:xfrm>
            <a:off x="7262595" y="1554988"/>
            <a:ext cx="1950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Dispositivos → Infraestructura cloud → BD Neon.</a:t>
            </a:r>
            <a:endParaRPr/>
          </a:p>
        </p:txBody>
      </p:sp>
      <p:sp>
        <p:nvSpPr>
          <p:cNvPr id="292" name="Google Shape;292;p19"/>
          <p:cNvSpPr txBox="1"/>
          <p:nvPr/>
        </p:nvSpPr>
        <p:spPr>
          <a:xfrm>
            <a:off x="9479985" y="1374013"/>
            <a:ext cx="2319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Escenarios (+1)</a:t>
            </a:r>
            <a:endParaRPr/>
          </a:p>
        </p:txBody>
      </p:sp>
      <p:sp>
        <p:nvSpPr>
          <p:cNvPr id="293" name="Google Shape;293;p19"/>
          <p:cNvSpPr txBox="1"/>
          <p:nvPr/>
        </p:nvSpPr>
        <p:spPr>
          <a:xfrm>
            <a:off x="9479985" y="1554988"/>
            <a:ext cx="1950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Registro, consulta productos, carrito y compras.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0"/>
          <p:cNvSpPr/>
          <p:nvPr/>
        </p:nvSpPr>
        <p:spPr>
          <a:xfrm>
            <a:off x="533400" y="6143625"/>
            <a:ext cx="11125200" cy="3333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533400" y="6143625"/>
            <a:ext cx="38100" cy="33337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0" name="Google Shape;300;p20"/>
          <p:cNvGraphicFramePr/>
          <p:nvPr/>
        </p:nvGraphicFramePr>
        <p:xfrm>
          <a:off x="533400" y="96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{69C04030-0E24-4EC0-82AB-F02A076B03FA}</a:tableStyleId>
              </a:tblPr>
              <a:tblGrid>
                <a:gridCol w="2000250"/>
                <a:gridCol w="904875"/>
                <a:gridCol w="762000"/>
                <a:gridCol w="7458075"/>
              </a:tblGrid>
              <a:tr h="5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50" u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Riesgo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50" u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Probabilidad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50" u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Impacto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50" u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Mitigación o respuesta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b="1" lang="en-US" sz="750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Retrasos en integración Web, Móvil y API REST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50" u="none">
                          <a:solidFill>
                            <a:srgbClr val="B4530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50" u="none">
                          <a:solidFill>
                            <a:srgbClr val="DC262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7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Probar endpoints e integración por etapas secuenciales.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63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50" u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Problemas de integración con la API REST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50" u="none">
                          <a:solidFill>
                            <a:srgbClr val="B4530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50" u="none">
                          <a:solidFill>
                            <a:srgbClr val="DC262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50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Verificar contratos de API y realizar pruebas de integración continuas.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Errores en el cálculo del carrito y checkout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50" u="none">
                          <a:solidFill>
                            <a:srgbClr val="B4530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50" u="none">
                          <a:solidFill>
                            <a:srgbClr val="DC262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Realizar pruebas con datos controlados y verificar totales.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Inconsistencias en la base de datos PostgreSQL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50" u="none">
                          <a:solidFill>
                            <a:srgbClr val="B4530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n-US" sz="750">
                          <a:solidFill>
                            <a:srgbClr val="DC262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Validar relaciones, restricciones y operaciones de persistencia.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50" u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Problemas con los pagos de prueba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50" u="none">
                          <a:solidFill>
                            <a:srgbClr val="B4530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50" u="none">
                          <a:solidFill>
                            <a:srgbClr val="DC262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50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Validar las respuestas de Mercado Pago Sandbox antes de la integración final.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50" u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Ausencia de un integrante del equipo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50" u="non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Baja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50" u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50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Mantener documentación compartida y distribuir la información del proyecto.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50" u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Conflictos o pérdida de cambios en GitHub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50" u="none">
                          <a:solidFill>
                            <a:srgbClr val="B4530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50" u="none">
                          <a:solidFill>
                            <a:srgbClr val="DC262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50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Realizar commits frecuentes y revisar cambios antes de integrarlos.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01" name="Google Shape;301;p20"/>
          <p:cNvSpPr txBox="1"/>
          <p:nvPr/>
        </p:nvSpPr>
        <p:spPr>
          <a:xfrm>
            <a:off x="533400" y="381000"/>
            <a:ext cx="11658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CONTROL DE PROYECTO</a:t>
            </a:r>
            <a:endParaRPr/>
          </a:p>
        </p:txBody>
      </p:sp>
      <p:sp>
        <p:nvSpPr>
          <p:cNvPr id="302" name="Google Shape;302;p20"/>
          <p:cNvSpPr txBox="1"/>
          <p:nvPr/>
        </p:nvSpPr>
        <p:spPr>
          <a:xfrm>
            <a:off x="533400" y="552450"/>
            <a:ext cx="116586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Gestión de riesgos del proyecto</a:t>
            </a:r>
            <a:endParaRPr/>
          </a:p>
        </p:txBody>
      </p:sp>
      <p:sp>
        <p:nvSpPr>
          <p:cNvPr id="303" name="Google Shape;303;p20"/>
          <p:cNvSpPr txBox="1"/>
          <p:nvPr/>
        </p:nvSpPr>
        <p:spPr>
          <a:xfrm>
            <a:off x="723900" y="6238875"/>
            <a:ext cx="114681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Nota: Estos riesgos potenciales han sido identificados para su prevención y control continuo durante la ejecución del proyecto.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1"/>
          <p:cNvSpPr/>
          <p:nvPr/>
        </p:nvSpPr>
        <p:spPr>
          <a:xfrm>
            <a:off x="571400" y="6380725"/>
            <a:ext cx="11049000" cy="400200"/>
          </a:xfrm>
          <a:prstGeom prst="roundRect">
            <a:avLst>
              <a:gd fmla="val 1904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9" name="Google Shape;3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0813" y="3071812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1538" y="3071812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47187" y="3071812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1"/>
          <p:cNvSpPr txBox="1"/>
          <p:nvPr/>
        </p:nvSpPr>
        <p:spPr>
          <a:xfrm>
            <a:off x="571500" y="419100"/>
            <a:ext cx="11620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EVIDENCIA VISUAL</a:t>
            </a:r>
            <a:endParaRPr/>
          </a:p>
        </p:txBody>
      </p:sp>
      <p:sp>
        <p:nvSpPr>
          <p:cNvPr id="313" name="Google Shape;313;p21"/>
          <p:cNvSpPr txBox="1"/>
          <p:nvPr/>
        </p:nvSpPr>
        <p:spPr>
          <a:xfrm>
            <a:off x="571500" y="590550"/>
            <a:ext cx="11620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Avances de la aplicación móvil</a:t>
            </a:r>
            <a:endParaRPr/>
          </a:p>
        </p:txBody>
      </p:sp>
      <p:sp>
        <p:nvSpPr>
          <p:cNvPr id="314" name="Google Shape;314;p21"/>
          <p:cNvSpPr txBox="1"/>
          <p:nvPr/>
        </p:nvSpPr>
        <p:spPr>
          <a:xfrm>
            <a:off x="-279896" y="6504550"/>
            <a:ext cx="12751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Interfaces desarrolladas con Ionic, Angular y Capacitor para la plataforma móvil de FerreMundo.</a:t>
            </a:r>
            <a:endParaRPr/>
          </a:p>
        </p:txBody>
      </p:sp>
      <p:sp>
        <p:nvSpPr>
          <p:cNvPr id="315" name="Google Shape;315;p21"/>
          <p:cNvSpPr txBox="1"/>
          <p:nvPr/>
        </p:nvSpPr>
        <p:spPr>
          <a:xfrm>
            <a:off x="1730275" y="3509962"/>
            <a:ext cx="1238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[ CAPTURA ]</a:t>
            </a:r>
            <a:endParaRPr/>
          </a:p>
        </p:txBody>
      </p:sp>
      <p:sp>
        <p:nvSpPr>
          <p:cNvPr id="316" name="Google Shape;316;p21"/>
          <p:cNvSpPr txBox="1"/>
          <p:nvPr/>
        </p:nvSpPr>
        <p:spPr>
          <a:xfrm>
            <a:off x="1696938" y="3738562"/>
            <a:ext cx="13049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Inicio de sesión</a:t>
            </a:r>
            <a:endParaRPr/>
          </a:p>
        </p:txBody>
      </p:sp>
      <p:sp>
        <p:nvSpPr>
          <p:cNvPr id="317" name="Google Shape;317;p21"/>
          <p:cNvSpPr txBox="1"/>
          <p:nvPr/>
        </p:nvSpPr>
        <p:spPr>
          <a:xfrm>
            <a:off x="5476726" y="3683911"/>
            <a:ext cx="1238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[ CAPTURA ]</a:t>
            </a:r>
            <a:endParaRPr/>
          </a:p>
        </p:txBody>
      </p:sp>
      <p:sp>
        <p:nvSpPr>
          <p:cNvPr id="318" name="Google Shape;318;p21"/>
          <p:cNvSpPr txBox="1"/>
          <p:nvPr/>
        </p:nvSpPr>
        <p:spPr>
          <a:xfrm>
            <a:off x="5161210" y="3928374"/>
            <a:ext cx="1869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Catálogo de productos</a:t>
            </a:r>
            <a:endParaRPr/>
          </a:p>
        </p:txBody>
      </p:sp>
      <p:sp>
        <p:nvSpPr>
          <p:cNvPr id="319" name="Google Shape;319;p21"/>
          <p:cNvSpPr txBox="1"/>
          <p:nvPr/>
        </p:nvSpPr>
        <p:spPr>
          <a:xfrm>
            <a:off x="9223325" y="3509962"/>
            <a:ext cx="1238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[ CAPTURA ]</a:t>
            </a:r>
            <a:endParaRPr/>
          </a:p>
        </p:txBody>
      </p:sp>
      <p:sp>
        <p:nvSpPr>
          <p:cNvPr id="320" name="Google Shape;320;p21"/>
          <p:cNvSpPr txBox="1"/>
          <p:nvPr/>
        </p:nvSpPr>
        <p:spPr>
          <a:xfrm>
            <a:off x="8764934" y="3738562"/>
            <a:ext cx="2155031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Gestión de carrito / Detalle</a:t>
            </a:r>
            <a:endParaRPr/>
          </a:p>
        </p:txBody>
      </p:sp>
      <p:pic>
        <p:nvPicPr>
          <p:cNvPr id="321" name="Google Shape;32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7750" y="1003175"/>
            <a:ext cx="3343275" cy="537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81750" y="1003175"/>
            <a:ext cx="3723400" cy="5377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58350" y="1003175"/>
            <a:ext cx="3786075" cy="5087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2"/>
          <p:cNvSpPr/>
          <p:nvPr/>
        </p:nvSpPr>
        <p:spPr>
          <a:xfrm>
            <a:off x="571400" y="6380725"/>
            <a:ext cx="11049000" cy="400200"/>
          </a:xfrm>
          <a:prstGeom prst="roundRect">
            <a:avLst>
              <a:gd fmla="val 1904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9" name="Google Shape;3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0813" y="3071812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47187" y="3071812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2"/>
          <p:cNvSpPr txBox="1"/>
          <p:nvPr/>
        </p:nvSpPr>
        <p:spPr>
          <a:xfrm>
            <a:off x="571500" y="419100"/>
            <a:ext cx="11620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EVIDENCIA VISUAL</a:t>
            </a:r>
            <a:endParaRPr/>
          </a:p>
        </p:txBody>
      </p:sp>
      <p:sp>
        <p:nvSpPr>
          <p:cNvPr id="332" name="Google Shape;332;p22"/>
          <p:cNvSpPr txBox="1"/>
          <p:nvPr/>
        </p:nvSpPr>
        <p:spPr>
          <a:xfrm>
            <a:off x="571500" y="590550"/>
            <a:ext cx="1162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Avances d</a:t>
            </a:r>
            <a:r>
              <a:rPr b="1" lang="en-US" sz="2100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el Sitio Web</a:t>
            </a:r>
            <a:endParaRPr/>
          </a:p>
        </p:txBody>
      </p:sp>
      <p:sp>
        <p:nvSpPr>
          <p:cNvPr id="333" name="Google Shape;333;p22"/>
          <p:cNvSpPr txBox="1"/>
          <p:nvPr/>
        </p:nvSpPr>
        <p:spPr>
          <a:xfrm>
            <a:off x="-279896" y="6504550"/>
            <a:ext cx="12751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Interfaces desarrolladas con Ionic, Angular y Capacitor para la plataforma móvil de FerreMundo.</a:t>
            </a:r>
            <a:endParaRPr/>
          </a:p>
        </p:txBody>
      </p:sp>
      <p:sp>
        <p:nvSpPr>
          <p:cNvPr id="334" name="Google Shape;334;p22"/>
          <p:cNvSpPr txBox="1"/>
          <p:nvPr/>
        </p:nvSpPr>
        <p:spPr>
          <a:xfrm>
            <a:off x="1730275" y="3509962"/>
            <a:ext cx="123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[ CAPTURA ]</a:t>
            </a:r>
            <a:endParaRPr/>
          </a:p>
        </p:txBody>
      </p:sp>
      <p:sp>
        <p:nvSpPr>
          <p:cNvPr id="335" name="Google Shape;335;p22"/>
          <p:cNvSpPr txBox="1"/>
          <p:nvPr/>
        </p:nvSpPr>
        <p:spPr>
          <a:xfrm>
            <a:off x="1696938" y="3738562"/>
            <a:ext cx="13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Inicio de sesión</a:t>
            </a:r>
            <a:endParaRPr/>
          </a:p>
        </p:txBody>
      </p:sp>
      <p:sp>
        <p:nvSpPr>
          <p:cNvPr id="336" name="Google Shape;336;p22"/>
          <p:cNvSpPr txBox="1"/>
          <p:nvPr/>
        </p:nvSpPr>
        <p:spPr>
          <a:xfrm>
            <a:off x="9223325" y="3509962"/>
            <a:ext cx="123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[ CAPTURA ]</a:t>
            </a:r>
            <a:endParaRPr/>
          </a:p>
        </p:txBody>
      </p:sp>
      <p:sp>
        <p:nvSpPr>
          <p:cNvPr id="337" name="Google Shape;337;p22"/>
          <p:cNvSpPr txBox="1"/>
          <p:nvPr/>
        </p:nvSpPr>
        <p:spPr>
          <a:xfrm>
            <a:off x="8764934" y="3738562"/>
            <a:ext cx="2154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Gestión de carrito / Detalle</a:t>
            </a:r>
            <a:endParaRPr/>
          </a:p>
        </p:txBody>
      </p:sp>
      <p:pic>
        <p:nvPicPr>
          <p:cNvPr id="338" name="Google Shape;33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4150" y="1531350"/>
            <a:ext cx="5508376" cy="3692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85500" y="1531350"/>
            <a:ext cx="5311876" cy="369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3"/>
          <p:cNvSpPr/>
          <p:nvPr/>
        </p:nvSpPr>
        <p:spPr>
          <a:xfrm>
            <a:off x="609600" y="6419850"/>
            <a:ext cx="109728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3"/>
          <p:cNvSpPr/>
          <p:nvPr/>
        </p:nvSpPr>
        <p:spPr>
          <a:xfrm>
            <a:off x="9610725" y="361950"/>
            <a:ext cx="1971600" cy="238200"/>
          </a:xfrm>
          <a:prstGeom prst="roundRect">
            <a:avLst>
              <a:gd fmla="val 24000" name="adj"/>
            </a:avLst>
          </a:prstGeom>
          <a:solidFill>
            <a:srgbClr val="FEF3C7"/>
          </a:solidFill>
          <a:ln cap="flat" cmpd="sng" w="9525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3"/>
          <p:cNvSpPr/>
          <p:nvPr/>
        </p:nvSpPr>
        <p:spPr>
          <a:xfrm>
            <a:off x="609600" y="6419850"/>
            <a:ext cx="109728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3"/>
          <p:cNvSpPr/>
          <p:nvPr/>
        </p:nvSpPr>
        <p:spPr>
          <a:xfrm>
            <a:off x="609600" y="828675"/>
            <a:ext cx="5881200" cy="838200"/>
          </a:xfrm>
          <a:prstGeom prst="roundRect">
            <a:avLst>
              <a:gd fmla="val 11363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3"/>
          <p:cNvSpPr/>
          <p:nvPr/>
        </p:nvSpPr>
        <p:spPr>
          <a:xfrm>
            <a:off x="6681341" y="1095375"/>
            <a:ext cx="4901100" cy="1147800"/>
          </a:xfrm>
          <a:prstGeom prst="roundRect">
            <a:avLst>
              <a:gd fmla="val 663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3"/>
          <p:cNvSpPr/>
          <p:nvPr/>
        </p:nvSpPr>
        <p:spPr>
          <a:xfrm>
            <a:off x="6681341" y="2357437"/>
            <a:ext cx="4901100" cy="1147800"/>
          </a:xfrm>
          <a:prstGeom prst="roundRect">
            <a:avLst>
              <a:gd fmla="val 663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3"/>
          <p:cNvSpPr/>
          <p:nvPr/>
        </p:nvSpPr>
        <p:spPr>
          <a:xfrm>
            <a:off x="609600" y="828675"/>
            <a:ext cx="57300" cy="838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3"/>
          <p:cNvSpPr/>
          <p:nvPr/>
        </p:nvSpPr>
        <p:spPr>
          <a:xfrm>
            <a:off x="609600" y="1781175"/>
            <a:ext cx="5881200" cy="4619700"/>
          </a:xfrm>
          <a:prstGeom prst="roundRect">
            <a:avLst>
              <a:gd fmla="val 1649" name="adj"/>
            </a:avLst>
          </a:prstGeom>
          <a:solidFill>
            <a:srgbClr val="F1F5F9"/>
          </a:solidFill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3"/>
          <p:cNvSpPr/>
          <p:nvPr/>
        </p:nvSpPr>
        <p:spPr>
          <a:xfrm>
            <a:off x="6681341" y="2233612"/>
            <a:ext cx="49011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3"/>
          <p:cNvSpPr/>
          <p:nvPr/>
        </p:nvSpPr>
        <p:spPr>
          <a:xfrm>
            <a:off x="6681341" y="1095375"/>
            <a:ext cx="49011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3"/>
          <p:cNvSpPr/>
          <p:nvPr/>
        </p:nvSpPr>
        <p:spPr>
          <a:xfrm>
            <a:off x="6681341" y="1095375"/>
            <a:ext cx="38100" cy="1147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3"/>
          <p:cNvSpPr/>
          <p:nvPr/>
        </p:nvSpPr>
        <p:spPr>
          <a:xfrm>
            <a:off x="11572875" y="1095375"/>
            <a:ext cx="9600" cy="1147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3"/>
          <p:cNvSpPr/>
          <p:nvPr/>
        </p:nvSpPr>
        <p:spPr>
          <a:xfrm>
            <a:off x="6681341" y="3495675"/>
            <a:ext cx="49011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3"/>
          <p:cNvSpPr/>
          <p:nvPr/>
        </p:nvSpPr>
        <p:spPr>
          <a:xfrm>
            <a:off x="6681341" y="2357437"/>
            <a:ext cx="49011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3"/>
          <p:cNvSpPr/>
          <p:nvPr/>
        </p:nvSpPr>
        <p:spPr>
          <a:xfrm>
            <a:off x="6681341" y="2357437"/>
            <a:ext cx="38100" cy="1147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3"/>
          <p:cNvSpPr/>
          <p:nvPr/>
        </p:nvSpPr>
        <p:spPr>
          <a:xfrm>
            <a:off x="11572875" y="2357437"/>
            <a:ext cx="9600" cy="1147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60" name="Google Shape;3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4408" y="3662362"/>
            <a:ext cx="3714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3"/>
          <p:cNvSpPr txBox="1"/>
          <p:nvPr/>
        </p:nvSpPr>
        <p:spPr>
          <a:xfrm>
            <a:off x="9725025" y="400050"/>
            <a:ext cx="1838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ESTADO DE AVANCE &amp; GITHUB</a:t>
            </a:r>
            <a:endParaRPr/>
          </a:p>
        </p:txBody>
      </p:sp>
      <p:sp>
        <p:nvSpPr>
          <p:cNvPr id="362" name="Google Shape;362;p23"/>
          <p:cNvSpPr txBox="1"/>
          <p:nvPr/>
        </p:nvSpPr>
        <p:spPr>
          <a:xfrm>
            <a:off x="609600" y="6524625"/>
            <a:ext cx="2131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FerreMundo • CAPSTONE_011V</a:t>
            </a:r>
            <a:endParaRPr/>
          </a:p>
        </p:txBody>
      </p:sp>
      <p:sp>
        <p:nvSpPr>
          <p:cNvPr id="363" name="Google Shape;363;p23"/>
          <p:cNvSpPr txBox="1"/>
          <p:nvPr/>
        </p:nvSpPr>
        <p:spPr>
          <a:xfrm>
            <a:off x="9496425" y="6524625"/>
            <a:ext cx="260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Diapositiva 10 — Seguimiento y Equipo</a:t>
            </a:r>
            <a:endParaRPr/>
          </a:p>
        </p:txBody>
      </p:sp>
      <p:sp>
        <p:nvSpPr>
          <p:cNvPr id="364" name="Google Shape;364;p23"/>
          <p:cNvSpPr txBox="1"/>
          <p:nvPr/>
        </p:nvSpPr>
        <p:spPr>
          <a:xfrm>
            <a:off x="609600" y="342900"/>
            <a:ext cx="5819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Seguimiento del Proyecto — Semana 11</a:t>
            </a:r>
            <a:endParaRPr b="1" sz="15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Google Shape;365;p23"/>
          <p:cNvSpPr txBox="1"/>
          <p:nvPr/>
        </p:nvSpPr>
        <p:spPr>
          <a:xfrm>
            <a:off x="6681341" y="828675"/>
            <a:ext cx="5510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APORTES Y RESPONSABILIDADES DEL EQUIPO</a:t>
            </a:r>
            <a:endParaRPr/>
          </a:p>
        </p:txBody>
      </p:sp>
      <p:sp>
        <p:nvSpPr>
          <p:cNvPr id="366" name="Google Shape;366;p23"/>
          <p:cNvSpPr txBox="1"/>
          <p:nvPr/>
        </p:nvSpPr>
        <p:spPr>
          <a:xfrm>
            <a:off x="857250" y="1085850"/>
            <a:ext cx="1866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Estado Global Estimado </a:t>
            </a:r>
            <a:r>
              <a:rPr b="1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Meta de presentación Semana 11</a:t>
            </a:r>
            <a:endParaRPr/>
          </a:p>
        </p:txBody>
      </p:sp>
      <p:sp>
        <p:nvSpPr>
          <p:cNvPr id="367" name="Google Shape;367;p23"/>
          <p:cNvSpPr txBox="1"/>
          <p:nvPr/>
        </p:nvSpPr>
        <p:spPr>
          <a:xfrm>
            <a:off x="5319266" y="981075"/>
            <a:ext cx="981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68 % </a:t>
            </a:r>
            <a:r>
              <a:rPr b="1" i="0" lang="en-US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Avance Solicitado</a:t>
            </a:r>
            <a:endParaRPr/>
          </a:p>
        </p:txBody>
      </p:sp>
      <p:sp>
        <p:nvSpPr>
          <p:cNvPr id="368" name="Google Shape;368;p23"/>
          <p:cNvSpPr txBox="1"/>
          <p:nvPr/>
        </p:nvSpPr>
        <p:spPr>
          <a:xfrm>
            <a:off x="6852791" y="1238250"/>
            <a:ext cx="533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Jonatan Gordillo</a:t>
            </a:r>
            <a:endParaRPr/>
          </a:p>
        </p:txBody>
      </p:sp>
      <p:sp>
        <p:nvSpPr>
          <p:cNvPr id="369" name="Google Shape;369;p23"/>
          <p:cNvSpPr txBox="1"/>
          <p:nvPr/>
        </p:nvSpPr>
        <p:spPr>
          <a:xfrm>
            <a:off x="6852791" y="1419225"/>
            <a:ext cx="5339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Desarrollo y QA</a:t>
            </a:r>
            <a:endParaRPr/>
          </a:p>
        </p:txBody>
      </p:sp>
      <p:sp>
        <p:nvSpPr>
          <p:cNvPr id="370" name="Google Shape;370;p23"/>
          <p:cNvSpPr txBox="1"/>
          <p:nvPr/>
        </p:nvSpPr>
        <p:spPr>
          <a:xfrm>
            <a:off x="6852791" y="2500312"/>
            <a:ext cx="533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Alan Cruz</a:t>
            </a:r>
            <a:endParaRPr/>
          </a:p>
        </p:txBody>
      </p:sp>
      <p:sp>
        <p:nvSpPr>
          <p:cNvPr id="371" name="Google Shape;371;p23"/>
          <p:cNvSpPr txBox="1"/>
          <p:nvPr/>
        </p:nvSpPr>
        <p:spPr>
          <a:xfrm>
            <a:off x="6852791" y="2681287"/>
            <a:ext cx="5339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Jefe de Proyecto</a:t>
            </a:r>
            <a:endParaRPr/>
          </a:p>
        </p:txBody>
      </p:sp>
      <p:sp>
        <p:nvSpPr>
          <p:cNvPr id="372" name="Google Shape;372;p23"/>
          <p:cNvSpPr txBox="1"/>
          <p:nvPr/>
        </p:nvSpPr>
        <p:spPr>
          <a:xfrm>
            <a:off x="847427" y="4157662"/>
            <a:ext cx="540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[ INSERTAR AQUÍ CAPTURA REAL DE GITHUB / COMMITS ]</a:t>
            </a:r>
            <a:endParaRPr/>
          </a:p>
        </p:txBody>
      </p:sp>
      <p:sp>
        <p:nvSpPr>
          <p:cNvPr id="373" name="Google Shape;373;p23"/>
          <p:cNvSpPr txBox="1"/>
          <p:nvPr/>
        </p:nvSpPr>
        <p:spPr>
          <a:xfrm>
            <a:off x="1716583" y="4386262"/>
            <a:ext cx="36672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Historial de commits y evidencias de desarrollo del equipo</a:t>
            </a:r>
            <a:endParaRPr/>
          </a:p>
        </p:txBody>
      </p:sp>
      <p:sp>
        <p:nvSpPr>
          <p:cNvPr id="374" name="Google Shape;374;p23"/>
          <p:cNvSpPr txBox="1"/>
          <p:nvPr/>
        </p:nvSpPr>
        <p:spPr>
          <a:xfrm>
            <a:off x="6948041" y="1626393"/>
            <a:ext cx="57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5" name="Google Shape;375;p23"/>
          <p:cNvSpPr txBox="1"/>
          <p:nvPr/>
        </p:nvSpPr>
        <p:spPr>
          <a:xfrm>
            <a:off x="7005191" y="1628775"/>
            <a:ext cx="5186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Desarrollo de funcionalidades backend y componentes frontend.</a:t>
            </a:r>
            <a:endParaRPr/>
          </a:p>
        </p:txBody>
      </p:sp>
      <p:sp>
        <p:nvSpPr>
          <p:cNvPr id="376" name="Google Shape;376;p23"/>
          <p:cNvSpPr txBox="1"/>
          <p:nvPr/>
        </p:nvSpPr>
        <p:spPr>
          <a:xfrm>
            <a:off x="6948041" y="1783556"/>
            <a:ext cx="57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7" name="Google Shape;377;p23"/>
          <p:cNvSpPr txBox="1"/>
          <p:nvPr/>
        </p:nvSpPr>
        <p:spPr>
          <a:xfrm>
            <a:off x="7005191" y="1785937"/>
            <a:ext cx="5186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Apoyo en diseño de casos de prueba y verificación QA.</a:t>
            </a:r>
            <a:endParaRPr/>
          </a:p>
        </p:txBody>
      </p:sp>
      <p:sp>
        <p:nvSpPr>
          <p:cNvPr id="378" name="Google Shape;378;p23"/>
          <p:cNvSpPr txBox="1"/>
          <p:nvPr/>
        </p:nvSpPr>
        <p:spPr>
          <a:xfrm>
            <a:off x="6948041" y="1940718"/>
            <a:ext cx="57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9" name="Google Shape;379;p23"/>
          <p:cNvSpPr txBox="1"/>
          <p:nvPr/>
        </p:nvSpPr>
        <p:spPr>
          <a:xfrm>
            <a:off x="7005191" y="1943100"/>
            <a:ext cx="5186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Evidencias de código y avances registrados en commits.</a:t>
            </a:r>
            <a:endParaRPr/>
          </a:p>
        </p:txBody>
      </p:sp>
      <p:sp>
        <p:nvSpPr>
          <p:cNvPr id="380" name="Google Shape;380;p23"/>
          <p:cNvSpPr txBox="1"/>
          <p:nvPr/>
        </p:nvSpPr>
        <p:spPr>
          <a:xfrm>
            <a:off x="6948041" y="2888456"/>
            <a:ext cx="57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81" name="Google Shape;381;p23"/>
          <p:cNvSpPr txBox="1"/>
          <p:nvPr/>
        </p:nvSpPr>
        <p:spPr>
          <a:xfrm>
            <a:off x="7005191" y="2890837"/>
            <a:ext cx="5186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Coordinación general y seguimiento de la Carta Gantt.</a:t>
            </a:r>
            <a:endParaRPr/>
          </a:p>
        </p:txBody>
      </p:sp>
      <p:sp>
        <p:nvSpPr>
          <p:cNvPr id="382" name="Google Shape;382;p23"/>
          <p:cNvSpPr txBox="1"/>
          <p:nvPr/>
        </p:nvSpPr>
        <p:spPr>
          <a:xfrm>
            <a:off x="6948041" y="3045618"/>
            <a:ext cx="57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83" name="Google Shape;383;p23"/>
          <p:cNvSpPr txBox="1"/>
          <p:nvPr/>
        </p:nvSpPr>
        <p:spPr>
          <a:xfrm>
            <a:off x="7005191" y="3048000"/>
            <a:ext cx="5186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Planificación de entregables y organización de tareas.</a:t>
            </a:r>
            <a:endParaRPr/>
          </a:p>
        </p:txBody>
      </p:sp>
      <p:sp>
        <p:nvSpPr>
          <p:cNvPr id="384" name="Google Shape;384;p23"/>
          <p:cNvSpPr txBox="1"/>
          <p:nvPr/>
        </p:nvSpPr>
        <p:spPr>
          <a:xfrm>
            <a:off x="6948041" y="3202781"/>
            <a:ext cx="57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85" name="Google Shape;385;p23"/>
          <p:cNvSpPr txBox="1"/>
          <p:nvPr/>
        </p:nvSpPr>
        <p:spPr>
          <a:xfrm>
            <a:off x="7005191" y="3205162"/>
            <a:ext cx="5186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Gestión de documentación y evidencias del proyecto.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4"/>
          <p:cNvSpPr/>
          <p:nvPr/>
        </p:nvSpPr>
        <p:spPr>
          <a:xfrm>
            <a:off x="966125" y="1225350"/>
            <a:ext cx="5181600" cy="4886400"/>
          </a:xfrm>
          <a:prstGeom prst="roundRect">
            <a:avLst>
              <a:gd fmla="val 233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4"/>
          <p:cNvSpPr/>
          <p:nvPr/>
        </p:nvSpPr>
        <p:spPr>
          <a:xfrm>
            <a:off x="6248475" y="1167975"/>
            <a:ext cx="5181600" cy="5156700"/>
          </a:xfrm>
          <a:prstGeom prst="roundRect">
            <a:avLst>
              <a:gd fmla="val 233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4"/>
          <p:cNvSpPr/>
          <p:nvPr/>
        </p:nvSpPr>
        <p:spPr>
          <a:xfrm>
            <a:off x="1038225" y="1714500"/>
            <a:ext cx="46293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4"/>
          <p:cNvSpPr/>
          <p:nvPr/>
        </p:nvSpPr>
        <p:spPr>
          <a:xfrm>
            <a:off x="6524625" y="1714500"/>
            <a:ext cx="46293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4"/>
          <p:cNvSpPr/>
          <p:nvPr/>
        </p:nvSpPr>
        <p:spPr>
          <a:xfrm>
            <a:off x="1038225" y="2057400"/>
            <a:ext cx="46293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4"/>
          <p:cNvSpPr/>
          <p:nvPr/>
        </p:nvSpPr>
        <p:spPr>
          <a:xfrm>
            <a:off x="6524625" y="2057400"/>
            <a:ext cx="46293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96" name="Google Shape;39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225" y="172402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7" name="Google Shape;39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172402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8" name="Google Shape;39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228600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260032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0" name="Google Shape;40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291465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1" name="Google Shape;40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322897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2" name="Google Shape;40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354330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3" name="Google Shape;40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228600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4" name="Google Shape;40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258127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5" name="Google Shape;40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287655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6" name="Google Shape;40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317182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7" name="Google Shape;40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346710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8" name="Google Shape;40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3762375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4"/>
          <p:cNvSpPr txBox="1"/>
          <p:nvPr/>
        </p:nvSpPr>
        <p:spPr>
          <a:xfrm>
            <a:off x="762000" y="533400"/>
            <a:ext cx="11430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SEGUIMIENTO DEL PROYECTO</a:t>
            </a:r>
            <a:endParaRPr/>
          </a:p>
        </p:txBody>
      </p:sp>
      <p:sp>
        <p:nvSpPr>
          <p:cNvPr id="410" name="Google Shape;410;p24"/>
          <p:cNvSpPr txBox="1"/>
          <p:nvPr/>
        </p:nvSpPr>
        <p:spPr>
          <a:xfrm>
            <a:off x="762000" y="752475"/>
            <a:ext cx="1143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Estado Actual — Semana </a:t>
            </a:r>
            <a:r>
              <a:rPr b="1" lang="en-US" sz="2700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/>
          </a:p>
        </p:txBody>
      </p:sp>
      <p:sp>
        <p:nvSpPr>
          <p:cNvPr id="411" name="Google Shape;411;p24"/>
          <p:cNvSpPr txBox="1"/>
          <p:nvPr/>
        </p:nvSpPr>
        <p:spPr>
          <a:xfrm>
            <a:off x="1343025" y="1714500"/>
            <a:ext cx="315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COMPLETADO / DEFINIDO</a:t>
            </a:r>
            <a:endParaRPr/>
          </a:p>
        </p:txBody>
      </p:sp>
      <p:sp>
        <p:nvSpPr>
          <p:cNvPr id="412" name="Google Shape;412;p24"/>
          <p:cNvSpPr txBox="1"/>
          <p:nvPr/>
        </p:nvSpPr>
        <p:spPr>
          <a:xfrm>
            <a:off x="1038225" y="2266950"/>
            <a:ext cx="57864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Modelo de datos y modelo entidad-relación definidos.</a:t>
            </a:r>
            <a:endParaRPr sz="11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3" name="Google Shape;413;p24"/>
          <p:cNvSpPr txBox="1"/>
          <p:nvPr/>
        </p:nvSpPr>
        <p:spPr>
          <a:xfrm>
            <a:off x="1038225" y="2581275"/>
            <a:ext cx="57864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Casos de uso y arquitectura del sistema documentados.</a:t>
            </a:r>
            <a:endParaRPr sz="11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4" name="Google Shape;414;p24"/>
          <p:cNvSpPr txBox="1"/>
          <p:nvPr/>
        </p:nvSpPr>
        <p:spPr>
          <a:xfrm>
            <a:off x="1038225" y="2895600"/>
            <a:ext cx="57864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Backend Django y API REST desarrollados.</a:t>
            </a:r>
            <a:endParaRPr sz="11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5" name="Google Shape;415;p24"/>
          <p:cNvSpPr txBox="1"/>
          <p:nvPr/>
        </p:nvSpPr>
        <p:spPr>
          <a:xfrm>
            <a:off x="1038225" y="3209925"/>
            <a:ext cx="57864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Casos de prueba documentados.</a:t>
            </a:r>
            <a:endParaRPr sz="11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6" name="Google Shape;416;p24"/>
          <p:cNvSpPr txBox="1"/>
          <p:nvPr/>
        </p:nvSpPr>
        <p:spPr>
          <a:xfrm>
            <a:off x="1038225" y="3524250"/>
            <a:ext cx="5786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Avances en el web y móvil.</a:t>
            </a:r>
            <a:endParaRPr sz="11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Google Shape;417;p24"/>
          <p:cNvSpPr txBox="1"/>
          <p:nvPr/>
        </p:nvSpPr>
        <p:spPr>
          <a:xfrm>
            <a:off x="6829425" y="1714500"/>
            <a:ext cx="225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PRÓXIMOS PASOS</a:t>
            </a:r>
            <a:endParaRPr/>
          </a:p>
        </p:txBody>
      </p:sp>
      <p:sp>
        <p:nvSpPr>
          <p:cNvPr id="418" name="Google Shape;418;p24"/>
          <p:cNvSpPr txBox="1"/>
          <p:nvPr/>
        </p:nvSpPr>
        <p:spPr>
          <a:xfrm>
            <a:off x="6524625" y="2266950"/>
            <a:ext cx="56673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Continuar el desarrollo de las plataformas web y móvil.</a:t>
            </a:r>
            <a:endParaRPr sz="11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Google Shape;419;p24"/>
          <p:cNvSpPr txBox="1"/>
          <p:nvPr/>
        </p:nvSpPr>
        <p:spPr>
          <a:xfrm>
            <a:off x="6524625" y="2562225"/>
            <a:ext cx="56673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Completar y verificar la integración con la API REST.</a:t>
            </a:r>
            <a:endParaRPr sz="11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Google Shape;420;p24"/>
          <p:cNvSpPr txBox="1"/>
          <p:nvPr/>
        </p:nvSpPr>
        <p:spPr>
          <a:xfrm>
            <a:off x="6524625" y="2857500"/>
            <a:ext cx="56673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Desarrollar el módulo Carrito (Semana 14).</a:t>
            </a:r>
            <a:endParaRPr sz="11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Google Shape;421;p24"/>
          <p:cNvSpPr txBox="1"/>
          <p:nvPr/>
        </p:nvSpPr>
        <p:spPr>
          <a:xfrm>
            <a:off x="6524625" y="3152775"/>
            <a:ext cx="56673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Implementar el Checkout en entorno de prueba.</a:t>
            </a:r>
            <a:endParaRPr sz="11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24"/>
          <p:cNvSpPr txBox="1"/>
          <p:nvPr/>
        </p:nvSpPr>
        <p:spPr>
          <a:xfrm>
            <a:off x="6524625" y="3448050"/>
            <a:ext cx="56673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Completar el portal de administración y el CRUD de inventario.</a:t>
            </a:r>
            <a:endParaRPr sz="11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24"/>
          <p:cNvSpPr txBox="1"/>
          <p:nvPr/>
        </p:nvSpPr>
        <p:spPr>
          <a:xfrm>
            <a:off x="6524625" y="3743325"/>
            <a:ext cx="5667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Pruebas QA y despliegue final en Render.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917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5"/>
          <p:cNvSpPr/>
          <p:nvPr/>
        </p:nvSpPr>
        <p:spPr>
          <a:xfrm>
            <a:off x="6124575" y="3562350"/>
            <a:ext cx="9525" cy="3810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5"/>
          <p:cNvSpPr txBox="1"/>
          <p:nvPr/>
        </p:nvSpPr>
        <p:spPr>
          <a:xfrm>
            <a:off x="3958232" y="1809750"/>
            <a:ext cx="4275534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FerreMundo</a:t>
            </a:r>
            <a:endParaRPr/>
          </a:p>
        </p:txBody>
      </p:sp>
      <p:sp>
        <p:nvSpPr>
          <p:cNvPr id="430" name="Google Shape;430;p25"/>
          <p:cNvSpPr txBox="1"/>
          <p:nvPr/>
        </p:nvSpPr>
        <p:spPr>
          <a:xfrm>
            <a:off x="1928812" y="2609850"/>
            <a:ext cx="8334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6D3D1"/>
                </a:solidFill>
                <a:latin typeface="Inter"/>
                <a:ea typeface="Inter"/>
                <a:cs typeface="Inter"/>
                <a:sym typeface="Inter"/>
              </a:rPr>
              <a:t>Sistema integrado para la gestión y comercialización de productos de la Ferretería ConstruMax.</a:t>
            </a:r>
            <a:endParaRPr/>
          </a:p>
        </p:txBody>
      </p:sp>
      <p:sp>
        <p:nvSpPr>
          <p:cNvPr id="431" name="Google Shape;431;p25"/>
          <p:cNvSpPr txBox="1"/>
          <p:nvPr/>
        </p:nvSpPr>
        <p:spPr>
          <a:xfrm>
            <a:off x="3140273" y="4400550"/>
            <a:ext cx="591145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8716C"/>
                </a:solidFill>
                <a:latin typeface="Inter"/>
                <a:ea typeface="Inter"/>
                <a:cs typeface="Inter"/>
                <a:sym typeface="Inter"/>
              </a:rPr>
              <a:t>CAPSTONE_011V — INGENIERÍA EN INFORMÁTICA • DUOC UC</a:t>
            </a:r>
            <a:endParaRPr/>
          </a:p>
        </p:txBody>
      </p:sp>
      <p:sp>
        <p:nvSpPr>
          <p:cNvPr id="432" name="Google Shape;432;p25"/>
          <p:cNvSpPr txBox="1"/>
          <p:nvPr/>
        </p:nvSpPr>
        <p:spPr>
          <a:xfrm>
            <a:off x="5202138" y="4676775"/>
            <a:ext cx="178772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¡Gracias!</a:t>
            </a:r>
            <a:endParaRPr/>
          </a:p>
        </p:txBody>
      </p:sp>
      <p:sp>
        <p:nvSpPr>
          <p:cNvPr id="433" name="Google Shape;433;p25"/>
          <p:cNvSpPr txBox="1"/>
          <p:nvPr/>
        </p:nvSpPr>
        <p:spPr>
          <a:xfrm>
            <a:off x="4533900" y="3562350"/>
            <a:ext cx="1428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Jonatan Gordillo</a:t>
            </a:r>
            <a:endParaRPr/>
          </a:p>
        </p:txBody>
      </p:sp>
      <p:sp>
        <p:nvSpPr>
          <p:cNvPr id="434" name="Google Shape;434;p25"/>
          <p:cNvSpPr txBox="1"/>
          <p:nvPr/>
        </p:nvSpPr>
        <p:spPr>
          <a:xfrm>
            <a:off x="4533900" y="3781425"/>
            <a:ext cx="14287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8A29E"/>
                </a:solidFill>
                <a:latin typeface="Inter"/>
                <a:ea typeface="Inter"/>
                <a:cs typeface="Inter"/>
                <a:sym typeface="Inter"/>
              </a:rPr>
              <a:t>Desarrollo &amp; QA</a:t>
            </a:r>
            <a:endParaRPr/>
          </a:p>
        </p:txBody>
      </p:sp>
      <p:sp>
        <p:nvSpPr>
          <p:cNvPr id="435" name="Google Shape;435;p25"/>
          <p:cNvSpPr txBox="1"/>
          <p:nvPr/>
        </p:nvSpPr>
        <p:spPr>
          <a:xfrm>
            <a:off x="6296025" y="3562350"/>
            <a:ext cx="13620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Alan Cruz</a:t>
            </a:r>
            <a:endParaRPr/>
          </a:p>
        </p:txBody>
      </p:sp>
      <p:sp>
        <p:nvSpPr>
          <p:cNvPr id="436" name="Google Shape;436;p25"/>
          <p:cNvSpPr txBox="1"/>
          <p:nvPr/>
        </p:nvSpPr>
        <p:spPr>
          <a:xfrm>
            <a:off x="6296025" y="3781425"/>
            <a:ext cx="13620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8A29E"/>
                </a:solidFill>
                <a:latin typeface="Inter"/>
                <a:ea typeface="Inter"/>
                <a:cs typeface="Inter"/>
                <a:sym typeface="Inter"/>
              </a:rPr>
              <a:t>Jefe de Proyecto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