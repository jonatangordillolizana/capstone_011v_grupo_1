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</p:sldIdLst>
  <p:sldSz cy="6858000" cx="12192000"/>
  <p:notesSz cx="6858000" cy="9144000"/>
  <p:embeddedFontLst>
    <p:embeddedFont>
      <p:font typeface="Plus Jakarta Sans"/>
      <p:regular r:id="rId12"/>
      <p:bold r:id="rId13"/>
      <p:italic r:id="rId14"/>
      <p:boldItalic r:id="rId15"/>
    </p:embeddedFont>
    <p:embeddedFont>
      <p:font typeface="Inter"/>
      <p:regular r:id="rId16"/>
      <p:bold r:id="rId17"/>
      <p:italic r:id="rId18"/>
      <p:boldItalic r:id="rId1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B907068-F609-42F5-9E71-2CE55A671C04}">
  <a:tblStyle styleId="{CB907068-F609-42F5-9E71-2CE55A671C0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font" Target="fonts/PlusJakartaSans-bold.fntdata"/><Relationship Id="rId12" Type="http://schemas.openxmlformats.org/officeDocument/2006/relationships/font" Target="fonts/PlusJakartaSans-regular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15" Type="http://schemas.openxmlformats.org/officeDocument/2006/relationships/font" Target="fonts/PlusJakartaSans-boldItalic.fntdata"/><Relationship Id="rId14" Type="http://schemas.openxmlformats.org/officeDocument/2006/relationships/font" Target="fonts/PlusJakartaSans-italic.fntdata"/><Relationship Id="rId17" Type="http://schemas.openxmlformats.org/officeDocument/2006/relationships/font" Target="fonts/Inter-bold.fntdata"/><Relationship Id="rId16" Type="http://schemas.openxmlformats.org/officeDocument/2006/relationships/font" Target="fonts/Inter-regular.fntdata"/><Relationship Id="rId5" Type="http://schemas.openxmlformats.org/officeDocument/2006/relationships/slideMaster" Target="slideMasters/slideMaster1.xml"/><Relationship Id="rId19" Type="http://schemas.openxmlformats.org/officeDocument/2006/relationships/font" Target="fonts/Inter-boldItalic.fntdata"/><Relationship Id="rId6" Type="http://schemas.openxmlformats.org/officeDocument/2006/relationships/notesMaster" Target="notesMasters/notesMaster1.xml"/><Relationship Id="rId18" Type="http://schemas.openxmlformats.org/officeDocument/2006/relationships/font" Target="fonts/Inter-italic.fntdata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17.png"/><Relationship Id="rId6" Type="http://schemas.openxmlformats.org/officeDocument/2006/relationships/image" Target="../media/image16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5.png"/><Relationship Id="rId4" Type="http://schemas.openxmlformats.org/officeDocument/2006/relationships/image" Target="../media/image2.png"/><Relationship Id="rId5" Type="http://schemas.openxmlformats.org/officeDocument/2006/relationships/image" Target="../media/image18.png"/><Relationship Id="rId6" Type="http://schemas.openxmlformats.org/officeDocument/2006/relationships/image" Target="../media/image6.png"/><Relationship Id="rId7" Type="http://schemas.openxmlformats.org/officeDocument/2006/relationships/image" Target="../media/image21.png"/><Relationship Id="rId8" Type="http://schemas.openxmlformats.org/officeDocument/2006/relationships/image" Target="../media/image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8.png"/><Relationship Id="rId11" Type="http://schemas.openxmlformats.org/officeDocument/2006/relationships/image" Target="../media/image10.png"/><Relationship Id="rId10" Type="http://schemas.openxmlformats.org/officeDocument/2006/relationships/image" Target="../media/image9.png"/><Relationship Id="rId9" Type="http://schemas.openxmlformats.org/officeDocument/2006/relationships/image" Target="../media/image14.png"/><Relationship Id="rId5" Type="http://schemas.openxmlformats.org/officeDocument/2006/relationships/image" Target="../media/image13.png"/><Relationship Id="rId6" Type="http://schemas.openxmlformats.org/officeDocument/2006/relationships/image" Target="../media/image23.png"/><Relationship Id="rId7" Type="http://schemas.openxmlformats.org/officeDocument/2006/relationships/image" Target="../media/image22.png"/><Relationship Id="rId8" Type="http://schemas.openxmlformats.org/officeDocument/2006/relationships/image" Target="../media/image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0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F2937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" name="Google Shape;8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/>
          <p:nvPr/>
        </p:nvSpPr>
        <p:spPr>
          <a:xfrm>
            <a:off x="5715000" y="3790950"/>
            <a:ext cx="762000" cy="381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3"/>
          <p:cNvSpPr/>
          <p:nvPr/>
        </p:nvSpPr>
        <p:spPr>
          <a:xfrm>
            <a:off x="2462212" y="4133850"/>
            <a:ext cx="7267575" cy="1495425"/>
          </a:xfrm>
          <a:prstGeom prst="roundRect">
            <a:avLst>
              <a:gd fmla="val 10191" name="adj"/>
            </a:avLst>
          </a:prstGeom>
          <a:solidFill>
            <a:srgbClr val="2A3441"/>
          </a:solidFill>
          <a:ln cap="flat" cmpd="sng" w="9525">
            <a:solidFill>
              <a:srgbClr val="353E4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87" name="Google Shape;87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67400" y="1228725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8" name="Google Shape;88;p1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928937" y="4686300"/>
            <a:ext cx="21907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9" name="Google Shape;89;p1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2928937" y="4924425"/>
            <a:ext cx="171450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3"/>
          <p:cNvSpPr txBox="1"/>
          <p:nvPr/>
        </p:nvSpPr>
        <p:spPr>
          <a:xfrm>
            <a:off x="2733079" y="1914525"/>
            <a:ext cx="672584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000" u="none" cap="none" strike="noStrik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FerreMundo</a:t>
            </a:r>
            <a:endParaRPr/>
          </a:p>
        </p:txBody>
      </p:sp>
      <p:sp>
        <p:nvSpPr>
          <p:cNvPr id="91" name="Google Shape;91;p13"/>
          <p:cNvSpPr txBox="1"/>
          <p:nvPr/>
        </p:nvSpPr>
        <p:spPr>
          <a:xfrm>
            <a:off x="2893218" y="2905125"/>
            <a:ext cx="6405562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AVANCE / SEGUIMIENTO DEL PROYECTO</a:t>
            </a:r>
            <a:endParaRPr/>
          </a:p>
        </p:txBody>
      </p:sp>
      <p:sp>
        <p:nvSpPr>
          <p:cNvPr id="92" name="Google Shape;92;p13"/>
          <p:cNvSpPr txBox="1"/>
          <p:nvPr/>
        </p:nvSpPr>
        <p:spPr>
          <a:xfrm>
            <a:off x="2928937" y="4448175"/>
            <a:ext cx="300037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EQUIPO DE PROYECTO</a:t>
            </a:r>
            <a:endParaRPr/>
          </a:p>
        </p:txBody>
      </p:sp>
      <p:sp>
        <p:nvSpPr>
          <p:cNvPr id="93" name="Google Shape;93;p13"/>
          <p:cNvSpPr txBox="1"/>
          <p:nvPr/>
        </p:nvSpPr>
        <p:spPr>
          <a:xfrm>
            <a:off x="2928925" y="4924433"/>
            <a:ext cx="30003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95275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Jonatan Gordillo </a:t>
            </a:r>
            <a:r>
              <a:rPr b="0" i="0" lang="en-US" sz="1050" u="none" cap="none" strike="noStrike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(</a:t>
            </a:r>
            <a:r>
              <a:rPr lang="en-US" sz="1050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De</a:t>
            </a:r>
            <a:r>
              <a:rPr lang="en-US" sz="1050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ss</a:t>
            </a:r>
            <a:r>
              <a:rPr b="0" i="0" lang="en-US" sz="1050" u="none" cap="none" strike="noStrike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 &amp; QA)</a:t>
            </a:r>
            <a:endParaRPr/>
          </a:p>
        </p:txBody>
      </p:sp>
      <p:sp>
        <p:nvSpPr>
          <p:cNvPr id="94" name="Google Shape;94;p13"/>
          <p:cNvSpPr txBox="1"/>
          <p:nvPr/>
        </p:nvSpPr>
        <p:spPr>
          <a:xfrm>
            <a:off x="2928925" y="4683000"/>
            <a:ext cx="30003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4765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Alan Cruz </a:t>
            </a:r>
            <a:r>
              <a:rPr b="0" i="0" lang="en-US" sz="1050" u="none" cap="none" strike="noStrike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(Jefe de Proyecto)</a:t>
            </a:r>
            <a:endParaRPr/>
          </a:p>
        </p:txBody>
      </p:sp>
      <p:sp>
        <p:nvSpPr>
          <p:cNvPr id="95" name="Google Shape;95;p13"/>
          <p:cNvSpPr txBox="1"/>
          <p:nvPr/>
        </p:nvSpPr>
        <p:spPr>
          <a:xfrm>
            <a:off x="5938837" y="4448175"/>
            <a:ext cx="4155281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CONTEXTO ACADÉMICO</a:t>
            </a:r>
            <a:endParaRPr/>
          </a:p>
        </p:txBody>
      </p:sp>
      <p:sp>
        <p:nvSpPr>
          <p:cNvPr id="96" name="Google Shape;96;p13"/>
          <p:cNvSpPr txBox="1"/>
          <p:nvPr/>
        </p:nvSpPr>
        <p:spPr>
          <a:xfrm>
            <a:off x="5938825" y="4636650"/>
            <a:ext cx="41553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Capstone</a:t>
            </a:r>
            <a:endParaRPr/>
          </a:p>
        </p:txBody>
      </p:sp>
      <p:sp>
        <p:nvSpPr>
          <p:cNvPr id="97" name="Google Shape;97;p13"/>
          <p:cNvSpPr txBox="1"/>
          <p:nvPr/>
        </p:nvSpPr>
        <p:spPr>
          <a:xfrm>
            <a:off x="5938837" y="4895850"/>
            <a:ext cx="4155281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Profesor: Fernando Herrera</a:t>
            </a:r>
            <a:endParaRPr/>
          </a:p>
        </p:txBody>
      </p:sp>
      <p:sp>
        <p:nvSpPr>
          <p:cNvPr id="98" name="Google Shape;98;p13"/>
          <p:cNvSpPr txBox="1"/>
          <p:nvPr/>
        </p:nvSpPr>
        <p:spPr>
          <a:xfrm>
            <a:off x="5938837" y="5124450"/>
            <a:ext cx="41553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4"/>
          <p:cNvSpPr/>
          <p:nvPr/>
        </p:nvSpPr>
        <p:spPr>
          <a:xfrm>
            <a:off x="685800" y="5067300"/>
            <a:ext cx="10820400" cy="12114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4"/>
          <p:cNvSpPr/>
          <p:nvPr/>
        </p:nvSpPr>
        <p:spPr>
          <a:xfrm>
            <a:off x="685800" y="557212"/>
            <a:ext cx="76200" cy="381000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4"/>
          <p:cNvSpPr/>
          <p:nvPr/>
        </p:nvSpPr>
        <p:spPr>
          <a:xfrm>
            <a:off x="685800" y="1343025"/>
            <a:ext cx="5457825" cy="1514475"/>
          </a:xfrm>
          <a:prstGeom prst="roundRect">
            <a:avLst>
              <a:gd fmla="val 7547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14"/>
          <p:cNvSpPr/>
          <p:nvPr/>
        </p:nvSpPr>
        <p:spPr>
          <a:xfrm>
            <a:off x="685800" y="5067300"/>
            <a:ext cx="38100" cy="12114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4"/>
          <p:cNvSpPr/>
          <p:nvPr/>
        </p:nvSpPr>
        <p:spPr>
          <a:xfrm>
            <a:off x="6524625" y="1343025"/>
            <a:ext cx="2486025" cy="1571625"/>
          </a:xfrm>
          <a:prstGeom prst="roundRect">
            <a:avLst>
              <a:gd fmla="val 7272" name="adj"/>
            </a:avLst>
          </a:prstGeom>
          <a:solidFill>
            <a:srgbClr val="FFF7ED"/>
          </a:solidFill>
          <a:ln cap="flat" cmpd="sng" w="19050">
            <a:solidFill>
              <a:srgbClr val="EA580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14"/>
          <p:cNvSpPr/>
          <p:nvPr/>
        </p:nvSpPr>
        <p:spPr>
          <a:xfrm>
            <a:off x="9163050" y="1343025"/>
            <a:ext cx="2343150" cy="1571625"/>
          </a:xfrm>
          <a:prstGeom prst="roundRect">
            <a:avLst>
              <a:gd fmla="val 7272" name="adj"/>
            </a:avLst>
          </a:prstGeom>
          <a:solidFill>
            <a:srgbClr val="1F293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09" name="Google Shape;109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23925" y="1619250"/>
            <a:ext cx="219075" cy="1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14"/>
          <p:cNvSpPr txBox="1"/>
          <p:nvPr/>
        </p:nvSpPr>
        <p:spPr>
          <a:xfrm>
            <a:off x="914400" y="533400"/>
            <a:ext cx="6107013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1F2937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Metodología y Estado Actual</a:t>
            </a:r>
            <a:endParaRPr/>
          </a:p>
        </p:txBody>
      </p:sp>
      <p:sp>
        <p:nvSpPr>
          <p:cNvPr id="111" name="Google Shape;111;p14"/>
          <p:cNvSpPr txBox="1"/>
          <p:nvPr/>
        </p:nvSpPr>
        <p:spPr>
          <a:xfrm>
            <a:off x="952500" y="5257800"/>
            <a:ext cx="112395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Trabajo Actual (En Progreso):</a:t>
            </a:r>
            <a:endParaRPr/>
          </a:p>
        </p:txBody>
      </p:sp>
      <p:sp>
        <p:nvSpPr>
          <p:cNvPr id="112" name="Google Shape;112;p14"/>
          <p:cNvSpPr txBox="1"/>
          <p:nvPr/>
        </p:nvSpPr>
        <p:spPr>
          <a:xfrm>
            <a:off x="923925" y="1581150"/>
            <a:ext cx="6538317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95275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F2937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Metodología Waterfall (Cascada)</a:t>
            </a:r>
            <a:endParaRPr/>
          </a:p>
        </p:txBody>
      </p:sp>
      <p:sp>
        <p:nvSpPr>
          <p:cNvPr id="113" name="Google Shape;113;p14"/>
          <p:cNvSpPr txBox="1"/>
          <p:nvPr/>
        </p:nvSpPr>
        <p:spPr>
          <a:xfrm>
            <a:off x="923925" y="1933575"/>
            <a:ext cx="50769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Metodología tradicional basada en etapas secuenciales estrictas, donde cada fase se completa, </a:t>
            </a:r>
            <a:r>
              <a:rPr lang="en-US" sz="12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válida</a:t>
            </a:r>
            <a:r>
              <a:rPr b="0" i="0" lang="en-US" sz="1200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 y documenta formalmente antes de avanzar a la siguiente etapa del ciclo de vida.</a:t>
            </a:r>
            <a:endParaRPr/>
          </a:p>
        </p:txBody>
      </p:sp>
      <p:sp>
        <p:nvSpPr>
          <p:cNvPr id="114" name="Google Shape;114;p14"/>
          <p:cNvSpPr txBox="1"/>
          <p:nvPr/>
        </p:nvSpPr>
        <p:spPr>
          <a:xfrm>
            <a:off x="6523434" y="1590675"/>
            <a:ext cx="2488406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EA580C"/>
                </a:solidFill>
                <a:latin typeface="Inter"/>
                <a:ea typeface="Inter"/>
                <a:cs typeface="Inter"/>
                <a:sym typeface="Inter"/>
              </a:rPr>
              <a:t>ESTADO DE PROYECTO</a:t>
            </a:r>
            <a:endParaRPr/>
          </a:p>
        </p:txBody>
      </p:sp>
      <p:sp>
        <p:nvSpPr>
          <p:cNvPr id="115" name="Google Shape;115;p14"/>
          <p:cNvSpPr txBox="1"/>
          <p:nvPr/>
        </p:nvSpPr>
        <p:spPr>
          <a:xfrm>
            <a:off x="6523434" y="1752600"/>
            <a:ext cx="2488406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C2410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SEMANA 5</a:t>
            </a:r>
            <a:endParaRPr/>
          </a:p>
        </p:txBody>
      </p:sp>
      <p:sp>
        <p:nvSpPr>
          <p:cNvPr id="116" name="Google Shape;116;p14"/>
          <p:cNvSpPr txBox="1"/>
          <p:nvPr/>
        </p:nvSpPr>
        <p:spPr>
          <a:xfrm>
            <a:off x="9155906" y="1864965"/>
            <a:ext cx="2357437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FASE ACTUAL</a:t>
            </a:r>
            <a:endParaRPr/>
          </a:p>
        </p:txBody>
      </p:sp>
      <p:sp>
        <p:nvSpPr>
          <p:cNvPr id="117" name="Google Shape;117;p14"/>
          <p:cNvSpPr txBox="1"/>
          <p:nvPr/>
        </p:nvSpPr>
        <p:spPr>
          <a:xfrm>
            <a:off x="9155906" y="2026890"/>
            <a:ext cx="2357437" cy="3656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DISEÑO</a:t>
            </a:r>
            <a:endParaRPr/>
          </a:p>
        </p:txBody>
      </p:sp>
      <p:sp>
        <p:nvSpPr>
          <p:cNvPr id="118" name="Google Shape;118;p14"/>
          <p:cNvSpPr txBox="1"/>
          <p:nvPr/>
        </p:nvSpPr>
        <p:spPr>
          <a:xfrm>
            <a:off x="1143000" y="5562600"/>
            <a:ext cx="6072187" cy="1866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Diseño de Arquitectura de Software (Modelo 4+1).</a:t>
            </a:r>
            <a:endParaRPr/>
          </a:p>
        </p:txBody>
      </p:sp>
      <p:sp>
        <p:nvSpPr>
          <p:cNvPr id="119" name="Google Shape;119;p14"/>
          <p:cNvSpPr txBox="1"/>
          <p:nvPr/>
        </p:nvSpPr>
        <p:spPr>
          <a:xfrm>
            <a:off x="1143000" y="5825430"/>
            <a:ext cx="6072187" cy="1866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Elaboración del Modelo de Datos (PostgreSQL).</a:t>
            </a:r>
            <a:endParaRPr/>
          </a:p>
        </p:txBody>
      </p:sp>
      <p:sp>
        <p:nvSpPr>
          <p:cNvPr id="120" name="Google Shape;120;p14"/>
          <p:cNvSpPr txBox="1"/>
          <p:nvPr/>
        </p:nvSpPr>
        <p:spPr>
          <a:xfrm>
            <a:off x="6457950" y="5562600"/>
            <a:ext cx="5734050" cy="1866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Definición de Casos de Uso principales.</a:t>
            </a:r>
            <a:endParaRPr/>
          </a:p>
        </p:txBody>
      </p:sp>
      <p:sp>
        <p:nvSpPr>
          <p:cNvPr id="121" name="Google Shape;121;p14"/>
          <p:cNvSpPr txBox="1"/>
          <p:nvPr/>
        </p:nvSpPr>
        <p:spPr>
          <a:xfrm>
            <a:off x="6457950" y="5825430"/>
            <a:ext cx="5734050" cy="1866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Preparación técnica para etapa de desarrollo y Casos de Prueba.</a:t>
            </a:r>
            <a:endParaRPr/>
          </a:p>
        </p:txBody>
      </p:sp>
      <p:sp>
        <p:nvSpPr>
          <p:cNvPr id="122" name="Google Shape;122;p14"/>
          <p:cNvSpPr txBox="1"/>
          <p:nvPr/>
        </p:nvSpPr>
        <p:spPr>
          <a:xfrm>
            <a:off x="952500" y="5553075"/>
            <a:ext cx="8572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EA580C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23" name="Google Shape;123;p14"/>
          <p:cNvSpPr txBox="1"/>
          <p:nvPr/>
        </p:nvSpPr>
        <p:spPr>
          <a:xfrm>
            <a:off x="952500" y="5815905"/>
            <a:ext cx="8572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EA580C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24" name="Google Shape;124;p14"/>
          <p:cNvSpPr txBox="1"/>
          <p:nvPr/>
        </p:nvSpPr>
        <p:spPr>
          <a:xfrm>
            <a:off x="6267450" y="5553075"/>
            <a:ext cx="8572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EA580C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25" name="Google Shape;125;p14"/>
          <p:cNvSpPr txBox="1"/>
          <p:nvPr/>
        </p:nvSpPr>
        <p:spPr>
          <a:xfrm>
            <a:off x="6267450" y="5815905"/>
            <a:ext cx="8572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EA580C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26" name="Google Shape;126;p14"/>
          <p:cNvSpPr/>
          <p:nvPr/>
        </p:nvSpPr>
        <p:spPr>
          <a:xfrm>
            <a:off x="1066800" y="4086225"/>
            <a:ext cx="10058400" cy="381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4"/>
          <p:cNvSpPr/>
          <p:nvPr/>
        </p:nvSpPr>
        <p:spPr>
          <a:xfrm>
            <a:off x="685800" y="3609975"/>
            <a:ext cx="1947564" cy="990600"/>
          </a:xfrm>
          <a:prstGeom prst="roundRect">
            <a:avLst>
              <a:gd fmla="val 11538" name="adj"/>
            </a:avLst>
          </a:prstGeom>
          <a:solidFill>
            <a:srgbClr val="F3F4F6"/>
          </a:solidFill>
          <a:ln cap="flat" cmpd="sng" w="1905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14"/>
          <p:cNvSpPr/>
          <p:nvPr/>
        </p:nvSpPr>
        <p:spPr>
          <a:xfrm>
            <a:off x="2855245" y="3575208"/>
            <a:ext cx="2044942" cy="1060132"/>
          </a:xfrm>
          <a:prstGeom prst="roundRect">
            <a:avLst>
              <a:gd fmla="val 10781" name="adj"/>
            </a:avLst>
          </a:prstGeom>
          <a:solidFill>
            <a:srgbClr val="FFF7ED"/>
          </a:solidFill>
          <a:ln cap="flat" cmpd="sng" w="19050">
            <a:solidFill>
              <a:srgbClr val="EA580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4"/>
          <p:cNvSpPr/>
          <p:nvPr/>
        </p:nvSpPr>
        <p:spPr>
          <a:xfrm>
            <a:off x="5122068" y="3609975"/>
            <a:ext cx="1947564" cy="990600"/>
          </a:xfrm>
          <a:prstGeom prst="roundRect">
            <a:avLst>
              <a:gd fmla="val 11538" name="adj"/>
            </a:avLst>
          </a:prstGeom>
          <a:solidFill>
            <a:srgbClr val="FFFFFF"/>
          </a:solidFill>
          <a:ln cap="flat" cmpd="sng" w="1905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14"/>
          <p:cNvSpPr/>
          <p:nvPr/>
        </p:nvSpPr>
        <p:spPr>
          <a:xfrm>
            <a:off x="7340203" y="3609975"/>
            <a:ext cx="1947564" cy="990600"/>
          </a:xfrm>
          <a:prstGeom prst="roundRect">
            <a:avLst>
              <a:gd fmla="val 11538" name="adj"/>
            </a:avLst>
          </a:prstGeom>
          <a:solidFill>
            <a:srgbClr val="FFFFFF"/>
          </a:solidFill>
          <a:ln cap="flat" cmpd="sng" w="1905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4"/>
          <p:cNvSpPr/>
          <p:nvPr/>
        </p:nvSpPr>
        <p:spPr>
          <a:xfrm>
            <a:off x="9558337" y="3609975"/>
            <a:ext cx="1947564" cy="990600"/>
          </a:xfrm>
          <a:prstGeom prst="roundRect">
            <a:avLst>
              <a:gd fmla="val 11538" name="adj"/>
            </a:avLst>
          </a:prstGeom>
          <a:solidFill>
            <a:srgbClr val="FFFFFF"/>
          </a:solidFill>
          <a:ln cap="flat" cmpd="sng" w="1905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32" name="Google Shape;132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545282" y="3781425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3" name="Google Shape;133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952976" y="3781425"/>
            <a:ext cx="28575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4" name="Google Shape;134;p1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99685" y="3781425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5" name="Google Shape;135;p1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417819" y="3781425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14"/>
          <p:cNvSpPr txBox="1"/>
          <p:nvPr/>
        </p:nvSpPr>
        <p:spPr>
          <a:xfrm>
            <a:off x="656666" y="4086225"/>
            <a:ext cx="2005831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Análisis y Requisitos</a:t>
            </a:r>
            <a:endParaRPr/>
          </a:p>
        </p:txBody>
      </p:sp>
      <p:sp>
        <p:nvSpPr>
          <p:cNvPr id="137" name="Google Shape;137;p14"/>
          <p:cNvSpPr txBox="1"/>
          <p:nvPr/>
        </p:nvSpPr>
        <p:spPr>
          <a:xfrm>
            <a:off x="656666" y="4286250"/>
            <a:ext cx="2005831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Semanas 1-4</a:t>
            </a:r>
            <a:endParaRPr/>
          </a:p>
        </p:txBody>
      </p:sp>
      <p:sp>
        <p:nvSpPr>
          <p:cNvPr id="138" name="Google Shape;138;p14"/>
          <p:cNvSpPr txBox="1"/>
          <p:nvPr/>
        </p:nvSpPr>
        <p:spPr>
          <a:xfrm>
            <a:off x="2824655" y="4075271"/>
            <a:ext cx="2106122" cy="19002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C2410C"/>
                </a:solidFill>
                <a:latin typeface="Inter"/>
                <a:ea typeface="Inter"/>
                <a:cs typeface="Inter"/>
                <a:sym typeface="Inter"/>
              </a:rPr>
              <a:t>Diseño de Sistema</a:t>
            </a:r>
            <a:endParaRPr/>
          </a:p>
        </p:txBody>
      </p:sp>
      <p:sp>
        <p:nvSpPr>
          <p:cNvPr id="139" name="Google Shape;139;p14"/>
          <p:cNvSpPr txBox="1"/>
          <p:nvPr/>
        </p:nvSpPr>
        <p:spPr>
          <a:xfrm>
            <a:off x="2824655" y="4305300"/>
            <a:ext cx="2106122" cy="15001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A580C"/>
                </a:solidFill>
                <a:latin typeface="Inter"/>
                <a:ea typeface="Inter"/>
                <a:cs typeface="Inter"/>
                <a:sym typeface="Inter"/>
              </a:rPr>
              <a:t>Semanas 5-6 (Actual)</a:t>
            </a:r>
            <a:endParaRPr/>
          </a:p>
        </p:txBody>
      </p:sp>
      <p:sp>
        <p:nvSpPr>
          <p:cNvPr id="140" name="Google Shape;140;p14"/>
          <p:cNvSpPr txBox="1"/>
          <p:nvPr/>
        </p:nvSpPr>
        <p:spPr>
          <a:xfrm>
            <a:off x="5092935" y="4086225"/>
            <a:ext cx="2005831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Desarrollo</a:t>
            </a:r>
            <a:endParaRPr/>
          </a:p>
        </p:txBody>
      </p:sp>
      <p:sp>
        <p:nvSpPr>
          <p:cNvPr id="141" name="Google Shape;141;p14"/>
          <p:cNvSpPr txBox="1"/>
          <p:nvPr/>
        </p:nvSpPr>
        <p:spPr>
          <a:xfrm>
            <a:off x="5092935" y="4286250"/>
            <a:ext cx="2005831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Semanas 7-16</a:t>
            </a:r>
            <a:endParaRPr/>
          </a:p>
        </p:txBody>
      </p:sp>
      <p:sp>
        <p:nvSpPr>
          <p:cNvPr id="142" name="Google Shape;142;p14"/>
          <p:cNvSpPr txBox="1"/>
          <p:nvPr/>
        </p:nvSpPr>
        <p:spPr>
          <a:xfrm>
            <a:off x="7311070" y="4086225"/>
            <a:ext cx="2005831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Pruebas / QA</a:t>
            </a:r>
            <a:endParaRPr/>
          </a:p>
        </p:txBody>
      </p:sp>
      <p:sp>
        <p:nvSpPr>
          <p:cNvPr id="143" name="Google Shape;143;p14"/>
          <p:cNvSpPr txBox="1"/>
          <p:nvPr/>
        </p:nvSpPr>
        <p:spPr>
          <a:xfrm>
            <a:off x="7311070" y="4286250"/>
            <a:ext cx="2005831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Semana 16</a:t>
            </a:r>
            <a:endParaRPr/>
          </a:p>
        </p:txBody>
      </p:sp>
      <p:sp>
        <p:nvSpPr>
          <p:cNvPr id="144" name="Google Shape;144;p14"/>
          <p:cNvSpPr txBox="1"/>
          <p:nvPr/>
        </p:nvSpPr>
        <p:spPr>
          <a:xfrm>
            <a:off x="9529204" y="4086225"/>
            <a:ext cx="2005831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Despliegue &amp; Cierre</a:t>
            </a:r>
            <a:endParaRPr/>
          </a:p>
        </p:txBody>
      </p:sp>
      <p:sp>
        <p:nvSpPr>
          <p:cNvPr id="145" name="Google Shape;145;p14"/>
          <p:cNvSpPr txBox="1"/>
          <p:nvPr/>
        </p:nvSpPr>
        <p:spPr>
          <a:xfrm>
            <a:off x="9529204" y="4286250"/>
            <a:ext cx="2005831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Semanas 17-18</a:t>
            </a:r>
            <a:endParaRPr/>
          </a:p>
        </p:txBody>
      </p:sp>
      <p:pic>
        <p:nvPicPr>
          <p:cNvPr id="146" name="Google Shape;146;p14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653888" y="3671888"/>
            <a:ext cx="447675" cy="34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15"/>
          <p:cNvSpPr/>
          <p:nvPr/>
        </p:nvSpPr>
        <p:spPr>
          <a:xfrm>
            <a:off x="685800" y="5410200"/>
            <a:ext cx="10820400" cy="914400"/>
          </a:xfrm>
          <a:prstGeom prst="roundRect">
            <a:avLst>
              <a:gd fmla="val 12500" name="adj"/>
            </a:avLst>
          </a:prstGeom>
          <a:solidFill>
            <a:srgbClr val="1F293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5"/>
          <p:cNvSpPr/>
          <p:nvPr/>
        </p:nvSpPr>
        <p:spPr>
          <a:xfrm>
            <a:off x="685800" y="557212"/>
            <a:ext cx="76200" cy="381000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15"/>
          <p:cNvSpPr/>
          <p:nvPr/>
        </p:nvSpPr>
        <p:spPr>
          <a:xfrm>
            <a:off x="685800" y="1343025"/>
            <a:ext cx="2533650" cy="3762375"/>
          </a:xfrm>
          <a:prstGeom prst="roundRect">
            <a:avLst>
              <a:gd fmla="val 4511" name="adj"/>
            </a:avLst>
          </a:prstGeom>
          <a:solidFill>
            <a:srgbClr val="FFFFFF"/>
          </a:solidFill>
          <a:ln cap="flat" cmpd="sng" w="9525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5"/>
          <p:cNvSpPr/>
          <p:nvPr/>
        </p:nvSpPr>
        <p:spPr>
          <a:xfrm>
            <a:off x="3448050" y="1343025"/>
            <a:ext cx="2533650" cy="3762375"/>
          </a:xfrm>
          <a:prstGeom prst="roundRect">
            <a:avLst>
              <a:gd fmla="val 4511" name="adj"/>
            </a:avLst>
          </a:prstGeom>
          <a:solidFill>
            <a:srgbClr val="FFFFFF"/>
          </a:solidFill>
          <a:ln cap="flat" cmpd="sng" w="9525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5"/>
          <p:cNvSpPr/>
          <p:nvPr/>
        </p:nvSpPr>
        <p:spPr>
          <a:xfrm>
            <a:off x="6210300" y="1343025"/>
            <a:ext cx="2533650" cy="3762375"/>
          </a:xfrm>
          <a:prstGeom prst="roundRect">
            <a:avLst>
              <a:gd fmla="val 4511" name="adj"/>
            </a:avLst>
          </a:prstGeom>
          <a:solidFill>
            <a:srgbClr val="FFFFFF"/>
          </a:solidFill>
          <a:ln cap="flat" cmpd="sng" w="9525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5"/>
          <p:cNvSpPr/>
          <p:nvPr/>
        </p:nvSpPr>
        <p:spPr>
          <a:xfrm>
            <a:off x="8972550" y="1343025"/>
            <a:ext cx="2533650" cy="3762375"/>
          </a:xfrm>
          <a:prstGeom prst="roundRect">
            <a:avLst>
              <a:gd fmla="val 4511" name="adj"/>
            </a:avLst>
          </a:prstGeom>
          <a:solidFill>
            <a:srgbClr val="FFFFFF"/>
          </a:solidFill>
          <a:ln cap="flat" cmpd="sng" w="9525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57" name="Google Shape;15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84143" y="5753100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8" name="Google Shape;158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23925" y="1581150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9" name="Google Shape;159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686175" y="1581150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0" name="Google Shape;16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448425" y="1581150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1" name="Google Shape;161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210675" y="1581150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2" name="Google Shape;162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66800" y="5715000"/>
            <a:ext cx="3048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3" name="Google Shape;163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477125" y="5638800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4" name="Google Shape;164;p1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57275" y="1714500"/>
            <a:ext cx="1905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5" name="Google Shape;165;p1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3805237" y="1714500"/>
            <a:ext cx="219075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6" name="Google Shape;166;p15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81775" y="1714500"/>
            <a:ext cx="1905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7" name="Google Shape;167;p15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9344025" y="1714500"/>
            <a:ext cx="1905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8" name="Google Shape;168;p15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7591425" y="5753100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15"/>
          <p:cNvSpPr txBox="1"/>
          <p:nvPr/>
        </p:nvSpPr>
        <p:spPr>
          <a:xfrm>
            <a:off x="914400" y="533400"/>
            <a:ext cx="7000875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1F2937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Avance Realizado (Semanas 1–4)</a:t>
            </a:r>
            <a:endParaRPr/>
          </a:p>
        </p:txBody>
      </p:sp>
      <p:sp>
        <p:nvSpPr>
          <p:cNvPr id="170" name="Google Shape;170;p15"/>
          <p:cNvSpPr txBox="1"/>
          <p:nvPr/>
        </p:nvSpPr>
        <p:spPr>
          <a:xfrm>
            <a:off x="923925" y="2190750"/>
            <a:ext cx="2260282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00000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SEMANA 1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200" u="none" cap="none" strike="noStrike">
                <a:solidFill>
                  <a:srgbClr val="EA580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Definición del Proyecto</a:t>
            </a:r>
            <a:endParaRPr/>
          </a:p>
        </p:txBody>
      </p:sp>
      <p:sp>
        <p:nvSpPr>
          <p:cNvPr id="171" name="Google Shape;171;p15"/>
          <p:cNvSpPr txBox="1"/>
          <p:nvPr/>
        </p:nvSpPr>
        <p:spPr>
          <a:xfrm>
            <a:off x="3686175" y="2190750"/>
            <a:ext cx="2260282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00000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SEMANA 2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200" u="none" cap="none" strike="noStrike">
                <a:solidFill>
                  <a:srgbClr val="EA580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Acta de Constitución</a:t>
            </a:r>
            <a:endParaRPr/>
          </a:p>
        </p:txBody>
      </p:sp>
      <p:sp>
        <p:nvSpPr>
          <p:cNvPr id="172" name="Google Shape;172;p15"/>
          <p:cNvSpPr txBox="1"/>
          <p:nvPr/>
        </p:nvSpPr>
        <p:spPr>
          <a:xfrm>
            <a:off x="6448425" y="2190750"/>
            <a:ext cx="2260282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00000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SEMANA 3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200" u="none" cap="none" strike="noStrike">
                <a:solidFill>
                  <a:srgbClr val="EA580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Levantamiento Requisitos</a:t>
            </a:r>
            <a:endParaRPr/>
          </a:p>
        </p:txBody>
      </p:sp>
      <p:sp>
        <p:nvSpPr>
          <p:cNvPr id="173" name="Google Shape;173;p15"/>
          <p:cNvSpPr txBox="1"/>
          <p:nvPr/>
        </p:nvSpPr>
        <p:spPr>
          <a:xfrm>
            <a:off x="9210675" y="2190750"/>
            <a:ext cx="2260282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00000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SEMANA 4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200" u="none" cap="none" strike="noStrike">
                <a:solidFill>
                  <a:srgbClr val="EA580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ERS y Planificación</a:t>
            </a:r>
            <a:endParaRPr/>
          </a:p>
        </p:txBody>
      </p:sp>
      <p:sp>
        <p:nvSpPr>
          <p:cNvPr id="174" name="Google Shape;174;p15"/>
          <p:cNvSpPr txBox="1"/>
          <p:nvPr/>
        </p:nvSpPr>
        <p:spPr>
          <a:xfrm>
            <a:off x="1114425" y="2743200"/>
            <a:ext cx="1962150" cy="3732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Definición de la problemática ferretera.</a:t>
            </a:r>
            <a:endParaRPr/>
          </a:p>
        </p:txBody>
      </p:sp>
      <p:sp>
        <p:nvSpPr>
          <p:cNvPr id="175" name="Google Shape;175;p15"/>
          <p:cNvSpPr txBox="1"/>
          <p:nvPr/>
        </p:nvSpPr>
        <p:spPr>
          <a:xfrm>
            <a:off x="1114425" y="3192660"/>
            <a:ext cx="2381250" cy="1866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Establecimiento del alcance.</a:t>
            </a:r>
            <a:endParaRPr/>
          </a:p>
        </p:txBody>
      </p:sp>
      <p:sp>
        <p:nvSpPr>
          <p:cNvPr id="176" name="Google Shape;176;p15"/>
          <p:cNvSpPr txBox="1"/>
          <p:nvPr/>
        </p:nvSpPr>
        <p:spPr>
          <a:xfrm>
            <a:off x="1114425" y="3455491"/>
            <a:ext cx="1962150" cy="3732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Definición de objetivos generales.</a:t>
            </a:r>
            <a:endParaRPr/>
          </a:p>
        </p:txBody>
      </p:sp>
      <p:sp>
        <p:nvSpPr>
          <p:cNvPr id="177" name="Google Shape;177;p15"/>
          <p:cNvSpPr txBox="1"/>
          <p:nvPr/>
        </p:nvSpPr>
        <p:spPr>
          <a:xfrm>
            <a:off x="1114425" y="3904952"/>
            <a:ext cx="2381250" cy="1866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Inicio de la planificación base.</a:t>
            </a:r>
            <a:endParaRPr/>
          </a:p>
        </p:txBody>
      </p:sp>
      <p:sp>
        <p:nvSpPr>
          <p:cNvPr id="178" name="Google Shape;178;p15"/>
          <p:cNvSpPr txBox="1"/>
          <p:nvPr/>
        </p:nvSpPr>
        <p:spPr>
          <a:xfrm>
            <a:off x="3876675" y="2743200"/>
            <a:ext cx="2381250" cy="1866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Elaboración formal del Acta.</a:t>
            </a:r>
            <a:endParaRPr/>
          </a:p>
        </p:txBody>
      </p:sp>
      <p:sp>
        <p:nvSpPr>
          <p:cNvPr id="179" name="Google Shape;179;p15"/>
          <p:cNvSpPr txBox="1"/>
          <p:nvPr/>
        </p:nvSpPr>
        <p:spPr>
          <a:xfrm>
            <a:off x="3876675" y="3006030"/>
            <a:ext cx="2381250" cy="1866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Definición de roles de equipo.</a:t>
            </a:r>
            <a:endParaRPr/>
          </a:p>
        </p:txBody>
      </p:sp>
      <p:sp>
        <p:nvSpPr>
          <p:cNvPr id="180" name="Google Shape;180;p15"/>
          <p:cNvSpPr txBox="1"/>
          <p:nvPr/>
        </p:nvSpPr>
        <p:spPr>
          <a:xfrm>
            <a:off x="3876675" y="3268860"/>
            <a:ext cx="2381250" cy="1866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Identificación de recursos.</a:t>
            </a:r>
            <a:endParaRPr/>
          </a:p>
        </p:txBody>
      </p:sp>
      <p:sp>
        <p:nvSpPr>
          <p:cNvPr id="181" name="Google Shape;181;p15"/>
          <p:cNvSpPr txBox="1"/>
          <p:nvPr/>
        </p:nvSpPr>
        <p:spPr>
          <a:xfrm>
            <a:off x="3876675" y="3531691"/>
            <a:ext cx="1962150" cy="3732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Identificación inicial de riesgos.</a:t>
            </a:r>
            <a:endParaRPr/>
          </a:p>
        </p:txBody>
      </p:sp>
      <p:sp>
        <p:nvSpPr>
          <p:cNvPr id="182" name="Google Shape;182;p15"/>
          <p:cNvSpPr txBox="1"/>
          <p:nvPr/>
        </p:nvSpPr>
        <p:spPr>
          <a:xfrm>
            <a:off x="6638925" y="2743200"/>
            <a:ext cx="1962150" cy="3732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Identificación de Requisitos Funcionales.</a:t>
            </a:r>
            <a:endParaRPr/>
          </a:p>
        </p:txBody>
      </p:sp>
      <p:sp>
        <p:nvSpPr>
          <p:cNvPr id="183" name="Google Shape;183;p15"/>
          <p:cNvSpPr txBox="1"/>
          <p:nvPr/>
        </p:nvSpPr>
        <p:spPr>
          <a:xfrm>
            <a:off x="6638925" y="3192660"/>
            <a:ext cx="1962150" cy="3732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Definición de Requisitos No Funcionales.</a:t>
            </a:r>
            <a:endParaRPr/>
          </a:p>
        </p:txBody>
      </p:sp>
      <p:sp>
        <p:nvSpPr>
          <p:cNvPr id="184" name="Google Shape;184;p15"/>
          <p:cNvSpPr txBox="1"/>
          <p:nvPr/>
        </p:nvSpPr>
        <p:spPr>
          <a:xfrm>
            <a:off x="6638925" y="3642121"/>
            <a:ext cx="1962150" cy="3732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Definición de perfiles de usuarios.</a:t>
            </a:r>
            <a:endParaRPr/>
          </a:p>
        </p:txBody>
      </p:sp>
      <p:sp>
        <p:nvSpPr>
          <p:cNvPr id="185" name="Google Shape;185;p15"/>
          <p:cNvSpPr txBox="1"/>
          <p:nvPr/>
        </p:nvSpPr>
        <p:spPr>
          <a:xfrm>
            <a:off x="6638925" y="4091582"/>
            <a:ext cx="1962150" cy="3732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Mapeo de funcionalidades core.</a:t>
            </a:r>
            <a:endParaRPr/>
          </a:p>
        </p:txBody>
      </p:sp>
      <p:sp>
        <p:nvSpPr>
          <p:cNvPr id="186" name="Google Shape;186;p15"/>
          <p:cNvSpPr txBox="1"/>
          <p:nvPr/>
        </p:nvSpPr>
        <p:spPr>
          <a:xfrm>
            <a:off x="9401175" y="2743200"/>
            <a:ext cx="1962150" cy="3732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Elaboración y cierre del doc ERS.</a:t>
            </a:r>
            <a:endParaRPr/>
          </a:p>
        </p:txBody>
      </p:sp>
      <p:sp>
        <p:nvSpPr>
          <p:cNvPr id="187" name="Google Shape;187;p15"/>
          <p:cNvSpPr txBox="1"/>
          <p:nvPr/>
        </p:nvSpPr>
        <p:spPr>
          <a:xfrm>
            <a:off x="9401175" y="3192660"/>
            <a:ext cx="2381250" cy="1866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Carta Gantt estructurada.</a:t>
            </a:r>
            <a:endParaRPr/>
          </a:p>
        </p:txBody>
      </p:sp>
      <p:sp>
        <p:nvSpPr>
          <p:cNvPr id="188" name="Google Shape;188;p15"/>
          <p:cNvSpPr txBox="1"/>
          <p:nvPr/>
        </p:nvSpPr>
        <p:spPr>
          <a:xfrm>
            <a:off x="9401175" y="3455491"/>
            <a:ext cx="2381250" cy="1866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Planificación de actividades.</a:t>
            </a:r>
            <a:endParaRPr/>
          </a:p>
        </p:txBody>
      </p:sp>
      <p:sp>
        <p:nvSpPr>
          <p:cNvPr id="189" name="Google Shape;189;p15"/>
          <p:cNvSpPr txBox="1"/>
          <p:nvPr/>
        </p:nvSpPr>
        <p:spPr>
          <a:xfrm>
            <a:off x="9401175" y="3718321"/>
            <a:ext cx="1962150" cy="3732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Cierre formal etapa de análisis.</a:t>
            </a:r>
            <a:endParaRPr/>
          </a:p>
        </p:txBody>
      </p:sp>
      <p:sp>
        <p:nvSpPr>
          <p:cNvPr id="190" name="Google Shape;190;p15"/>
          <p:cNvSpPr txBox="1"/>
          <p:nvPr/>
        </p:nvSpPr>
        <p:spPr>
          <a:xfrm>
            <a:off x="1524000" y="5672137"/>
            <a:ext cx="5244703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RESULTADO S1–S4</a:t>
            </a:r>
            <a:endParaRPr/>
          </a:p>
        </p:txBody>
      </p:sp>
      <p:sp>
        <p:nvSpPr>
          <p:cNvPr id="191" name="Google Shape;191;p15"/>
          <p:cNvSpPr txBox="1"/>
          <p:nvPr/>
        </p:nvSpPr>
        <p:spPr>
          <a:xfrm>
            <a:off x="1524000" y="5834062"/>
            <a:ext cx="5244703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ANÁLISIS Y REQUISITOS — COMPLETADOS</a:t>
            </a:r>
            <a:endParaRPr/>
          </a:p>
        </p:txBody>
      </p:sp>
      <p:sp>
        <p:nvSpPr>
          <p:cNvPr id="192" name="Google Shape;192;p15"/>
          <p:cNvSpPr txBox="1"/>
          <p:nvPr/>
        </p:nvSpPr>
        <p:spPr>
          <a:xfrm>
            <a:off x="8086725" y="5672137"/>
            <a:ext cx="3798093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EA580C"/>
                </a:solidFill>
                <a:latin typeface="Inter"/>
                <a:ea typeface="Inter"/>
                <a:cs typeface="Inter"/>
                <a:sym typeface="Inter"/>
              </a:rPr>
              <a:t>ESTADO ACTUAL (S5)</a:t>
            </a:r>
            <a:endParaRPr/>
          </a:p>
        </p:txBody>
      </p:sp>
      <p:sp>
        <p:nvSpPr>
          <p:cNvPr id="193" name="Google Shape;193;p15"/>
          <p:cNvSpPr txBox="1"/>
          <p:nvPr/>
        </p:nvSpPr>
        <p:spPr>
          <a:xfrm>
            <a:off x="8086725" y="5834062"/>
            <a:ext cx="3798093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INICIO DE LA ETAPA DE DISEÑO</a:t>
            </a:r>
            <a:endParaRPr/>
          </a:p>
        </p:txBody>
      </p:sp>
      <p:sp>
        <p:nvSpPr>
          <p:cNvPr id="194" name="Google Shape;194;p15"/>
          <p:cNvSpPr txBox="1"/>
          <p:nvPr/>
        </p:nvSpPr>
        <p:spPr>
          <a:xfrm>
            <a:off x="923925" y="2733675"/>
            <a:ext cx="8572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EA580C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95" name="Google Shape;195;p15"/>
          <p:cNvSpPr txBox="1"/>
          <p:nvPr/>
        </p:nvSpPr>
        <p:spPr>
          <a:xfrm>
            <a:off x="923925" y="3183135"/>
            <a:ext cx="8572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EA580C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96" name="Google Shape;196;p15"/>
          <p:cNvSpPr txBox="1"/>
          <p:nvPr/>
        </p:nvSpPr>
        <p:spPr>
          <a:xfrm>
            <a:off x="923925" y="3445966"/>
            <a:ext cx="8572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EA580C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97" name="Google Shape;197;p15"/>
          <p:cNvSpPr txBox="1"/>
          <p:nvPr/>
        </p:nvSpPr>
        <p:spPr>
          <a:xfrm>
            <a:off x="923925" y="3895427"/>
            <a:ext cx="8572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EA580C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98" name="Google Shape;198;p15"/>
          <p:cNvSpPr txBox="1"/>
          <p:nvPr/>
        </p:nvSpPr>
        <p:spPr>
          <a:xfrm>
            <a:off x="3686175" y="2733675"/>
            <a:ext cx="8572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EA580C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99" name="Google Shape;199;p15"/>
          <p:cNvSpPr txBox="1"/>
          <p:nvPr/>
        </p:nvSpPr>
        <p:spPr>
          <a:xfrm>
            <a:off x="3686175" y="2996505"/>
            <a:ext cx="8572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EA580C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200" name="Google Shape;200;p15"/>
          <p:cNvSpPr txBox="1"/>
          <p:nvPr/>
        </p:nvSpPr>
        <p:spPr>
          <a:xfrm>
            <a:off x="3686175" y="3259335"/>
            <a:ext cx="8572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EA580C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201" name="Google Shape;201;p15"/>
          <p:cNvSpPr txBox="1"/>
          <p:nvPr/>
        </p:nvSpPr>
        <p:spPr>
          <a:xfrm>
            <a:off x="3686175" y="3522166"/>
            <a:ext cx="8572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EA580C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202" name="Google Shape;202;p15"/>
          <p:cNvSpPr txBox="1"/>
          <p:nvPr/>
        </p:nvSpPr>
        <p:spPr>
          <a:xfrm>
            <a:off x="6448425" y="2733675"/>
            <a:ext cx="8572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EA580C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203" name="Google Shape;203;p15"/>
          <p:cNvSpPr txBox="1"/>
          <p:nvPr/>
        </p:nvSpPr>
        <p:spPr>
          <a:xfrm>
            <a:off x="6448425" y="3183135"/>
            <a:ext cx="8572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EA580C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204" name="Google Shape;204;p15"/>
          <p:cNvSpPr txBox="1"/>
          <p:nvPr/>
        </p:nvSpPr>
        <p:spPr>
          <a:xfrm>
            <a:off x="6448425" y="3632596"/>
            <a:ext cx="8572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EA580C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205" name="Google Shape;205;p15"/>
          <p:cNvSpPr txBox="1"/>
          <p:nvPr/>
        </p:nvSpPr>
        <p:spPr>
          <a:xfrm>
            <a:off x="6448425" y="4082057"/>
            <a:ext cx="8572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EA580C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206" name="Google Shape;206;p15"/>
          <p:cNvSpPr txBox="1"/>
          <p:nvPr/>
        </p:nvSpPr>
        <p:spPr>
          <a:xfrm>
            <a:off x="9210675" y="2733675"/>
            <a:ext cx="8572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EA580C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207" name="Google Shape;207;p15"/>
          <p:cNvSpPr txBox="1"/>
          <p:nvPr/>
        </p:nvSpPr>
        <p:spPr>
          <a:xfrm>
            <a:off x="9210675" y="3183135"/>
            <a:ext cx="8572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EA580C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208" name="Google Shape;208;p15"/>
          <p:cNvSpPr txBox="1"/>
          <p:nvPr/>
        </p:nvSpPr>
        <p:spPr>
          <a:xfrm>
            <a:off x="9210675" y="3445966"/>
            <a:ext cx="8572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EA580C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209" name="Google Shape;209;p15"/>
          <p:cNvSpPr txBox="1"/>
          <p:nvPr/>
        </p:nvSpPr>
        <p:spPr>
          <a:xfrm>
            <a:off x="9210675" y="3708796"/>
            <a:ext cx="8572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EA580C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6"/>
          <p:cNvSpPr/>
          <p:nvPr/>
        </p:nvSpPr>
        <p:spPr>
          <a:xfrm>
            <a:off x="685800" y="404812"/>
            <a:ext cx="76200" cy="381000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16"/>
          <p:cNvSpPr/>
          <p:nvPr/>
        </p:nvSpPr>
        <p:spPr>
          <a:xfrm>
            <a:off x="3380187" y="1038225"/>
            <a:ext cx="152400" cy="152400"/>
          </a:xfrm>
          <a:prstGeom prst="roundRect">
            <a:avLst>
              <a:gd fmla="val 25000" name="adj"/>
            </a:avLst>
          </a:prstGeom>
          <a:solidFill>
            <a:srgbClr val="F3F4F6"/>
          </a:solidFill>
          <a:ln cap="flat" cmpd="sng" w="9525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16"/>
          <p:cNvSpPr/>
          <p:nvPr/>
        </p:nvSpPr>
        <p:spPr>
          <a:xfrm>
            <a:off x="5111837" y="1038225"/>
            <a:ext cx="152400" cy="152400"/>
          </a:xfrm>
          <a:prstGeom prst="roundRect">
            <a:avLst>
              <a:gd fmla="val 25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16"/>
          <p:cNvSpPr/>
          <p:nvPr/>
        </p:nvSpPr>
        <p:spPr>
          <a:xfrm>
            <a:off x="6302737" y="1037025"/>
            <a:ext cx="152400" cy="152400"/>
          </a:xfrm>
          <a:prstGeom prst="roundRect">
            <a:avLst>
              <a:gd fmla="val 25000" name="adj"/>
            </a:avLst>
          </a:prstGeom>
          <a:solidFill>
            <a:srgbClr val="F8FAFC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18" name="Google Shape;218;p16"/>
          <p:cNvGraphicFramePr/>
          <p:nvPr/>
        </p:nvGraphicFramePr>
        <p:xfrm>
          <a:off x="685800" y="1343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{CB907068-F609-42F5-9E71-2CE55A671C04}</a:tableStyleId>
              </a:tblPr>
              <a:tblGrid>
                <a:gridCol w="1238250"/>
                <a:gridCol w="2087750"/>
                <a:gridCol w="2087750"/>
                <a:gridCol w="2087750"/>
                <a:gridCol w="2087750"/>
                <a:gridCol w="1031075"/>
              </a:tblGrid>
              <a:tr h="495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900" u="none" cap="none" strike="noStrike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Mes 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7415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900" u="none" cap="none" strike="noStrike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Mes 2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7415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900" u="none" cap="none" strike="noStrike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Mes 3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7415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900" u="none" cap="none" strike="noStrike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Mes 4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7415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900" u="none" cap="none" strike="noStrike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Mes 5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74151"/>
                    </a:solidFill>
                  </a:tcPr>
                </a:tc>
              </a:tr>
              <a:tr h="495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900" u="none" cap="none" strike="noStrike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FASE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7415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750" u="none" cap="none" strike="noStrike">
                          <a:solidFill>
                            <a:srgbClr val="4B5563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750" u="none" cap="none" strike="noStrike">
                          <a:solidFill>
                            <a:srgbClr val="4B5563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S2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750" u="none" cap="none" strike="noStrike">
                          <a:solidFill>
                            <a:srgbClr val="4B5563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S3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750" u="none" cap="none" strike="noStrike">
                          <a:solidFill>
                            <a:srgbClr val="4B5563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S4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750" u="none" cap="none" strike="noStrike">
                          <a:solidFill>
                            <a:srgbClr val="4B5563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S5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4F6"/>
                    </a:solidFill>
                  </a:tcPr>
                </a:tc>
              </a:tr>
              <a:tr h="495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95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95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95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95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95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219" name="Google Shape;219;p16"/>
          <p:cNvSpPr txBox="1"/>
          <p:nvPr/>
        </p:nvSpPr>
        <p:spPr>
          <a:xfrm>
            <a:off x="914400" y="381000"/>
            <a:ext cx="106263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1F2937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Roadmap — Planificación del Proyecto (Waterfall)</a:t>
            </a:r>
            <a:endParaRPr/>
          </a:p>
        </p:txBody>
      </p:sp>
      <p:sp>
        <p:nvSpPr>
          <p:cNvPr id="220" name="Google Shape;220;p16"/>
          <p:cNvSpPr txBox="1"/>
          <p:nvPr/>
        </p:nvSpPr>
        <p:spPr>
          <a:xfrm>
            <a:off x="3642975" y="1038225"/>
            <a:ext cx="1302300" cy="15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Completado (S1-S4)</a:t>
            </a:r>
            <a:endParaRPr/>
          </a:p>
        </p:txBody>
      </p:sp>
      <p:sp>
        <p:nvSpPr>
          <p:cNvPr id="221" name="Google Shape;221;p16"/>
          <p:cNvSpPr txBox="1"/>
          <p:nvPr/>
        </p:nvSpPr>
        <p:spPr>
          <a:xfrm>
            <a:off x="5360049" y="1038225"/>
            <a:ext cx="816600" cy="15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Actual (S5)</a:t>
            </a:r>
            <a:endParaRPr/>
          </a:p>
        </p:txBody>
      </p:sp>
      <p:sp>
        <p:nvSpPr>
          <p:cNvPr id="222" name="Google Shape;222;p16"/>
          <p:cNvSpPr txBox="1"/>
          <p:nvPr/>
        </p:nvSpPr>
        <p:spPr>
          <a:xfrm>
            <a:off x="6494000" y="1038225"/>
            <a:ext cx="2057100" cy="15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Planificado (S6-S18)</a:t>
            </a:r>
            <a:endParaRPr/>
          </a:p>
        </p:txBody>
      </p:sp>
      <p:pic>
        <p:nvPicPr>
          <p:cNvPr id="223" name="Google Shape;223;p16" title="ChatGPT Image 24 sept 2026, 08_12_00 p.m.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8625" y="1285425"/>
            <a:ext cx="11420375" cy="4177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17"/>
          <p:cNvSpPr/>
          <p:nvPr/>
        </p:nvSpPr>
        <p:spPr>
          <a:xfrm>
            <a:off x="685800" y="557212"/>
            <a:ext cx="76200" cy="381000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7"/>
          <p:cNvSpPr/>
          <p:nvPr/>
        </p:nvSpPr>
        <p:spPr>
          <a:xfrm>
            <a:off x="2838450" y="1343025"/>
            <a:ext cx="6515100" cy="1657350"/>
          </a:xfrm>
          <a:prstGeom prst="roundRect">
            <a:avLst>
              <a:gd fmla="val 9195" name="adj"/>
            </a:avLst>
          </a:prstGeom>
          <a:solidFill>
            <a:srgbClr val="1F293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17"/>
          <p:cNvSpPr/>
          <p:nvPr/>
        </p:nvSpPr>
        <p:spPr>
          <a:xfrm>
            <a:off x="1333500" y="3457575"/>
            <a:ext cx="2971800" cy="1988641"/>
          </a:xfrm>
          <a:prstGeom prst="roundRect">
            <a:avLst>
              <a:gd fmla="val 574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17"/>
          <p:cNvSpPr/>
          <p:nvPr/>
        </p:nvSpPr>
        <p:spPr>
          <a:xfrm>
            <a:off x="4610100" y="3457575"/>
            <a:ext cx="2971800" cy="1988641"/>
          </a:xfrm>
          <a:prstGeom prst="roundRect">
            <a:avLst>
              <a:gd fmla="val 574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17"/>
          <p:cNvSpPr/>
          <p:nvPr/>
        </p:nvSpPr>
        <p:spPr>
          <a:xfrm>
            <a:off x="7886700" y="3457575"/>
            <a:ext cx="2971800" cy="1988641"/>
          </a:xfrm>
          <a:prstGeom prst="roundRect">
            <a:avLst>
              <a:gd fmla="val 574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17"/>
          <p:cNvSpPr/>
          <p:nvPr/>
        </p:nvSpPr>
        <p:spPr>
          <a:xfrm>
            <a:off x="1333500" y="5436691"/>
            <a:ext cx="2971800" cy="952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17"/>
          <p:cNvSpPr/>
          <p:nvPr/>
        </p:nvSpPr>
        <p:spPr>
          <a:xfrm>
            <a:off x="1333500" y="3457575"/>
            <a:ext cx="2971800" cy="381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17"/>
          <p:cNvSpPr/>
          <p:nvPr/>
        </p:nvSpPr>
        <p:spPr>
          <a:xfrm>
            <a:off x="1333500" y="3457575"/>
            <a:ext cx="9525" cy="1988641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17"/>
          <p:cNvSpPr/>
          <p:nvPr/>
        </p:nvSpPr>
        <p:spPr>
          <a:xfrm>
            <a:off x="4295775" y="3457575"/>
            <a:ext cx="9525" cy="1988641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17"/>
          <p:cNvSpPr/>
          <p:nvPr/>
        </p:nvSpPr>
        <p:spPr>
          <a:xfrm>
            <a:off x="4610100" y="5436691"/>
            <a:ext cx="2971800" cy="952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17"/>
          <p:cNvSpPr/>
          <p:nvPr/>
        </p:nvSpPr>
        <p:spPr>
          <a:xfrm>
            <a:off x="4610100" y="3457575"/>
            <a:ext cx="2971800" cy="381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7"/>
          <p:cNvSpPr/>
          <p:nvPr/>
        </p:nvSpPr>
        <p:spPr>
          <a:xfrm>
            <a:off x="4610100" y="3457575"/>
            <a:ext cx="9525" cy="1988641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7"/>
          <p:cNvSpPr/>
          <p:nvPr/>
        </p:nvSpPr>
        <p:spPr>
          <a:xfrm>
            <a:off x="7572375" y="3457575"/>
            <a:ext cx="9525" cy="1988641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17"/>
          <p:cNvSpPr/>
          <p:nvPr/>
        </p:nvSpPr>
        <p:spPr>
          <a:xfrm>
            <a:off x="7886700" y="5436691"/>
            <a:ext cx="2971800" cy="952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7"/>
          <p:cNvSpPr/>
          <p:nvPr/>
        </p:nvSpPr>
        <p:spPr>
          <a:xfrm>
            <a:off x="7886700" y="3457575"/>
            <a:ext cx="2971800" cy="381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7"/>
          <p:cNvSpPr/>
          <p:nvPr/>
        </p:nvSpPr>
        <p:spPr>
          <a:xfrm>
            <a:off x="7886700" y="3457575"/>
            <a:ext cx="9525" cy="1988641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17"/>
          <p:cNvSpPr/>
          <p:nvPr/>
        </p:nvSpPr>
        <p:spPr>
          <a:xfrm>
            <a:off x="10848975" y="3457575"/>
            <a:ext cx="9525" cy="1988641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245" name="Google Shape;24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86050" y="3800475"/>
            <a:ext cx="2667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6" name="Google Shape;246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905500" y="3800475"/>
            <a:ext cx="3810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7" name="Google Shape;247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258300" y="3800475"/>
            <a:ext cx="228600" cy="304800"/>
          </a:xfrm>
          <a:prstGeom prst="rect">
            <a:avLst/>
          </a:prstGeom>
          <a:noFill/>
          <a:ln>
            <a:noFill/>
          </a:ln>
        </p:spPr>
      </p:pic>
      <p:sp>
        <p:nvSpPr>
          <p:cNvPr id="248" name="Google Shape;248;p17"/>
          <p:cNvSpPr txBox="1"/>
          <p:nvPr/>
        </p:nvSpPr>
        <p:spPr>
          <a:xfrm>
            <a:off x="914400" y="533400"/>
            <a:ext cx="5481935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1F2937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Próximas Entregas e Hitos</a:t>
            </a:r>
            <a:endParaRPr/>
          </a:p>
        </p:txBody>
      </p:sp>
      <p:sp>
        <p:nvSpPr>
          <p:cNvPr id="249" name="Google Shape;249;p17"/>
          <p:cNvSpPr txBox="1"/>
          <p:nvPr/>
        </p:nvSpPr>
        <p:spPr>
          <a:xfrm>
            <a:off x="2786062" y="1571625"/>
            <a:ext cx="6619875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EA580C"/>
                </a:solidFill>
                <a:latin typeface="Inter"/>
                <a:ea typeface="Inter"/>
                <a:cs typeface="Inter"/>
                <a:sym typeface="Inter"/>
              </a:rPr>
              <a:t>PRINCIPAL HITO DE SEGUIMIENTO</a:t>
            </a:r>
            <a:endParaRPr/>
          </a:p>
        </p:txBody>
      </p:sp>
      <p:sp>
        <p:nvSpPr>
          <p:cNvPr id="250" name="Google Shape;250;p17"/>
          <p:cNvSpPr txBox="1"/>
          <p:nvPr/>
        </p:nvSpPr>
        <p:spPr>
          <a:xfrm>
            <a:off x="2620565" y="1847850"/>
            <a:ext cx="6950868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VIERNES 2 DE OCTUBRE</a:t>
            </a:r>
            <a:endParaRPr/>
          </a:p>
        </p:txBody>
      </p:sp>
      <p:sp>
        <p:nvSpPr>
          <p:cNvPr id="251" name="Google Shape;251;p17"/>
          <p:cNvSpPr txBox="1"/>
          <p:nvPr/>
        </p:nvSpPr>
        <p:spPr>
          <a:xfrm>
            <a:off x="2786062" y="2543175"/>
            <a:ext cx="66198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Entrega y presentación de avances de la fase de </a:t>
            </a:r>
            <a:r>
              <a:rPr b="1" i="0" lang="en-US" sz="1500" u="none" cap="none" strike="noStrike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Diseño</a:t>
            </a:r>
            <a:r>
              <a:rPr b="0" i="0" lang="en-US" sz="1500" u="none" cap="none" strike="noStrike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/>
          </a:p>
        </p:txBody>
      </p:sp>
      <p:sp>
        <p:nvSpPr>
          <p:cNvPr id="252" name="Google Shape;252;p17"/>
          <p:cNvSpPr txBox="1"/>
          <p:nvPr/>
        </p:nvSpPr>
        <p:spPr>
          <a:xfrm>
            <a:off x="1685925" y="6070103"/>
            <a:ext cx="105060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17"/>
          <p:cNvSpPr txBox="1"/>
          <p:nvPr/>
        </p:nvSpPr>
        <p:spPr>
          <a:xfrm>
            <a:off x="1181695" y="4257675"/>
            <a:ext cx="3275409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F2937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Modelo de Datos</a:t>
            </a:r>
            <a:endParaRPr/>
          </a:p>
        </p:txBody>
      </p:sp>
      <p:sp>
        <p:nvSpPr>
          <p:cNvPr id="254" name="Google Shape;254;p17"/>
          <p:cNvSpPr txBox="1"/>
          <p:nvPr/>
        </p:nvSpPr>
        <p:spPr>
          <a:xfrm>
            <a:off x="1259681" y="4572000"/>
            <a:ext cx="3119437" cy="3732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Avance estructural para la base de datos PostgreSQL de FerreMundo.</a:t>
            </a:r>
            <a:endParaRPr/>
          </a:p>
        </p:txBody>
      </p:sp>
      <p:sp>
        <p:nvSpPr>
          <p:cNvPr id="255" name="Google Shape;255;p17"/>
          <p:cNvSpPr txBox="1"/>
          <p:nvPr/>
        </p:nvSpPr>
        <p:spPr>
          <a:xfrm>
            <a:off x="4458295" y="4257675"/>
            <a:ext cx="3275409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F2937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Casos de Uso</a:t>
            </a:r>
            <a:endParaRPr/>
          </a:p>
        </p:txBody>
      </p:sp>
      <p:sp>
        <p:nvSpPr>
          <p:cNvPr id="256" name="Google Shape;256;p17"/>
          <p:cNvSpPr txBox="1"/>
          <p:nvPr/>
        </p:nvSpPr>
        <p:spPr>
          <a:xfrm>
            <a:off x="4536281" y="4572000"/>
            <a:ext cx="3119437" cy="559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Diagramación de interacciones entre usuarios (clientes/admin) y la plataforma.</a:t>
            </a:r>
            <a:endParaRPr/>
          </a:p>
        </p:txBody>
      </p:sp>
      <p:sp>
        <p:nvSpPr>
          <p:cNvPr id="257" name="Google Shape;257;p17"/>
          <p:cNvSpPr txBox="1"/>
          <p:nvPr/>
        </p:nvSpPr>
        <p:spPr>
          <a:xfrm>
            <a:off x="7734895" y="4257675"/>
            <a:ext cx="3275409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F2937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Casos de Prueba</a:t>
            </a:r>
            <a:endParaRPr/>
          </a:p>
        </p:txBody>
      </p:sp>
      <p:sp>
        <p:nvSpPr>
          <p:cNvPr id="258" name="Google Shape;258;p17"/>
          <p:cNvSpPr txBox="1"/>
          <p:nvPr/>
        </p:nvSpPr>
        <p:spPr>
          <a:xfrm>
            <a:off x="7812881" y="4572000"/>
            <a:ext cx="3119437" cy="3732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Definición inicial de escenarios de validación para QA y aseguramiento.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