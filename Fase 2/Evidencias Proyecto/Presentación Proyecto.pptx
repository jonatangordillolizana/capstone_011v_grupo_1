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custom-properties+xml" PartName="/docProps/custom.xml"/>
  <Override ContentType="application/binary" PartName="/ppt/metadata"/>
  <Override ContentType="application/vnd.openxmlformats-officedocument.presentationml.notesMaster+xml" PartName="/ppt/notesMasters/notesMaster1.xml"/>
  <Override ContentType="application/vnd.openxmlformats-officedocument.presentationml.presProps+xml" PartName="/ppt/presProps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custom-properties" Target="docProps/custom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5"/>
  </p:sldMasterIdLst>
  <p:notesMasterIdLst>
    <p:notesMasterId r:id="rId6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y="6858000" cx="12192000"/>
  <p:notesSz cx="12192000" cy="6858000"/>
  <p:embeddedFontLst>
    <p:embeddedFont>
      <p:font typeface="Inter"/>
      <p:regular r:id="rId24"/>
      <p:bold r:id="rId25"/>
      <p:italic r:id="rId26"/>
      <p:boldItalic r:id="rId27"/>
    </p:embeddedFont>
    <p:embeddedFont>
      <p:font typeface="Tahoma"/>
      <p:regular r:id="rId28"/>
      <p:bold r:id="rId2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880">
          <p15:clr>
            <a:srgbClr val="000000"/>
          </p15:clr>
        </p15:guide>
        <p15:guide id="2" pos="2160">
          <p15:clr>
            <a:srgbClr val="000000"/>
          </p15:clr>
        </p15:guide>
      </p15:sldGuideLst>
    </p:ext>
    <p:ext uri="GoogleSlidesCustomDataVersion2">
      <go:slidesCustomData xmlns:go="http://customooxmlschemas.google.com/" r:id="rId30" roundtripDataSignature="AMtx7mhajOYIPtiqNNJE7cPzCSuXgKeJg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3579349-B9B9-41A4-9F7A-237BA57FED3F}">
  <a:tblStyle styleId="{C3579349-B9B9-41A4-9F7A-237BA57FED3F}" styleName="Table_0">
    <a:wholeTbl>
      <a:tcTxStyle b="off" i="off">
        <a:font>
          <a:latin typeface="Calibri"/>
          <a:ea typeface="Calibri"/>
          <a:cs typeface="Calibri"/>
        </a:font>
        <a:schemeClr val="dk1"/>
      </a:tcTxStyle>
      <a:tcStyle>
        <a:tcBdr>
          <a:lef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000000">
                  <a:alpha val="0"/>
                </a:srgbClr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FFFFF">
              <a:alpha val="0"/>
            </a:srgbClr>
          </a:solidFill>
        </a:fill>
      </a:tc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880" orient="horz"/>
        <p:guide pos="216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4.xml"/><Relationship Id="rId22" Type="http://schemas.openxmlformats.org/officeDocument/2006/relationships/slide" Target="slides/slide16.xml"/><Relationship Id="rId21" Type="http://schemas.openxmlformats.org/officeDocument/2006/relationships/slide" Target="slides/slide15.xml"/><Relationship Id="rId24" Type="http://schemas.openxmlformats.org/officeDocument/2006/relationships/font" Target="fonts/Inter-regular.fntdata"/><Relationship Id="rId23" Type="http://schemas.openxmlformats.org/officeDocument/2006/relationships/slide" Target="slides/slide17.xml"/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tableStyles" Target="tableStyles.xml"/><Relationship Id="rId9" Type="http://schemas.openxmlformats.org/officeDocument/2006/relationships/slide" Target="slides/slide3.xml"/><Relationship Id="rId26" Type="http://schemas.openxmlformats.org/officeDocument/2006/relationships/font" Target="fonts/Inter-italic.fntdata"/><Relationship Id="rId25" Type="http://schemas.openxmlformats.org/officeDocument/2006/relationships/font" Target="fonts/Inter-bold.fntdata"/><Relationship Id="rId28" Type="http://schemas.openxmlformats.org/officeDocument/2006/relationships/font" Target="fonts/Tahoma-regular.fntdata"/><Relationship Id="rId27" Type="http://schemas.openxmlformats.org/officeDocument/2006/relationships/font" Target="fonts/Inter-boldItalic.fntdata"/><Relationship Id="rId5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29" Type="http://schemas.openxmlformats.org/officeDocument/2006/relationships/font" Target="fonts/Tahoma-bold.fntdata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30" Type="http://customschemas.google.com/relationships/presentationmetadata" Target="metadata"/><Relationship Id="rId11" Type="http://schemas.openxmlformats.org/officeDocument/2006/relationships/slide" Target="slides/slide5.xml"/><Relationship Id="rId10" Type="http://schemas.openxmlformats.org/officeDocument/2006/relationships/slide" Target="slides/slide4.xml"/><Relationship Id="rId13" Type="http://schemas.openxmlformats.org/officeDocument/2006/relationships/slide" Target="slides/slide7.xml"/><Relationship Id="rId12" Type="http://schemas.openxmlformats.org/officeDocument/2006/relationships/slide" Target="slides/slide6.xml"/><Relationship Id="rId15" Type="http://schemas.openxmlformats.org/officeDocument/2006/relationships/slide" Target="slides/slide9.xml"/><Relationship Id="rId14" Type="http://schemas.openxmlformats.org/officeDocument/2006/relationships/slide" Target="slides/slide8.xml"/><Relationship Id="rId17" Type="http://schemas.openxmlformats.org/officeDocument/2006/relationships/slide" Target="slides/slide11.xml"/><Relationship Id="rId16" Type="http://schemas.openxmlformats.org/officeDocument/2006/relationships/slide" Target="slides/slide10.xml"/><Relationship Id="rId19" Type="http://schemas.openxmlformats.org/officeDocument/2006/relationships/slide" Target="slides/slide13.xml"/><Relationship Id="rId18" Type="http://schemas.openxmlformats.org/officeDocument/2006/relationships/slide" Target="slides/slide12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" name="Google Shape;45;p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56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8" name="Google Shape;58;p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8" name="Google Shape;108;p3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7" name="Google Shape;147;p4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0" name="Google Shape;160;p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7" name="Shape 1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8" name="Google Shape;178;p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9" name="Google Shape;179;p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7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p12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1" name="Google Shape;201;p12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8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7" name="Google Shape;257;p8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9" name="Shape 2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Google Shape;270;p9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1" name="Google Shape;271;p9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10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5" name="Google Shape;285;p10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99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0" name="Google Shape;300;p11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1" name="Google Shape;301;p11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13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5" name="Google Shape;315;p13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35" name="Shape 3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6" name="Google Shape;336;p14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7" name="Google Shape;337;p14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55" name="Shape 3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6" name="Google Shape;356;p15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7" name="Google Shape;357;p15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86" name="Shape 3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7" name="Google Shape;387;p16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8" name="Google Shape;388;p16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450" name="Shape 4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1" name="Google Shape;451;p17:notes"/>
          <p:cNvSpPr txBox="1"/>
          <p:nvPr>
            <p:ph idx="1" type="body"/>
          </p:nvPr>
        </p:nvSpPr>
        <p:spPr>
          <a:xfrm>
            <a:off x="1219200" y="3257550"/>
            <a:ext cx="9753600" cy="3086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2" name="Google Shape;452;p17:notes"/>
          <p:cNvSpPr/>
          <p:nvPr>
            <p:ph idx="2" type="sldImg"/>
          </p:nvPr>
        </p:nvSpPr>
        <p:spPr>
          <a:xfrm>
            <a:off x="2032400" y="514350"/>
            <a:ext cx="8128400" cy="257175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1.pn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9"/>
          <p:cNvSpPr txBox="1"/>
          <p:nvPr>
            <p:ph type="title"/>
          </p:nvPr>
        </p:nvSpPr>
        <p:spPr>
          <a:xfrm>
            <a:off x="4450461" y="1780539"/>
            <a:ext cx="3291077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20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9"/>
          <p:cNvSpPr txBox="1"/>
          <p:nvPr>
            <p:ph idx="1" type="body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9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" name="Google Shape;15;p19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" name="Google Shape;16;p19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showMasterSp="0">
  <p:cSld name="Two Content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oogle Shape;18;p2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6715125" y="2609850"/>
            <a:ext cx="161925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9" name="Google Shape;19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52850" y="3228975"/>
            <a:ext cx="104775" cy="123825"/>
          </a:xfrm>
          <a:prstGeom prst="rect">
            <a:avLst/>
          </a:prstGeom>
          <a:noFill/>
          <a:ln>
            <a:noFill/>
          </a:ln>
        </p:spPr>
      </p:pic>
      <p:pic>
        <p:nvPicPr>
          <p:cNvPr id="20" name="Google Shape;20;p20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600825" y="3733800"/>
            <a:ext cx="2857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1" name="Google Shape;21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752850" y="4352925"/>
            <a:ext cx="10477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2" name="Google Shape;22;p20"/>
          <p:cNvSpPr txBox="1"/>
          <p:nvPr>
            <p:ph type="title"/>
          </p:nvPr>
        </p:nvSpPr>
        <p:spPr>
          <a:xfrm>
            <a:off x="4450461" y="1780539"/>
            <a:ext cx="3291077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20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20"/>
          <p:cNvSpPr txBox="1"/>
          <p:nvPr>
            <p:ph idx="1" type="body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4" name="Google Shape;24;p20"/>
          <p:cNvSpPr txBox="1"/>
          <p:nvPr>
            <p:ph idx="2" type="body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indent="-228600" lvl="1" marL="914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indent="-228600" lvl="2" marL="1371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indent="-228600" lvl="3" marL="1828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indent="-228600" lvl="4" marL="22860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indent="-228600" lvl="5" marL="27432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indent="-228600" lvl="6" marL="32004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indent="-228600" lvl="7" marL="36576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indent="-228600" lvl="8" marL="411480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20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20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7" name="Google Shape;27;p20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>
  <p:cSld name="Title Slide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21"/>
          <p:cNvSpPr txBox="1"/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20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0" name="Google Shape;30;p21"/>
          <p:cNvSpPr txBox="1"/>
          <p:nvPr>
            <p:ph idx="1" type="subTitle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21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21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21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>
  <p:cSld name="Title Only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22"/>
          <p:cNvSpPr txBox="1"/>
          <p:nvPr>
            <p:ph type="title"/>
          </p:nvPr>
        </p:nvSpPr>
        <p:spPr>
          <a:xfrm>
            <a:off x="4450461" y="1780539"/>
            <a:ext cx="3291077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20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22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22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22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>
  <p:cSld name="Blank">
    <p:spTree>
      <p:nvGrpSpPr>
        <p:cNvPr id="39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23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23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23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8"/>
          <p:cNvSpPr txBox="1"/>
          <p:nvPr>
            <p:ph type="title"/>
          </p:nvPr>
        </p:nvSpPr>
        <p:spPr>
          <a:xfrm>
            <a:off x="4450461" y="1780539"/>
            <a:ext cx="3291077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1" i="0" sz="4200" u="none" cap="none" strike="noStrike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18"/>
          <p:cNvSpPr txBox="1"/>
          <p:nvPr>
            <p:ph idx="1" type="body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18"/>
          <p:cNvSpPr txBox="1"/>
          <p:nvPr>
            <p:ph idx="11" type="ftr"/>
          </p:nvPr>
        </p:nvSpPr>
        <p:spPr>
          <a:xfrm>
            <a:off x="4145280" y="6377940"/>
            <a:ext cx="390144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9" name="Google Shape;9;p18"/>
          <p:cNvSpPr txBox="1"/>
          <p:nvPr>
            <p:ph idx="10" type="dt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 sz="1800">
                <a:solidFill>
                  <a:srgbClr val="888888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0" name="Google Shape;10;p18"/>
          <p:cNvSpPr txBox="1"/>
          <p:nvPr>
            <p:ph idx="12" type="sldNum"/>
          </p:nvPr>
        </p:nvSpPr>
        <p:spPr>
          <a:xfrm>
            <a:off x="8778240" y="6377940"/>
            <a:ext cx="2804160" cy="342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>
            <a:lvl1pPr indent="0" lvl="0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1pPr>
            <a:lvl2pPr indent="0" lvl="1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2pPr>
            <a:lvl3pPr indent="0" lvl="2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3pPr>
            <a:lvl4pPr indent="0" lvl="3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4pPr>
            <a:lvl5pPr indent="0" lvl="4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5pPr>
            <a:lvl6pPr indent="0" lvl="5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6pPr>
            <a:lvl7pPr indent="0" lvl="6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7pPr>
            <a:lvl8pPr indent="0" lvl="7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8pPr>
            <a:lvl9pPr indent="0" lvl="8" algn="r">
              <a:spcBef>
                <a:spcPts val="0"/>
              </a:spcBef>
              <a:buNone/>
              <a:defRPr sz="1800">
                <a:solidFill>
                  <a:srgbClr val="888888"/>
                </a:solidFill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0.png"/><Relationship Id="rId4" Type="http://schemas.openxmlformats.org/officeDocument/2006/relationships/image" Target="../media/image7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1.png"/><Relationship Id="rId4" Type="http://schemas.openxmlformats.org/officeDocument/2006/relationships/image" Target="../media/image12.png"/><Relationship Id="rId5" Type="http://schemas.openxmlformats.org/officeDocument/2006/relationships/image" Target="../media/image4.png"/><Relationship Id="rId6" Type="http://schemas.openxmlformats.org/officeDocument/2006/relationships/image" Target="../media/image6.pn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Relationship Id="rId4" Type="http://schemas.openxmlformats.org/officeDocument/2006/relationships/image" Target="../media/image2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8.png"/><Relationship Id="rId4" Type="http://schemas.openxmlformats.org/officeDocument/2006/relationships/image" Target="../media/image17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9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3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5.png"/><Relationship Id="rId4" Type="http://schemas.openxmlformats.org/officeDocument/2006/relationships/image" Target="../media/image3.png"/><Relationship Id="rId10" Type="http://schemas.openxmlformats.org/officeDocument/2006/relationships/image" Target="../media/image22.png"/><Relationship Id="rId9" Type="http://schemas.openxmlformats.org/officeDocument/2006/relationships/image" Target="../media/image26.png"/><Relationship Id="rId5" Type="http://schemas.openxmlformats.org/officeDocument/2006/relationships/image" Target="../media/image20.png"/><Relationship Id="rId6" Type="http://schemas.openxmlformats.org/officeDocument/2006/relationships/image" Target="../media/image1.png"/><Relationship Id="rId7" Type="http://schemas.openxmlformats.org/officeDocument/2006/relationships/image" Target="../media/image24.png"/><Relationship Id="rId8" Type="http://schemas.openxmlformats.org/officeDocument/2006/relationships/image" Target="../media/image18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21.jpg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30.jp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3.jpg"/><Relationship Id="rId4" Type="http://schemas.openxmlformats.org/officeDocument/2006/relationships/image" Target="../media/image27.jp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1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6.png"/><Relationship Id="rId4" Type="http://schemas.openxmlformats.org/officeDocument/2006/relationships/image" Target="../media/image19.png"/><Relationship Id="rId11" Type="http://schemas.openxmlformats.org/officeDocument/2006/relationships/image" Target="../media/image39.png"/><Relationship Id="rId10" Type="http://schemas.openxmlformats.org/officeDocument/2006/relationships/image" Target="../media/image35.png"/><Relationship Id="rId9" Type="http://schemas.openxmlformats.org/officeDocument/2006/relationships/image" Target="../media/image45.png"/><Relationship Id="rId5" Type="http://schemas.openxmlformats.org/officeDocument/2006/relationships/image" Target="../media/image29.png"/><Relationship Id="rId6" Type="http://schemas.openxmlformats.org/officeDocument/2006/relationships/image" Target="../media/image28.jpg"/><Relationship Id="rId7" Type="http://schemas.openxmlformats.org/officeDocument/2006/relationships/image" Target="../media/image33.jpg"/><Relationship Id="rId8" Type="http://schemas.openxmlformats.org/officeDocument/2006/relationships/image" Target="../media/image34.jp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Relationship Id="rId4" Type="http://schemas.openxmlformats.org/officeDocument/2006/relationships/image" Target="../media/image29.png"/><Relationship Id="rId5" Type="http://schemas.openxmlformats.org/officeDocument/2006/relationships/image" Target="../media/image38.jpg"/><Relationship Id="rId6" Type="http://schemas.openxmlformats.org/officeDocument/2006/relationships/image" Target="../media/image41.jpg"/><Relationship Id="rId7" Type="http://schemas.openxmlformats.org/officeDocument/2006/relationships/image" Target="../media/image43.png"/><Relationship Id="rId8" Type="http://schemas.openxmlformats.org/officeDocument/2006/relationships/image" Target="../media/image44.pn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40.jpg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36.png"/><Relationship Id="rId4" Type="http://schemas.openxmlformats.org/officeDocument/2006/relationships/image" Target="../media/image46.png"/><Relationship Id="rId10" Type="http://schemas.openxmlformats.org/officeDocument/2006/relationships/image" Target="../media/image48.png"/><Relationship Id="rId9" Type="http://schemas.openxmlformats.org/officeDocument/2006/relationships/image" Target="../media/image50.png"/><Relationship Id="rId5" Type="http://schemas.openxmlformats.org/officeDocument/2006/relationships/image" Target="../media/image42.png"/><Relationship Id="rId6" Type="http://schemas.openxmlformats.org/officeDocument/2006/relationships/image" Target="../media/image37.png"/><Relationship Id="rId7" Type="http://schemas.openxmlformats.org/officeDocument/2006/relationships/image" Target="../media/image49.png"/><Relationship Id="rId8" Type="http://schemas.openxmlformats.org/officeDocument/2006/relationships/image" Target="../media/image4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1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1C18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48" name="Google Shape;48;p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2000" y="1914525"/>
            <a:ext cx="114300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9" name="Google Shape;49;p1"/>
          <p:cNvSpPr txBox="1"/>
          <p:nvPr/>
        </p:nvSpPr>
        <p:spPr>
          <a:xfrm>
            <a:off x="978535" y="1864740"/>
            <a:ext cx="4369435" cy="196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59E0A"/>
                </a:solidFill>
                <a:latin typeface="Arial"/>
                <a:ea typeface="Arial"/>
                <a:cs typeface="Arial"/>
                <a:sym typeface="Arial"/>
              </a:rPr>
              <a:t>CAPSTONE_011V — INGENIERÍA EN INFORMÁTICA • DUOC UC</a:t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50" name="Google Shape;50;p1"/>
          <p:cNvSpPr txBox="1"/>
          <p:nvPr>
            <p:ph type="title"/>
          </p:nvPr>
        </p:nvSpPr>
        <p:spPr>
          <a:xfrm>
            <a:off x="749934" y="2236152"/>
            <a:ext cx="3745865" cy="7581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800"/>
              <a:t>FerreMundo</a:t>
            </a:r>
            <a:endParaRPr sz="4800"/>
          </a:p>
        </p:txBody>
      </p:sp>
      <p:pic>
        <p:nvPicPr>
          <p:cNvPr descr="image.png" id="51" name="Google Shape;51;p1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62000" y="3486150"/>
            <a:ext cx="133350" cy="152400"/>
          </a:xfrm>
          <a:prstGeom prst="rect">
            <a:avLst/>
          </a:prstGeom>
          <a:noFill/>
          <a:ln>
            <a:noFill/>
          </a:ln>
        </p:spPr>
      </p:pic>
      <p:sp>
        <p:nvSpPr>
          <p:cNvPr id="52" name="Google Shape;52;p1"/>
          <p:cNvSpPr txBox="1"/>
          <p:nvPr/>
        </p:nvSpPr>
        <p:spPr>
          <a:xfrm>
            <a:off x="749934" y="3050857"/>
            <a:ext cx="4285615" cy="6089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00">
                <a:solidFill>
                  <a:srgbClr val="D5D2D1"/>
                </a:solidFill>
                <a:latin typeface="Tahoma"/>
                <a:ea typeface="Tahoma"/>
                <a:cs typeface="Tahoma"/>
                <a:sym typeface="Tahoma"/>
              </a:rPr>
              <a:t>Seguimiento del Proyecto — Semana 11</a:t>
            </a:r>
            <a:endParaRPr sz="1800">
              <a:latin typeface="Tahoma"/>
              <a:ea typeface="Tahoma"/>
              <a:cs typeface="Tahoma"/>
              <a:sym typeface="Tahoma"/>
            </a:endParaRPr>
          </a:p>
          <a:p>
            <a:pPr indent="0" lvl="0" marL="222250" rtl="0" algn="l">
              <a:lnSpc>
                <a:spcPct val="100000"/>
              </a:lnSpc>
              <a:spcBef>
                <a:spcPts val="995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F59E0A"/>
                </a:solidFill>
                <a:latin typeface="Arial"/>
                <a:ea typeface="Arial"/>
                <a:cs typeface="Arial"/>
                <a:sym typeface="Arial"/>
              </a:rPr>
              <a:t>Fecha de presentación: 23 de octubre de 2026</a:t>
            </a:r>
            <a:endParaRPr sz="12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1"/>
          <p:cNvSpPr/>
          <p:nvPr/>
        </p:nvSpPr>
        <p:spPr>
          <a:xfrm>
            <a:off x="762000" y="4000500"/>
            <a:ext cx="10668000" cy="9525"/>
          </a:xfrm>
          <a:custGeom>
            <a:rect b="b" l="l" r="r" t="t"/>
            <a:pathLst>
              <a:path extrusionOk="0" h="9525" w="10668000">
                <a:moveTo>
                  <a:pt x="10668000" y="0"/>
                </a:moveTo>
                <a:lnTo>
                  <a:pt x="0" y="0"/>
                </a:lnTo>
                <a:lnTo>
                  <a:pt x="0" y="9525"/>
                </a:lnTo>
                <a:lnTo>
                  <a:pt x="10668000" y="9525"/>
                </a:lnTo>
                <a:lnTo>
                  <a:pt x="10668000" y="0"/>
                </a:lnTo>
                <a:close/>
              </a:path>
            </a:pathLst>
          </a:custGeom>
          <a:solidFill>
            <a:srgbClr val="FFFFFF">
              <a:alpha val="14902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54" name="Google Shape;54;p1"/>
          <p:cNvSpPr txBox="1"/>
          <p:nvPr/>
        </p:nvSpPr>
        <p:spPr>
          <a:xfrm>
            <a:off x="749934" y="4254200"/>
            <a:ext cx="2646045" cy="7353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9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A8A19E"/>
                </a:solidFill>
                <a:latin typeface="Tahoma"/>
                <a:ea typeface="Tahoma"/>
                <a:cs typeface="Tahoma"/>
                <a:sym typeface="Tahoma"/>
              </a:rPr>
              <a:t>INTEGRANTES DEL EQUIPO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465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rPr>
              <a:t>Jonatan Gordillo </a:t>
            </a:r>
            <a:r>
              <a:rPr lang="en-US" sz="1100">
                <a:solidFill>
                  <a:srgbClr val="A8A19E"/>
                </a:solidFill>
                <a:latin typeface="Tahoma"/>
                <a:ea typeface="Tahoma"/>
                <a:cs typeface="Tahoma"/>
                <a:sym typeface="Tahoma"/>
              </a:rPr>
              <a:t>(Desarrollo &amp; QA)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59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rPr>
              <a:t>Alan Cruz </a:t>
            </a:r>
            <a:r>
              <a:rPr lang="en-US" sz="1100">
                <a:solidFill>
                  <a:srgbClr val="A8A19E"/>
                </a:solidFill>
                <a:latin typeface="Tahoma"/>
                <a:ea typeface="Tahoma"/>
                <a:cs typeface="Tahoma"/>
                <a:sym typeface="Tahoma"/>
              </a:rPr>
              <a:t>(Jefe de Proyecto)</a:t>
            </a:r>
            <a:endParaRPr sz="11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55" name="Google Shape;55;p1"/>
          <p:cNvSpPr txBox="1"/>
          <p:nvPr/>
        </p:nvSpPr>
        <p:spPr>
          <a:xfrm>
            <a:off x="8175625" y="4254200"/>
            <a:ext cx="3357879" cy="4972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9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A8A19E"/>
                </a:solidFill>
                <a:latin typeface="Tahoma"/>
                <a:ea typeface="Tahoma"/>
                <a:cs typeface="Tahoma"/>
                <a:sym typeface="Tahoma"/>
              </a:rPr>
              <a:t>PROFESOR GUÍA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465"/>
              </a:spcBef>
              <a:spcAft>
                <a:spcPts val="0"/>
              </a:spcAft>
              <a:buNone/>
            </a:pPr>
            <a:r>
              <a:rPr b="1" lang="en-US" sz="135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rPr>
              <a:t>Fernando Gonzalo Herrera Francesconi</a:t>
            </a:r>
            <a:endParaRPr sz="135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"/>
          <p:cNvSpPr txBox="1"/>
          <p:nvPr/>
        </p:nvSpPr>
        <p:spPr>
          <a:xfrm>
            <a:off x="673734" y="474090"/>
            <a:ext cx="1433195" cy="185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MARCO DE TRABAJO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61" name="Google Shape;61;p2"/>
          <p:cNvSpPr txBox="1"/>
          <p:nvPr>
            <p:ph type="title"/>
          </p:nvPr>
        </p:nvSpPr>
        <p:spPr>
          <a:xfrm>
            <a:off x="673734" y="693356"/>
            <a:ext cx="7110095" cy="4146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550">
                <a:solidFill>
                  <a:srgbClr val="1C1817"/>
                </a:solidFill>
              </a:rPr>
              <a:t>Metodología Waterfall (Cascada tradicional)</a:t>
            </a:r>
            <a:endParaRPr sz="2550"/>
          </a:p>
        </p:txBody>
      </p:sp>
      <p:grpSp>
        <p:nvGrpSpPr>
          <p:cNvPr id="62" name="Google Shape;62;p2"/>
          <p:cNvGrpSpPr/>
          <p:nvPr/>
        </p:nvGrpSpPr>
        <p:grpSpPr>
          <a:xfrm>
            <a:off x="685800" y="1333499"/>
            <a:ext cx="10820400" cy="1047751"/>
            <a:chOff x="685800" y="1333499"/>
            <a:chExt cx="10820400" cy="1047751"/>
          </a:xfrm>
        </p:grpSpPr>
        <p:sp>
          <p:nvSpPr>
            <p:cNvPr id="63" name="Google Shape;63;p2"/>
            <p:cNvSpPr/>
            <p:nvPr/>
          </p:nvSpPr>
          <p:spPr>
            <a:xfrm>
              <a:off x="685800" y="1333500"/>
              <a:ext cx="10820400" cy="1047750"/>
            </a:xfrm>
            <a:custGeom>
              <a:rect b="b" l="l" r="r" t="t"/>
              <a:pathLst>
                <a:path extrusionOk="0" h="1047750" w="10820400">
                  <a:moveTo>
                    <a:pt x="10743946" y="0"/>
                  </a:moveTo>
                  <a:lnTo>
                    <a:pt x="76479" y="0"/>
                  </a:lnTo>
                  <a:lnTo>
                    <a:pt x="46709" y="6016"/>
                  </a:lnTo>
                  <a:lnTo>
                    <a:pt x="22399" y="22415"/>
                  </a:lnTo>
                  <a:lnTo>
                    <a:pt x="6009" y="46720"/>
                  </a:lnTo>
                  <a:lnTo>
                    <a:pt x="0" y="76453"/>
                  </a:lnTo>
                  <a:lnTo>
                    <a:pt x="0" y="971296"/>
                  </a:lnTo>
                  <a:lnTo>
                    <a:pt x="6009" y="1001029"/>
                  </a:lnTo>
                  <a:lnTo>
                    <a:pt x="22399" y="1025334"/>
                  </a:lnTo>
                  <a:lnTo>
                    <a:pt x="46709" y="1041733"/>
                  </a:lnTo>
                  <a:lnTo>
                    <a:pt x="76479" y="1047750"/>
                  </a:lnTo>
                  <a:lnTo>
                    <a:pt x="10743946" y="1047750"/>
                  </a:lnTo>
                  <a:lnTo>
                    <a:pt x="10773679" y="1041733"/>
                  </a:lnTo>
                  <a:lnTo>
                    <a:pt x="10797984" y="1025334"/>
                  </a:lnTo>
                  <a:lnTo>
                    <a:pt x="10814383" y="1001029"/>
                  </a:lnTo>
                  <a:lnTo>
                    <a:pt x="10820400" y="971296"/>
                  </a:lnTo>
                  <a:lnTo>
                    <a:pt x="10820400" y="76453"/>
                  </a:lnTo>
                  <a:lnTo>
                    <a:pt x="10814383" y="46720"/>
                  </a:lnTo>
                  <a:lnTo>
                    <a:pt x="10797984" y="22415"/>
                  </a:lnTo>
                  <a:lnTo>
                    <a:pt x="10773679" y="6016"/>
                  </a:lnTo>
                  <a:lnTo>
                    <a:pt x="10743946" y="0"/>
                  </a:lnTo>
                  <a:close/>
                </a:path>
              </a:pathLst>
            </a:custGeom>
            <a:solidFill>
              <a:srgbClr val="FFFA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4" name="Google Shape;64;p2"/>
            <p:cNvSpPr/>
            <p:nvPr/>
          </p:nvSpPr>
          <p:spPr>
            <a:xfrm>
              <a:off x="685800" y="1333499"/>
              <a:ext cx="10820400" cy="1047750"/>
            </a:xfrm>
            <a:custGeom>
              <a:rect b="b" l="l" r="r" t="t"/>
              <a:pathLst>
                <a:path extrusionOk="0" h="1047750" w="10820400">
                  <a:moveTo>
                    <a:pt x="10820400" y="1038225"/>
                  </a:moveTo>
                  <a:lnTo>
                    <a:pt x="0" y="1038225"/>
                  </a:lnTo>
                  <a:lnTo>
                    <a:pt x="0" y="1047750"/>
                  </a:lnTo>
                  <a:lnTo>
                    <a:pt x="10820400" y="1047750"/>
                  </a:lnTo>
                  <a:lnTo>
                    <a:pt x="10820400" y="1038225"/>
                  </a:lnTo>
                  <a:close/>
                </a:path>
                <a:path extrusionOk="0" h="1047750" w="10820400">
                  <a:moveTo>
                    <a:pt x="1082040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10820400" y="9525"/>
                  </a:lnTo>
                  <a:lnTo>
                    <a:pt x="10820400" y="0"/>
                  </a:lnTo>
                  <a:close/>
                </a:path>
              </a:pathLst>
            </a:custGeom>
            <a:solidFill>
              <a:srgbClr val="FCE689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5" name="Google Shape;65;p2"/>
            <p:cNvSpPr/>
            <p:nvPr/>
          </p:nvSpPr>
          <p:spPr>
            <a:xfrm>
              <a:off x="685800" y="1333500"/>
              <a:ext cx="47625" cy="1047750"/>
            </a:xfrm>
            <a:custGeom>
              <a:rect b="b" l="l" r="r" t="t"/>
              <a:pathLst>
                <a:path extrusionOk="0" h="1047750" w="47625">
                  <a:moveTo>
                    <a:pt x="47625" y="0"/>
                  </a:moveTo>
                  <a:lnTo>
                    <a:pt x="0" y="0"/>
                  </a:lnTo>
                  <a:lnTo>
                    <a:pt x="0" y="1047750"/>
                  </a:lnTo>
                  <a:lnTo>
                    <a:pt x="47625" y="1047750"/>
                  </a:lnTo>
                  <a:lnTo>
                    <a:pt x="47625" y="0"/>
                  </a:lnTo>
                  <a:close/>
                </a:path>
              </a:pathLst>
            </a:custGeom>
            <a:solidFill>
              <a:srgbClr val="D9770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66" name="Google Shape;66;p2"/>
            <p:cNvSpPr/>
            <p:nvPr/>
          </p:nvSpPr>
          <p:spPr>
            <a:xfrm>
              <a:off x="11496675" y="1333500"/>
              <a:ext cx="9525" cy="1047750"/>
            </a:xfrm>
            <a:custGeom>
              <a:rect b="b" l="l" r="r" t="t"/>
              <a:pathLst>
                <a:path extrusionOk="0" h="1047750" w="9525">
                  <a:moveTo>
                    <a:pt x="9525" y="0"/>
                  </a:moveTo>
                  <a:lnTo>
                    <a:pt x="0" y="0"/>
                  </a:lnTo>
                  <a:lnTo>
                    <a:pt x="0" y="1047750"/>
                  </a:lnTo>
                  <a:lnTo>
                    <a:pt x="9525" y="1047750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FCE689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67" name="Google Shape;67;p2"/>
          <p:cNvSpPr txBox="1"/>
          <p:nvPr/>
        </p:nvSpPr>
        <p:spPr>
          <a:xfrm>
            <a:off x="949960" y="1461445"/>
            <a:ext cx="7521575" cy="787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74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DEFINICIÓN METODOLÓGICA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66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78350E"/>
                </a:solidFill>
                <a:latin typeface="Tahoma"/>
                <a:ea typeface="Tahoma"/>
                <a:cs typeface="Tahoma"/>
                <a:sym typeface="Tahoma"/>
              </a:rPr>
              <a:t>“Waterfall es una metodología de desarrollo secuencial, donde cada etapa se planifica y completa</a:t>
            </a:r>
            <a:endParaRPr sz="125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680"/>
              </a:spcBef>
              <a:spcAft>
                <a:spcPts val="0"/>
              </a:spcAft>
              <a:buNone/>
            </a:pPr>
            <a:r>
              <a:rPr lang="en-US" sz="1250">
                <a:solidFill>
                  <a:srgbClr val="78350E"/>
                </a:solidFill>
                <a:latin typeface="Tahoma"/>
                <a:ea typeface="Tahoma"/>
                <a:cs typeface="Tahoma"/>
                <a:sym typeface="Tahoma"/>
              </a:rPr>
              <a:t>antes de avanzar a la siguiente”.</a:t>
            </a:r>
            <a:endParaRPr sz="125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68" name="Google Shape;68;p2"/>
          <p:cNvGrpSpPr/>
          <p:nvPr/>
        </p:nvGrpSpPr>
        <p:grpSpPr>
          <a:xfrm>
            <a:off x="9301226" y="1547875"/>
            <a:ext cx="1971695" cy="285750"/>
            <a:chOff x="9301226" y="1547875"/>
            <a:chExt cx="1971695" cy="285750"/>
          </a:xfrm>
        </p:grpSpPr>
        <p:sp>
          <p:nvSpPr>
            <p:cNvPr id="69" name="Google Shape;69;p2"/>
            <p:cNvSpPr/>
            <p:nvPr/>
          </p:nvSpPr>
          <p:spPr>
            <a:xfrm>
              <a:off x="9301246" y="1547875"/>
              <a:ext cx="1971675" cy="285750"/>
            </a:xfrm>
            <a:custGeom>
              <a:rect b="b" l="l" r="r" t="t"/>
              <a:pathLst>
                <a:path extrusionOk="0" h="285750" w="1971675">
                  <a:moveTo>
                    <a:pt x="1828779" y="0"/>
                  </a:moveTo>
                  <a:lnTo>
                    <a:pt x="142854" y="0"/>
                  </a:lnTo>
                  <a:lnTo>
                    <a:pt x="97661" y="7275"/>
                  </a:lnTo>
                  <a:lnTo>
                    <a:pt x="58437" y="27541"/>
                  </a:lnTo>
                  <a:lnTo>
                    <a:pt x="27521" y="58457"/>
                  </a:lnTo>
                  <a:lnTo>
                    <a:pt x="7255" y="97682"/>
                  </a:lnTo>
                  <a:lnTo>
                    <a:pt x="0" y="142875"/>
                  </a:lnTo>
                  <a:lnTo>
                    <a:pt x="7288" y="188018"/>
                  </a:lnTo>
                  <a:lnTo>
                    <a:pt x="27548" y="227237"/>
                  </a:lnTo>
                  <a:lnTo>
                    <a:pt x="58452" y="258171"/>
                  </a:lnTo>
                  <a:lnTo>
                    <a:pt x="97668" y="278462"/>
                  </a:lnTo>
                  <a:lnTo>
                    <a:pt x="142854" y="285750"/>
                  </a:lnTo>
                  <a:lnTo>
                    <a:pt x="1828779" y="285750"/>
                  </a:lnTo>
                  <a:lnTo>
                    <a:pt x="1873923" y="278462"/>
                  </a:lnTo>
                  <a:lnTo>
                    <a:pt x="1913142" y="258171"/>
                  </a:lnTo>
                  <a:lnTo>
                    <a:pt x="1944076" y="227237"/>
                  </a:lnTo>
                  <a:lnTo>
                    <a:pt x="1964366" y="188018"/>
                  </a:lnTo>
                  <a:lnTo>
                    <a:pt x="1971654" y="142875"/>
                  </a:lnTo>
                  <a:lnTo>
                    <a:pt x="1964366" y="97682"/>
                  </a:lnTo>
                  <a:lnTo>
                    <a:pt x="1944076" y="58457"/>
                  </a:lnTo>
                  <a:lnTo>
                    <a:pt x="1913142" y="27541"/>
                  </a:lnTo>
                  <a:lnTo>
                    <a:pt x="1873923" y="7275"/>
                  </a:lnTo>
                  <a:lnTo>
                    <a:pt x="1828779" y="0"/>
                  </a:lnTo>
                  <a:close/>
                </a:path>
              </a:pathLst>
            </a:custGeom>
            <a:solidFill>
              <a:srgbClr val="FDF3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0" name="Google Shape;70;p2"/>
            <p:cNvSpPr/>
            <p:nvPr/>
          </p:nvSpPr>
          <p:spPr>
            <a:xfrm>
              <a:off x="9301226" y="1547875"/>
              <a:ext cx="1971675" cy="285750"/>
            </a:xfrm>
            <a:custGeom>
              <a:rect b="b" l="l" r="r" t="t"/>
              <a:pathLst>
                <a:path extrusionOk="0" h="285750" w="1971675">
                  <a:moveTo>
                    <a:pt x="0" y="142875"/>
                  </a:moveTo>
                  <a:lnTo>
                    <a:pt x="7275" y="97682"/>
                  </a:lnTo>
                  <a:lnTo>
                    <a:pt x="27541" y="58457"/>
                  </a:lnTo>
                  <a:lnTo>
                    <a:pt x="58457" y="27541"/>
                  </a:lnTo>
                  <a:lnTo>
                    <a:pt x="97682" y="7275"/>
                  </a:lnTo>
                  <a:lnTo>
                    <a:pt x="142875" y="0"/>
                  </a:lnTo>
                  <a:lnTo>
                    <a:pt x="1828800" y="0"/>
                  </a:lnTo>
                  <a:lnTo>
                    <a:pt x="1873943" y="7275"/>
                  </a:lnTo>
                  <a:lnTo>
                    <a:pt x="1913162" y="27541"/>
                  </a:lnTo>
                  <a:lnTo>
                    <a:pt x="1944096" y="58457"/>
                  </a:lnTo>
                  <a:lnTo>
                    <a:pt x="1964387" y="97682"/>
                  </a:lnTo>
                  <a:lnTo>
                    <a:pt x="1971675" y="142875"/>
                  </a:lnTo>
                  <a:lnTo>
                    <a:pt x="1964387" y="188018"/>
                  </a:lnTo>
                  <a:lnTo>
                    <a:pt x="1944096" y="227237"/>
                  </a:lnTo>
                  <a:lnTo>
                    <a:pt x="1913162" y="258171"/>
                  </a:lnTo>
                  <a:lnTo>
                    <a:pt x="1873943" y="278462"/>
                  </a:lnTo>
                  <a:lnTo>
                    <a:pt x="1828800" y="285750"/>
                  </a:lnTo>
                  <a:lnTo>
                    <a:pt x="142875" y="285750"/>
                  </a:lnTo>
                  <a:lnTo>
                    <a:pt x="97682" y="278461"/>
                  </a:lnTo>
                  <a:lnTo>
                    <a:pt x="58457" y="258163"/>
                  </a:lnTo>
                  <a:lnTo>
                    <a:pt x="27541" y="227210"/>
                  </a:lnTo>
                  <a:lnTo>
                    <a:pt x="7275" y="187953"/>
                  </a:lnTo>
                  <a:lnTo>
                    <a:pt x="0" y="142748"/>
                  </a:lnTo>
                  <a:close/>
                </a:path>
              </a:pathLst>
            </a:custGeom>
            <a:noFill/>
            <a:ln cap="flat" cmpd="sng" w="9525">
              <a:solidFill>
                <a:srgbClr val="F59E0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1" name="Google Shape;71;p2"/>
          <p:cNvSpPr txBox="1"/>
          <p:nvPr/>
        </p:nvSpPr>
        <p:spPr>
          <a:xfrm>
            <a:off x="9456166" y="1587436"/>
            <a:ext cx="1676400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Duración total: 18 semanas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2" name="Google Shape;72;p2"/>
          <p:cNvGrpSpPr/>
          <p:nvPr/>
        </p:nvGrpSpPr>
        <p:grpSpPr>
          <a:xfrm>
            <a:off x="8796401" y="1890776"/>
            <a:ext cx="2476520" cy="285750"/>
            <a:chOff x="8796401" y="1890776"/>
            <a:chExt cx="2476520" cy="285750"/>
          </a:xfrm>
        </p:grpSpPr>
        <p:sp>
          <p:nvSpPr>
            <p:cNvPr id="73" name="Google Shape;73;p2"/>
            <p:cNvSpPr/>
            <p:nvPr/>
          </p:nvSpPr>
          <p:spPr>
            <a:xfrm>
              <a:off x="8796421" y="1890776"/>
              <a:ext cx="2476500" cy="285750"/>
            </a:xfrm>
            <a:custGeom>
              <a:rect b="b" l="l" r="r" t="t"/>
              <a:pathLst>
                <a:path extrusionOk="0" h="285750" w="2476500">
                  <a:moveTo>
                    <a:pt x="2333604" y="0"/>
                  </a:moveTo>
                  <a:lnTo>
                    <a:pt x="142854" y="0"/>
                  </a:lnTo>
                  <a:lnTo>
                    <a:pt x="97661" y="7275"/>
                  </a:lnTo>
                  <a:lnTo>
                    <a:pt x="58437" y="27541"/>
                  </a:lnTo>
                  <a:lnTo>
                    <a:pt x="27521" y="58457"/>
                  </a:lnTo>
                  <a:lnTo>
                    <a:pt x="7255" y="97682"/>
                  </a:lnTo>
                  <a:lnTo>
                    <a:pt x="0" y="142875"/>
                  </a:lnTo>
                  <a:lnTo>
                    <a:pt x="7288" y="188018"/>
                  </a:lnTo>
                  <a:lnTo>
                    <a:pt x="27548" y="227237"/>
                  </a:lnTo>
                  <a:lnTo>
                    <a:pt x="58452" y="258171"/>
                  </a:lnTo>
                  <a:lnTo>
                    <a:pt x="97668" y="278462"/>
                  </a:lnTo>
                  <a:lnTo>
                    <a:pt x="142854" y="285750"/>
                  </a:lnTo>
                  <a:lnTo>
                    <a:pt x="2333477" y="285750"/>
                  </a:lnTo>
                  <a:lnTo>
                    <a:pt x="2378683" y="278462"/>
                  </a:lnTo>
                  <a:lnTo>
                    <a:pt x="2417939" y="258171"/>
                  </a:lnTo>
                  <a:lnTo>
                    <a:pt x="2448893" y="227237"/>
                  </a:lnTo>
                  <a:lnTo>
                    <a:pt x="2469190" y="188018"/>
                  </a:lnTo>
                  <a:lnTo>
                    <a:pt x="2476479" y="142875"/>
                  </a:lnTo>
                  <a:lnTo>
                    <a:pt x="2469191" y="97682"/>
                  </a:lnTo>
                  <a:lnTo>
                    <a:pt x="2448901" y="58457"/>
                  </a:lnTo>
                  <a:lnTo>
                    <a:pt x="2417967" y="27541"/>
                  </a:lnTo>
                  <a:lnTo>
                    <a:pt x="2378748" y="7275"/>
                  </a:lnTo>
                  <a:lnTo>
                    <a:pt x="2333604" y="0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74" name="Google Shape;74;p2"/>
            <p:cNvSpPr/>
            <p:nvPr/>
          </p:nvSpPr>
          <p:spPr>
            <a:xfrm>
              <a:off x="8796401" y="1890776"/>
              <a:ext cx="2476500" cy="285750"/>
            </a:xfrm>
            <a:custGeom>
              <a:rect b="b" l="l" r="r" t="t"/>
              <a:pathLst>
                <a:path extrusionOk="0" h="285750" w="2476500">
                  <a:moveTo>
                    <a:pt x="0" y="142875"/>
                  </a:moveTo>
                  <a:lnTo>
                    <a:pt x="7275" y="97682"/>
                  </a:lnTo>
                  <a:lnTo>
                    <a:pt x="27541" y="58457"/>
                  </a:lnTo>
                  <a:lnTo>
                    <a:pt x="58457" y="27541"/>
                  </a:lnTo>
                  <a:lnTo>
                    <a:pt x="97682" y="7275"/>
                  </a:lnTo>
                  <a:lnTo>
                    <a:pt x="142875" y="0"/>
                  </a:lnTo>
                  <a:lnTo>
                    <a:pt x="2333625" y="0"/>
                  </a:lnTo>
                  <a:lnTo>
                    <a:pt x="2378768" y="7275"/>
                  </a:lnTo>
                  <a:lnTo>
                    <a:pt x="2417987" y="27541"/>
                  </a:lnTo>
                  <a:lnTo>
                    <a:pt x="2448921" y="58457"/>
                  </a:lnTo>
                  <a:lnTo>
                    <a:pt x="2469212" y="97682"/>
                  </a:lnTo>
                  <a:lnTo>
                    <a:pt x="2476500" y="142875"/>
                  </a:lnTo>
                  <a:lnTo>
                    <a:pt x="2469211" y="188018"/>
                  </a:lnTo>
                  <a:lnTo>
                    <a:pt x="2448913" y="227237"/>
                  </a:lnTo>
                  <a:lnTo>
                    <a:pt x="2417960" y="258171"/>
                  </a:lnTo>
                  <a:lnTo>
                    <a:pt x="2378703" y="278462"/>
                  </a:lnTo>
                  <a:lnTo>
                    <a:pt x="2333498" y="285750"/>
                  </a:lnTo>
                  <a:lnTo>
                    <a:pt x="142875" y="285750"/>
                  </a:lnTo>
                  <a:lnTo>
                    <a:pt x="97682" y="278461"/>
                  </a:lnTo>
                  <a:lnTo>
                    <a:pt x="58457" y="258163"/>
                  </a:lnTo>
                  <a:lnTo>
                    <a:pt x="27541" y="227210"/>
                  </a:lnTo>
                  <a:lnTo>
                    <a:pt x="7275" y="187953"/>
                  </a:lnTo>
                  <a:lnTo>
                    <a:pt x="0" y="142748"/>
                  </a:lnTo>
                  <a:close/>
                </a:path>
              </a:pathLst>
            </a:custGeom>
            <a:noFill/>
            <a:ln cap="flat" cmpd="sng" w="9525">
              <a:solidFill>
                <a:srgbClr val="FCE68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75" name="Google Shape;75;p2"/>
          <p:cNvSpPr txBox="1"/>
          <p:nvPr/>
        </p:nvSpPr>
        <p:spPr>
          <a:xfrm>
            <a:off x="8873235" y="1931415"/>
            <a:ext cx="2257425" cy="173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78350E"/>
                </a:solidFill>
                <a:latin typeface="Arial"/>
                <a:ea typeface="Arial"/>
                <a:cs typeface="Arial"/>
                <a:sym typeface="Arial"/>
              </a:rPr>
              <a:t>Fecha actual: 23 de octubre de 2026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6" name="Google Shape;76;p2"/>
          <p:cNvSpPr txBox="1"/>
          <p:nvPr/>
        </p:nvSpPr>
        <p:spPr>
          <a:xfrm>
            <a:off x="673734" y="2663507"/>
            <a:ext cx="3296920" cy="1974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465469"/>
                </a:solidFill>
                <a:latin typeface="Arial"/>
                <a:ea typeface="Arial"/>
                <a:cs typeface="Arial"/>
                <a:sym typeface="Arial"/>
              </a:rPr>
              <a:t>SECUENCIA DE LAS 6 ETAPAS DEL PROYECTO</a:t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2"/>
          <p:cNvSpPr/>
          <p:nvPr/>
        </p:nvSpPr>
        <p:spPr>
          <a:xfrm>
            <a:off x="685800" y="3038475"/>
            <a:ext cx="1514475" cy="847725"/>
          </a:xfrm>
          <a:custGeom>
            <a:rect b="b" l="l" r="r" t="t"/>
            <a:pathLst>
              <a:path extrusionOk="0" h="847725" w="1514475">
                <a:moveTo>
                  <a:pt x="1438275" y="0"/>
                </a:moveTo>
                <a:lnTo>
                  <a:pt x="76200" y="0"/>
                </a:lnTo>
                <a:lnTo>
                  <a:pt x="46537" y="5994"/>
                </a:lnTo>
                <a:lnTo>
                  <a:pt x="22317" y="22336"/>
                </a:lnTo>
                <a:lnTo>
                  <a:pt x="5987" y="46559"/>
                </a:lnTo>
                <a:lnTo>
                  <a:pt x="0" y="76200"/>
                </a:lnTo>
                <a:lnTo>
                  <a:pt x="0" y="771525"/>
                </a:lnTo>
                <a:lnTo>
                  <a:pt x="5987" y="801165"/>
                </a:lnTo>
                <a:lnTo>
                  <a:pt x="22317" y="825388"/>
                </a:lnTo>
                <a:lnTo>
                  <a:pt x="46537" y="841730"/>
                </a:lnTo>
                <a:lnTo>
                  <a:pt x="76200" y="847725"/>
                </a:lnTo>
                <a:lnTo>
                  <a:pt x="1438275" y="847725"/>
                </a:lnTo>
                <a:lnTo>
                  <a:pt x="1467915" y="841730"/>
                </a:lnTo>
                <a:lnTo>
                  <a:pt x="1492138" y="825388"/>
                </a:lnTo>
                <a:lnTo>
                  <a:pt x="1508480" y="801165"/>
                </a:lnTo>
                <a:lnTo>
                  <a:pt x="1514475" y="771525"/>
                </a:lnTo>
                <a:lnTo>
                  <a:pt x="1514475" y="76200"/>
                </a:lnTo>
                <a:lnTo>
                  <a:pt x="1508480" y="46559"/>
                </a:lnTo>
                <a:lnTo>
                  <a:pt x="1492138" y="22336"/>
                </a:lnTo>
                <a:lnTo>
                  <a:pt x="1467915" y="5994"/>
                </a:lnTo>
                <a:lnTo>
                  <a:pt x="1438275" y="0"/>
                </a:lnTo>
                <a:close/>
              </a:path>
            </a:pathLst>
          </a:custGeom>
          <a:solidFill>
            <a:srgbClr val="F0F5F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78" name="Google Shape;78;p2"/>
          <p:cNvSpPr txBox="1"/>
          <p:nvPr/>
        </p:nvSpPr>
        <p:spPr>
          <a:xfrm>
            <a:off x="815022" y="3188017"/>
            <a:ext cx="1265555" cy="53530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34154"/>
                </a:solidFill>
                <a:latin typeface="Arial"/>
                <a:ea typeface="Arial"/>
                <a:cs typeface="Arial"/>
                <a:sym typeface="Arial"/>
              </a:rPr>
              <a:t>1. Levantamiento y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0" marR="635" rtl="0" algn="ctr">
              <a:lnSpc>
                <a:spcPct val="100000"/>
              </a:lnSpc>
              <a:spcBef>
                <a:spcPts val="2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34154"/>
                </a:solidFill>
                <a:latin typeface="Arial"/>
                <a:ea typeface="Arial"/>
                <a:cs typeface="Arial"/>
                <a:sym typeface="Arial"/>
              </a:rPr>
              <a:t>diseño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9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Completado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79" name="Google Shape;79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05050" y="3381375"/>
            <a:ext cx="857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80" name="Google Shape;80;p2"/>
          <p:cNvSpPr/>
          <p:nvPr/>
        </p:nvSpPr>
        <p:spPr>
          <a:xfrm>
            <a:off x="2486025" y="3114675"/>
            <a:ext cx="1514475" cy="685800"/>
          </a:xfrm>
          <a:custGeom>
            <a:rect b="b" l="l" r="r" t="t"/>
            <a:pathLst>
              <a:path extrusionOk="0" h="685800" w="1514475">
                <a:moveTo>
                  <a:pt x="1438275" y="0"/>
                </a:moveTo>
                <a:lnTo>
                  <a:pt x="76200" y="0"/>
                </a:lnTo>
                <a:lnTo>
                  <a:pt x="46559" y="5994"/>
                </a:lnTo>
                <a:lnTo>
                  <a:pt x="22336" y="22336"/>
                </a:lnTo>
                <a:lnTo>
                  <a:pt x="5994" y="46559"/>
                </a:lnTo>
                <a:lnTo>
                  <a:pt x="0" y="76200"/>
                </a:lnTo>
                <a:lnTo>
                  <a:pt x="0" y="609600"/>
                </a:lnTo>
                <a:lnTo>
                  <a:pt x="5994" y="639240"/>
                </a:lnTo>
                <a:lnTo>
                  <a:pt x="22336" y="663463"/>
                </a:lnTo>
                <a:lnTo>
                  <a:pt x="46559" y="679805"/>
                </a:lnTo>
                <a:lnTo>
                  <a:pt x="76200" y="685800"/>
                </a:lnTo>
                <a:lnTo>
                  <a:pt x="1438275" y="685800"/>
                </a:lnTo>
                <a:lnTo>
                  <a:pt x="1467915" y="679805"/>
                </a:lnTo>
                <a:lnTo>
                  <a:pt x="1492138" y="663463"/>
                </a:lnTo>
                <a:lnTo>
                  <a:pt x="1508480" y="639240"/>
                </a:lnTo>
                <a:lnTo>
                  <a:pt x="1514475" y="609600"/>
                </a:lnTo>
                <a:lnTo>
                  <a:pt x="1514475" y="76200"/>
                </a:lnTo>
                <a:lnTo>
                  <a:pt x="1508480" y="46559"/>
                </a:lnTo>
                <a:lnTo>
                  <a:pt x="1492138" y="22336"/>
                </a:lnTo>
                <a:lnTo>
                  <a:pt x="1467915" y="5994"/>
                </a:lnTo>
                <a:lnTo>
                  <a:pt x="1438275" y="0"/>
                </a:lnTo>
                <a:close/>
              </a:path>
            </a:pathLst>
          </a:custGeom>
          <a:solidFill>
            <a:srgbClr val="F0F5F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1" name="Google Shape;81;p2"/>
          <p:cNvSpPr txBox="1"/>
          <p:nvPr/>
        </p:nvSpPr>
        <p:spPr>
          <a:xfrm>
            <a:off x="2810891" y="3211385"/>
            <a:ext cx="869950" cy="431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04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34154"/>
                </a:solidFill>
                <a:latin typeface="Arial"/>
                <a:ea typeface="Arial"/>
                <a:cs typeface="Arial"/>
                <a:sym typeface="Arial"/>
              </a:rPr>
              <a:t>2. Desarrollo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106680" rtl="0" algn="l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Completado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82" name="Google Shape;82;p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05275" y="3381375"/>
            <a:ext cx="85725" cy="1428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83" name="Google Shape;83;p2"/>
          <p:cNvGrpSpPr/>
          <p:nvPr/>
        </p:nvGrpSpPr>
        <p:grpSpPr>
          <a:xfrm>
            <a:off x="4286250" y="3086100"/>
            <a:ext cx="1819275" cy="752475"/>
            <a:chOff x="4286250" y="3086100"/>
            <a:chExt cx="1819275" cy="752475"/>
          </a:xfrm>
        </p:grpSpPr>
        <p:sp>
          <p:nvSpPr>
            <p:cNvPr id="84" name="Google Shape;84;p2"/>
            <p:cNvSpPr/>
            <p:nvPr/>
          </p:nvSpPr>
          <p:spPr>
            <a:xfrm>
              <a:off x="4286250" y="3086100"/>
              <a:ext cx="1819275" cy="752475"/>
            </a:xfrm>
            <a:custGeom>
              <a:rect b="b" l="l" r="r" t="t"/>
              <a:pathLst>
                <a:path extrusionOk="0" h="752475" w="1819275">
                  <a:moveTo>
                    <a:pt x="1743075" y="0"/>
                  </a:moveTo>
                  <a:lnTo>
                    <a:pt x="76200" y="0"/>
                  </a:lnTo>
                  <a:lnTo>
                    <a:pt x="46559" y="5994"/>
                  </a:lnTo>
                  <a:lnTo>
                    <a:pt x="22336" y="22336"/>
                  </a:lnTo>
                  <a:lnTo>
                    <a:pt x="5994" y="46559"/>
                  </a:lnTo>
                  <a:lnTo>
                    <a:pt x="0" y="76200"/>
                  </a:lnTo>
                  <a:lnTo>
                    <a:pt x="0" y="676275"/>
                  </a:lnTo>
                  <a:lnTo>
                    <a:pt x="5994" y="705915"/>
                  </a:lnTo>
                  <a:lnTo>
                    <a:pt x="22336" y="730138"/>
                  </a:lnTo>
                  <a:lnTo>
                    <a:pt x="46559" y="746480"/>
                  </a:lnTo>
                  <a:lnTo>
                    <a:pt x="76200" y="752475"/>
                  </a:lnTo>
                  <a:lnTo>
                    <a:pt x="1743075" y="752475"/>
                  </a:lnTo>
                  <a:lnTo>
                    <a:pt x="1772715" y="746480"/>
                  </a:lnTo>
                  <a:lnTo>
                    <a:pt x="1796938" y="730138"/>
                  </a:lnTo>
                  <a:lnTo>
                    <a:pt x="1813280" y="705915"/>
                  </a:lnTo>
                  <a:lnTo>
                    <a:pt x="1819275" y="676275"/>
                  </a:lnTo>
                  <a:lnTo>
                    <a:pt x="1819275" y="76200"/>
                  </a:lnTo>
                  <a:lnTo>
                    <a:pt x="1813280" y="46559"/>
                  </a:lnTo>
                  <a:lnTo>
                    <a:pt x="1796938" y="22336"/>
                  </a:lnTo>
                  <a:lnTo>
                    <a:pt x="1772715" y="5994"/>
                  </a:lnTo>
                  <a:lnTo>
                    <a:pt x="1743075" y="0"/>
                  </a:lnTo>
                  <a:close/>
                </a:path>
              </a:pathLst>
            </a:custGeom>
            <a:solidFill>
              <a:srgbClr val="FDF3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85" name="Google Shape;85;p2"/>
            <p:cNvSpPr/>
            <p:nvPr/>
          </p:nvSpPr>
          <p:spPr>
            <a:xfrm>
              <a:off x="4286250" y="3086100"/>
              <a:ext cx="1819275" cy="752475"/>
            </a:xfrm>
            <a:custGeom>
              <a:rect b="b" l="l" r="r" t="t"/>
              <a:pathLst>
                <a:path extrusionOk="0" h="752475" w="1819275">
                  <a:moveTo>
                    <a:pt x="0" y="76200"/>
                  </a:moveTo>
                  <a:lnTo>
                    <a:pt x="5994" y="46559"/>
                  </a:lnTo>
                  <a:lnTo>
                    <a:pt x="22336" y="22336"/>
                  </a:lnTo>
                  <a:lnTo>
                    <a:pt x="46559" y="5994"/>
                  </a:lnTo>
                  <a:lnTo>
                    <a:pt x="76200" y="0"/>
                  </a:lnTo>
                  <a:lnTo>
                    <a:pt x="1743075" y="0"/>
                  </a:lnTo>
                  <a:lnTo>
                    <a:pt x="1772715" y="5994"/>
                  </a:lnTo>
                  <a:lnTo>
                    <a:pt x="1796938" y="22336"/>
                  </a:lnTo>
                  <a:lnTo>
                    <a:pt x="1813280" y="46559"/>
                  </a:lnTo>
                  <a:lnTo>
                    <a:pt x="1819275" y="76200"/>
                  </a:lnTo>
                  <a:lnTo>
                    <a:pt x="1819275" y="676275"/>
                  </a:lnTo>
                  <a:lnTo>
                    <a:pt x="1813280" y="705915"/>
                  </a:lnTo>
                  <a:lnTo>
                    <a:pt x="1796938" y="730138"/>
                  </a:lnTo>
                  <a:lnTo>
                    <a:pt x="1772715" y="746480"/>
                  </a:lnTo>
                  <a:lnTo>
                    <a:pt x="1743075" y="752475"/>
                  </a:lnTo>
                  <a:lnTo>
                    <a:pt x="76200" y="752475"/>
                  </a:lnTo>
                  <a:lnTo>
                    <a:pt x="46559" y="746480"/>
                  </a:lnTo>
                  <a:lnTo>
                    <a:pt x="22336" y="730138"/>
                  </a:lnTo>
                  <a:lnTo>
                    <a:pt x="5994" y="705915"/>
                  </a:lnTo>
                  <a:lnTo>
                    <a:pt x="0" y="676275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19050">
              <a:solidFill>
                <a:srgbClr val="F59E0A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86" name="Google Shape;86;p2"/>
          <p:cNvSpPr txBox="1"/>
          <p:nvPr/>
        </p:nvSpPr>
        <p:spPr>
          <a:xfrm>
            <a:off x="4601590" y="3171729"/>
            <a:ext cx="1196975" cy="48514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9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3. Integración ★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63500" rtl="0" algn="l">
              <a:lnSpc>
                <a:spcPct val="100000"/>
              </a:lnSpc>
              <a:spcBef>
                <a:spcPts val="535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Semana 11 (Actual)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87" name="Google Shape;87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219824" y="3381375"/>
            <a:ext cx="76198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2"/>
          <p:cNvSpPr/>
          <p:nvPr/>
        </p:nvSpPr>
        <p:spPr>
          <a:xfrm>
            <a:off x="6391275" y="3114675"/>
            <a:ext cx="1514475" cy="685800"/>
          </a:xfrm>
          <a:custGeom>
            <a:rect b="b" l="l" r="r" t="t"/>
            <a:pathLst>
              <a:path extrusionOk="0" h="685800" w="1514475">
                <a:moveTo>
                  <a:pt x="1438275" y="0"/>
                </a:moveTo>
                <a:lnTo>
                  <a:pt x="76200" y="0"/>
                </a:lnTo>
                <a:lnTo>
                  <a:pt x="46559" y="5994"/>
                </a:lnTo>
                <a:lnTo>
                  <a:pt x="22336" y="22336"/>
                </a:lnTo>
                <a:lnTo>
                  <a:pt x="5994" y="46559"/>
                </a:lnTo>
                <a:lnTo>
                  <a:pt x="0" y="76200"/>
                </a:lnTo>
                <a:lnTo>
                  <a:pt x="0" y="609600"/>
                </a:lnTo>
                <a:lnTo>
                  <a:pt x="5994" y="639240"/>
                </a:lnTo>
                <a:lnTo>
                  <a:pt x="22336" y="663463"/>
                </a:lnTo>
                <a:lnTo>
                  <a:pt x="46559" y="679805"/>
                </a:lnTo>
                <a:lnTo>
                  <a:pt x="76200" y="685800"/>
                </a:lnTo>
                <a:lnTo>
                  <a:pt x="1438275" y="685800"/>
                </a:lnTo>
                <a:lnTo>
                  <a:pt x="1467915" y="679805"/>
                </a:lnTo>
                <a:lnTo>
                  <a:pt x="1492138" y="663463"/>
                </a:lnTo>
                <a:lnTo>
                  <a:pt x="1508480" y="639240"/>
                </a:lnTo>
                <a:lnTo>
                  <a:pt x="1514475" y="609600"/>
                </a:lnTo>
                <a:lnTo>
                  <a:pt x="1514475" y="76200"/>
                </a:lnTo>
                <a:lnTo>
                  <a:pt x="1508480" y="46559"/>
                </a:lnTo>
                <a:lnTo>
                  <a:pt x="1492138" y="22336"/>
                </a:lnTo>
                <a:lnTo>
                  <a:pt x="1467915" y="5994"/>
                </a:lnTo>
                <a:lnTo>
                  <a:pt x="1438275" y="0"/>
                </a:lnTo>
                <a:close/>
              </a:path>
            </a:pathLst>
          </a:custGeom>
          <a:solidFill>
            <a:srgbClr val="F0F5F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9" name="Google Shape;89;p2"/>
          <p:cNvSpPr txBox="1"/>
          <p:nvPr/>
        </p:nvSpPr>
        <p:spPr>
          <a:xfrm>
            <a:off x="6609968" y="3211385"/>
            <a:ext cx="1082040" cy="431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04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34154"/>
                </a:solidFill>
                <a:latin typeface="Arial"/>
                <a:ea typeface="Arial"/>
                <a:cs typeface="Arial"/>
                <a:sym typeface="Arial"/>
              </a:rPr>
              <a:t>4. QA y pruebas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245110" rtl="0" algn="l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Planificado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90" name="Google Shape;90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020050" y="3381375"/>
            <a:ext cx="76198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91" name="Google Shape;91;p2"/>
          <p:cNvSpPr/>
          <p:nvPr/>
        </p:nvSpPr>
        <p:spPr>
          <a:xfrm>
            <a:off x="8191500" y="3114675"/>
            <a:ext cx="1514475" cy="685800"/>
          </a:xfrm>
          <a:custGeom>
            <a:rect b="b" l="l" r="r" t="t"/>
            <a:pathLst>
              <a:path extrusionOk="0" h="685800" w="1514475">
                <a:moveTo>
                  <a:pt x="1438275" y="0"/>
                </a:moveTo>
                <a:lnTo>
                  <a:pt x="76200" y="0"/>
                </a:lnTo>
                <a:lnTo>
                  <a:pt x="46559" y="5994"/>
                </a:lnTo>
                <a:lnTo>
                  <a:pt x="22336" y="22336"/>
                </a:lnTo>
                <a:lnTo>
                  <a:pt x="5994" y="46559"/>
                </a:lnTo>
                <a:lnTo>
                  <a:pt x="0" y="76200"/>
                </a:lnTo>
                <a:lnTo>
                  <a:pt x="0" y="609600"/>
                </a:lnTo>
                <a:lnTo>
                  <a:pt x="5994" y="639240"/>
                </a:lnTo>
                <a:lnTo>
                  <a:pt x="22336" y="663463"/>
                </a:lnTo>
                <a:lnTo>
                  <a:pt x="46559" y="679805"/>
                </a:lnTo>
                <a:lnTo>
                  <a:pt x="76200" y="685800"/>
                </a:lnTo>
                <a:lnTo>
                  <a:pt x="1438275" y="685800"/>
                </a:lnTo>
                <a:lnTo>
                  <a:pt x="1467915" y="679805"/>
                </a:lnTo>
                <a:lnTo>
                  <a:pt x="1492138" y="663463"/>
                </a:lnTo>
                <a:lnTo>
                  <a:pt x="1508480" y="639240"/>
                </a:lnTo>
                <a:lnTo>
                  <a:pt x="1514475" y="609600"/>
                </a:lnTo>
                <a:lnTo>
                  <a:pt x="1514475" y="76200"/>
                </a:lnTo>
                <a:lnTo>
                  <a:pt x="1508480" y="46559"/>
                </a:lnTo>
                <a:lnTo>
                  <a:pt x="1492138" y="22336"/>
                </a:lnTo>
                <a:lnTo>
                  <a:pt x="1467915" y="5994"/>
                </a:lnTo>
                <a:lnTo>
                  <a:pt x="1438275" y="0"/>
                </a:lnTo>
                <a:close/>
              </a:path>
            </a:pathLst>
          </a:custGeom>
          <a:solidFill>
            <a:srgbClr val="F0F5F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2" name="Google Shape;92;p2"/>
          <p:cNvSpPr txBox="1"/>
          <p:nvPr/>
        </p:nvSpPr>
        <p:spPr>
          <a:xfrm>
            <a:off x="8490584" y="3211385"/>
            <a:ext cx="933450" cy="431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04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34154"/>
                </a:solidFill>
                <a:latin typeface="Arial"/>
                <a:ea typeface="Arial"/>
                <a:cs typeface="Arial"/>
                <a:sym typeface="Arial"/>
              </a:rPr>
              <a:t>5. Despliegue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166370" rtl="0" algn="l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Planificado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93" name="Google Shape;93;p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820275" y="3381375"/>
            <a:ext cx="76198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94" name="Google Shape;94;p2"/>
          <p:cNvSpPr/>
          <p:nvPr/>
        </p:nvSpPr>
        <p:spPr>
          <a:xfrm>
            <a:off x="9991725" y="3114675"/>
            <a:ext cx="1514475" cy="685800"/>
          </a:xfrm>
          <a:custGeom>
            <a:rect b="b" l="l" r="r" t="t"/>
            <a:pathLst>
              <a:path extrusionOk="0" h="685800" w="1514475">
                <a:moveTo>
                  <a:pt x="1438275" y="0"/>
                </a:moveTo>
                <a:lnTo>
                  <a:pt x="76200" y="0"/>
                </a:lnTo>
                <a:lnTo>
                  <a:pt x="46559" y="5994"/>
                </a:lnTo>
                <a:lnTo>
                  <a:pt x="22336" y="22336"/>
                </a:lnTo>
                <a:lnTo>
                  <a:pt x="5994" y="46559"/>
                </a:lnTo>
                <a:lnTo>
                  <a:pt x="0" y="76200"/>
                </a:lnTo>
                <a:lnTo>
                  <a:pt x="0" y="609600"/>
                </a:lnTo>
                <a:lnTo>
                  <a:pt x="5994" y="639240"/>
                </a:lnTo>
                <a:lnTo>
                  <a:pt x="22336" y="663463"/>
                </a:lnTo>
                <a:lnTo>
                  <a:pt x="46559" y="679805"/>
                </a:lnTo>
                <a:lnTo>
                  <a:pt x="76200" y="685800"/>
                </a:lnTo>
                <a:lnTo>
                  <a:pt x="1438275" y="685800"/>
                </a:lnTo>
                <a:lnTo>
                  <a:pt x="1467915" y="679805"/>
                </a:lnTo>
                <a:lnTo>
                  <a:pt x="1492138" y="663463"/>
                </a:lnTo>
                <a:lnTo>
                  <a:pt x="1508480" y="639240"/>
                </a:lnTo>
                <a:lnTo>
                  <a:pt x="1514475" y="609600"/>
                </a:lnTo>
                <a:lnTo>
                  <a:pt x="1514475" y="76200"/>
                </a:lnTo>
                <a:lnTo>
                  <a:pt x="1508480" y="46559"/>
                </a:lnTo>
                <a:lnTo>
                  <a:pt x="1492138" y="22336"/>
                </a:lnTo>
                <a:lnTo>
                  <a:pt x="1467915" y="5994"/>
                </a:lnTo>
                <a:lnTo>
                  <a:pt x="1438275" y="0"/>
                </a:lnTo>
                <a:close/>
              </a:path>
            </a:pathLst>
          </a:custGeom>
          <a:solidFill>
            <a:srgbClr val="F0F5F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5" name="Google Shape;95;p2"/>
          <p:cNvSpPr txBox="1"/>
          <p:nvPr/>
        </p:nvSpPr>
        <p:spPr>
          <a:xfrm>
            <a:off x="10446384" y="3211385"/>
            <a:ext cx="618490" cy="4311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70475">
            <a:spAutoFit/>
          </a:bodyPr>
          <a:lstStyle/>
          <a:p>
            <a:pPr indent="0" lvl="0" marL="2476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334154"/>
                </a:solidFill>
                <a:latin typeface="Arial"/>
                <a:ea typeface="Arial"/>
                <a:cs typeface="Arial"/>
                <a:sym typeface="Arial"/>
              </a:rPr>
              <a:t>6. Cierre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95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Planificado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96" name="Google Shape;96;p2"/>
          <p:cNvGrpSpPr/>
          <p:nvPr/>
        </p:nvGrpSpPr>
        <p:grpSpPr>
          <a:xfrm>
            <a:off x="690562" y="5624512"/>
            <a:ext cx="5296535" cy="742950"/>
            <a:chOff x="690562" y="5624512"/>
            <a:chExt cx="5296535" cy="742950"/>
          </a:xfrm>
        </p:grpSpPr>
        <p:sp>
          <p:nvSpPr>
            <p:cNvPr id="97" name="Google Shape;97;p2"/>
            <p:cNvSpPr/>
            <p:nvPr/>
          </p:nvSpPr>
          <p:spPr>
            <a:xfrm>
              <a:off x="690562" y="5624512"/>
              <a:ext cx="5296535" cy="742950"/>
            </a:xfrm>
            <a:custGeom>
              <a:rect b="b" l="l" r="r" t="t"/>
              <a:pathLst>
                <a:path extrusionOk="0" h="742950" w="5296535">
                  <a:moveTo>
                    <a:pt x="5219763" y="0"/>
                  </a:moveTo>
                  <a:lnTo>
                    <a:pt x="76200" y="0"/>
                  </a:lnTo>
                  <a:lnTo>
                    <a:pt x="46537" y="5987"/>
                  </a:lnTo>
                  <a:lnTo>
                    <a:pt x="22317" y="22317"/>
                  </a:lnTo>
                  <a:lnTo>
                    <a:pt x="5987" y="46537"/>
                  </a:lnTo>
                  <a:lnTo>
                    <a:pt x="0" y="76200"/>
                  </a:lnTo>
                  <a:lnTo>
                    <a:pt x="0" y="666750"/>
                  </a:lnTo>
                  <a:lnTo>
                    <a:pt x="5987" y="696412"/>
                  </a:lnTo>
                  <a:lnTo>
                    <a:pt x="22317" y="720632"/>
                  </a:lnTo>
                  <a:lnTo>
                    <a:pt x="46537" y="736962"/>
                  </a:lnTo>
                  <a:lnTo>
                    <a:pt x="76200" y="742950"/>
                  </a:lnTo>
                  <a:lnTo>
                    <a:pt x="5219763" y="742950"/>
                  </a:lnTo>
                  <a:lnTo>
                    <a:pt x="5249404" y="736962"/>
                  </a:lnTo>
                  <a:lnTo>
                    <a:pt x="5273627" y="720632"/>
                  </a:lnTo>
                  <a:lnTo>
                    <a:pt x="5289968" y="696412"/>
                  </a:lnTo>
                  <a:lnTo>
                    <a:pt x="5295963" y="666750"/>
                  </a:lnTo>
                  <a:lnTo>
                    <a:pt x="5295963" y="76200"/>
                  </a:lnTo>
                  <a:lnTo>
                    <a:pt x="5289968" y="46537"/>
                  </a:lnTo>
                  <a:lnTo>
                    <a:pt x="5273627" y="22317"/>
                  </a:lnTo>
                  <a:lnTo>
                    <a:pt x="5249404" y="5987"/>
                  </a:lnTo>
                  <a:lnTo>
                    <a:pt x="521976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98" name="Google Shape;98;p2"/>
            <p:cNvSpPr/>
            <p:nvPr/>
          </p:nvSpPr>
          <p:spPr>
            <a:xfrm>
              <a:off x="690562" y="5624512"/>
              <a:ext cx="5296535" cy="742950"/>
            </a:xfrm>
            <a:custGeom>
              <a:rect b="b" l="l" r="r" t="t"/>
              <a:pathLst>
                <a:path extrusionOk="0" h="742950" w="5296535">
                  <a:moveTo>
                    <a:pt x="0" y="76200"/>
                  </a:moveTo>
                  <a:lnTo>
                    <a:pt x="5987" y="46537"/>
                  </a:lnTo>
                  <a:lnTo>
                    <a:pt x="22317" y="22317"/>
                  </a:lnTo>
                  <a:lnTo>
                    <a:pt x="46537" y="5987"/>
                  </a:lnTo>
                  <a:lnTo>
                    <a:pt x="76200" y="0"/>
                  </a:lnTo>
                  <a:lnTo>
                    <a:pt x="5219763" y="0"/>
                  </a:lnTo>
                  <a:lnTo>
                    <a:pt x="5249404" y="5987"/>
                  </a:lnTo>
                  <a:lnTo>
                    <a:pt x="5273627" y="22317"/>
                  </a:lnTo>
                  <a:lnTo>
                    <a:pt x="5289968" y="46537"/>
                  </a:lnTo>
                  <a:lnTo>
                    <a:pt x="5295963" y="76200"/>
                  </a:lnTo>
                  <a:lnTo>
                    <a:pt x="5295963" y="666750"/>
                  </a:lnTo>
                  <a:lnTo>
                    <a:pt x="5289968" y="696412"/>
                  </a:lnTo>
                  <a:lnTo>
                    <a:pt x="5273627" y="720632"/>
                  </a:lnTo>
                  <a:lnTo>
                    <a:pt x="5249404" y="736962"/>
                  </a:lnTo>
                  <a:lnTo>
                    <a:pt x="5219763" y="742950"/>
                  </a:lnTo>
                  <a:lnTo>
                    <a:pt x="76200" y="742950"/>
                  </a:lnTo>
                  <a:lnTo>
                    <a:pt x="46537" y="736962"/>
                  </a:lnTo>
                  <a:lnTo>
                    <a:pt x="22317" y="720632"/>
                  </a:lnTo>
                  <a:lnTo>
                    <a:pt x="5987" y="696412"/>
                  </a:lnTo>
                  <a:lnTo>
                    <a:pt x="0" y="666750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99" name="Google Shape;99;p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23925" y="5819775"/>
            <a:ext cx="1047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0" name="Google Shape;100;p2"/>
          <p:cNvSpPr txBox="1"/>
          <p:nvPr/>
        </p:nvSpPr>
        <p:spPr>
          <a:xfrm>
            <a:off x="911860" y="5735387"/>
            <a:ext cx="4487545" cy="456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7300">
            <a:spAutoFit/>
          </a:bodyPr>
          <a:lstStyle/>
          <a:p>
            <a:pPr indent="0" lvl="0" marL="1936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Control Secuencial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Validación documental obligatoria antes de avanzar a la siguiente fase.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01" name="Google Shape;101;p2"/>
          <p:cNvGrpSpPr/>
          <p:nvPr/>
        </p:nvGrpSpPr>
        <p:grpSpPr>
          <a:xfrm>
            <a:off x="6215126" y="5624512"/>
            <a:ext cx="5295900" cy="742950"/>
            <a:chOff x="6215126" y="5624512"/>
            <a:chExt cx="5295900" cy="742950"/>
          </a:xfrm>
        </p:grpSpPr>
        <p:sp>
          <p:nvSpPr>
            <p:cNvPr id="102" name="Google Shape;102;p2"/>
            <p:cNvSpPr/>
            <p:nvPr/>
          </p:nvSpPr>
          <p:spPr>
            <a:xfrm>
              <a:off x="6215126" y="5624512"/>
              <a:ext cx="5295900" cy="742950"/>
            </a:xfrm>
            <a:custGeom>
              <a:rect b="b" l="l" r="r" t="t"/>
              <a:pathLst>
                <a:path extrusionOk="0" h="742950" w="5295900">
                  <a:moveTo>
                    <a:pt x="5219700" y="0"/>
                  </a:moveTo>
                  <a:lnTo>
                    <a:pt x="76073" y="0"/>
                  </a:lnTo>
                  <a:lnTo>
                    <a:pt x="46452" y="5987"/>
                  </a:lnTo>
                  <a:lnTo>
                    <a:pt x="22272" y="22317"/>
                  </a:lnTo>
                  <a:lnTo>
                    <a:pt x="5974" y="46537"/>
                  </a:lnTo>
                  <a:lnTo>
                    <a:pt x="0" y="76200"/>
                  </a:lnTo>
                  <a:lnTo>
                    <a:pt x="0" y="666750"/>
                  </a:lnTo>
                  <a:lnTo>
                    <a:pt x="5974" y="696412"/>
                  </a:lnTo>
                  <a:lnTo>
                    <a:pt x="22272" y="720632"/>
                  </a:lnTo>
                  <a:lnTo>
                    <a:pt x="46452" y="736962"/>
                  </a:lnTo>
                  <a:lnTo>
                    <a:pt x="76073" y="742950"/>
                  </a:lnTo>
                  <a:lnTo>
                    <a:pt x="5219700" y="742950"/>
                  </a:lnTo>
                  <a:lnTo>
                    <a:pt x="5249340" y="736962"/>
                  </a:lnTo>
                  <a:lnTo>
                    <a:pt x="5273563" y="720632"/>
                  </a:lnTo>
                  <a:lnTo>
                    <a:pt x="5289905" y="696412"/>
                  </a:lnTo>
                  <a:lnTo>
                    <a:pt x="5295900" y="666750"/>
                  </a:lnTo>
                  <a:lnTo>
                    <a:pt x="5295900" y="76200"/>
                  </a:lnTo>
                  <a:lnTo>
                    <a:pt x="5289905" y="46537"/>
                  </a:lnTo>
                  <a:lnTo>
                    <a:pt x="5273563" y="22317"/>
                  </a:lnTo>
                  <a:lnTo>
                    <a:pt x="5249340" y="5987"/>
                  </a:lnTo>
                  <a:lnTo>
                    <a:pt x="5219700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03" name="Google Shape;103;p2"/>
            <p:cNvSpPr/>
            <p:nvPr/>
          </p:nvSpPr>
          <p:spPr>
            <a:xfrm>
              <a:off x="6215126" y="5624512"/>
              <a:ext cx="5295900" cy="742950"/>
            </a:xfrm>
            <a:custGeom>
              <a:rect b="b" l="l" r="r" t="t"/>
              <a:pathLst>
                <a:path extrusionOk="0" h="742950" w="5295900">
                  <a:moveTo>
                    <a:pt x="0" y="76200"/>
                  </a:moveTo>
                  <a:lnTo>
                    <a:pt x="5974" y="46537"/>
                  </a:lnTo>
                  <a:lnTo>
                    <a:pt x="22272" y="22317"/>
                  </a:lnTo>
                  <a:lnTo>
                    <a:pt x="46452" y="5987"/>
                  </a:lnTo>
                  <a:lnTo>
                    <a:pt x="76073" y="0"/>
                  </a:lnTo>
                  <a:lnTo>
                    <a:pt x="5219700" y="0"/>
                  </a:lnTo>
                  <a:lnTo>
                    <a:pt x="5249340" y="5987"/>
                  </a:lnTo>
                  <a:lnTo>
                    <a:pt x="5273563" y="22317"/>
                  </a:lnTo>
                  <a:lnTo>
                    <a:pt x="5289905" y="46537"/>
                  </a:lnTo>
                  <a:lnTo>
                    <a:pt x="5295900" y="76200"/>
                  </a:lnTo>
                  <a:lnTo>
                    <a:pt x="5295900" y="666750"/>
                  </a:lnTo>
                  <a:lnTo>
                    <a:pt x="5289905" y="696412"/>
                  </a:lnTo>
                  <a:lnTo>
                    <a:pt x="5273563" y="720632"/>
                  </a:lnTo>
                  <a:lnTo>
                    <a:pt x="5249340" y="736962"/>
                  </a:lnTo>
                  <a:lnTo>
                    <a:pt x="5219700" y="742950"/>
                  </a:lnTo>
                  <a:lnTo>
                    <a:pt x="76073" y="742950"/>
                  </a:lnTo>
                  <a:lnTo>
                    <a:pt x="46452" y="736962"/>
                  </a:lnTo>
                  <a:lnTo>
                    <a:pt x="22272" y="720632"/>
                  </a:lnTo>
                  <a:lnTo>
                    <a:pt x="5974" y="696412"/>
                  </a:lnTo>
                  <a:lnTo>
                    <a:pt x="0" y="666750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104" name="Google Shape;104;p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448425" y="5819775"/>
            <a:ext cx="14287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105" name="Google Shape;105;p2"/>
          <p:cNvSpPr txBox="1"/>
          <p:nvPr/>
        </p:nvSpPr>
        <p:spPr>
          <a:xfrm>
            <a:off x="6440804" y="5735387"/>
            <a:ext cx="4279265" cy="456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7300">
            <a:spAutoFit/>
          </a:bodyPr>
          <a:lstStyle/>
          <a:p>
            <a:pPr indent="0" lvl="0" marL="23177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Trazabilidad del Proyecto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Alineación estricta entre ERS, Modelos UML/BD y Casos de Prueba.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3"/>
          <p:cNvSpPr txBox="1"/>
          <p:nvPr/>
        </p:nvSpPr>
        <p:spPr>
          <a:xfrm>
            <a:off x="406717" y="330517"/>
            <a:ext cx="1628139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PLANIFICACIÓN GENERAL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111" name="Google Shape;111;p3"/>
          <p:cNvSpPr txBox="1"/>
          <p:nvPr>
            <p:ph type="title"/>
          </p:nvPr>
        </p:nvSpPr>
        <p:spPr>
          <a:xfrm>
            <a:off x="406717" y="492823"/>
            <a:ext cx="4204970" cy="3232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C1817"/>
                </a:solidFill>
              </a:rPr>
              <a:t>Planificación general del proyecto</a:t>
            </a:r>
            <a:endParaRPr sz="1950"/>
          </a:p>
        </p:txBody>
      </p:sp>
      <p:sp>
        <p:nvSpPr>
          <p:cNvPr id="112" name="Google Shape;112;p3"/>
          <p:cNvSpPr txBox="1"/>
          <p:nvPr/>
        </p:nvSpPr>
        <p:spPr>
          <a:xfrm>
            <a:off x="7568565" y="663257"/>
            <a:ext cx="1044575" cy="151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S1–S8 Completadas</a:t>
            </a:r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3" name="Google Shape;113;p3"/>
          <p:cNvSpPr txBox="1"/>
          <p:nvPr/>
        </p:nvSpPr>
        <p:spPr>
          <a:xfrm>
            <a:off x="8864854" y="655256"/>
            <a:ext cx="1568450" cy="151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★ S11 Semana Actual (23 Oct)</a:t>
            </a:r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10581005" y="655256"/>
            <a:ext cx="1110615" cy="1517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1A1A1A"/>
                </a:solidFill>
                <a:latin typeface="Arial"/>
                <a:ea typeface="Arial"/>
                <a:cs typeface="Arial"/>
                <a:sym typeface="Arial"/>
              </a:rPr>
              <a:t>S12–S18 Planificadas</a:t>
            </a:r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5" name="Google Shape;115;p3"/>
          <p:cNvSpPr/>
          <p:nvPr/>
        </p:nvSpPr>
        <p:spPr>
          <a:xfrm>
            <a:off x="2228850" y="2762250"/>
            <a:ext cx="9525" cy="228600"/>
          </a:xfrm>
          <a:custGeom>
            <a:rect b="b" l="l" r="r" t="t"/>
            <a:pathLst>
              <a:path extrusionOk="0" h="228600" w="9525">
                <a:moveTo>
                  <a:pt x="9525" y="0"/>
                </a:moveTo>
                <a:lnTo>
                  <a:pt x="0" y="0"/>
                </a:lnTo>
                <a:lnTo>
                  <a:pt x="0" y="228600"/>
                </a:lnTo>
                <a:lnTo>
                  <a:pt x="9525" y="2286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6" name="Google Shape;116;p3"/>
          <p:cNvSpPr/>
          <p:nvPr/>
        </p:nvSpPr>
        <p:spPr>
          <a:xfrm>
            <a:off x="3819525" y="2762250"/>
            <a:ext cx="9525" cy="228600"/>
          </a:xfrm>
          <a:custGeom>
            <a:rect b="b" l="l" r="r" t="t"/>
            <a:pathLst>
              <a:path extrusionOk="0" h="228600" w="9525">
                <a:moveTo>
                  <a:pt x="9525" y="0"/>
                </a:moveTo>
                <a:lnTo>
                  <a:pt x="0" y="0"/>
                </a:lnTo>
                <a:lnTo>
                  <a:pt x="0" y="228600"/>
                </a:lnTo>
                <a:lnTo>
                  <a:pt x="9525" y="2286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3"/>
          <p:cNvSpPr/>
          <p:nvPr/>
        </p:nvSpPr>
        <p:spPr>
          <a:xfrm>
            <a:off x="5934075" y="2762250"/>
            <a:ext cx="9525" cy="228600"/>
          </a:xfrm>
          <a:custGeom>
            <a:rect b="b" l="l" r="r" t="t"/>
            <a:pathLst>
              <a:path extrusionOk="0" h="228600" w="9525">
                <a:moveTo>
                  <a:pt x="9525" y="0"/>
                </a:moveTo>
                <a:lnTo>
                  <a:pt x="0" y="0"/>
                </a:lnTo>
                <a:lnTo>
                  <a:pt x="0" y="228600"/>
                </a:lnTo>
                <a:lnTo>
                  <a:pt x="9525" y="2286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3"/>
          <p:cNvSpPr/>
          <p:nvPr/>
        </p:nvSpPr>
        <p:spPr>
          <a:xfrm>
            <a:off x="8582025" y="2762250"/>
            <a:ext cx="9525" cy="228600"/>
          </a:xfrm>
          <a:custGeom>
            <a:rect b="b" l="l" r="r" t="t"/>
            <a:pathLst>
              <a:path extrusionOk="0" h="228600" w="9525">
                <a:moveTo>
                  <a:pt x="9525" y="0"/>
                </a:moveTo>
                <a:lnTo>
                  <a:pt x="0" y="0"/>
                </a:lnTo>
                <a:lnTo>
                  <a:pt x="0" y="228600"/>
                </a:lnTo>
                <a:lnTo>
                  <a:pt x="9525" y="2286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3"/>
          <p:cNvSpPr/>
          <p:nvPr/>
        </p:nvSpPr>
        <p:spPr>
          <a:xfrm>
            <a:off x="10706100" y="2762250"/>
            <a:ext cx="9525" cy="228600"/>
          </a:xfrm>
          <a:custGeom>
            <a:rect b="b" l="l" r="r" t="t"/>
            <a:pathLst>
              <a:path extrusionOk="0" h="228600" w="9525">
                <a:moveTo>
                  <a:pt x="9525" y="0"/>
                </a:moveTo>
                <a:lnTo>
                  <a:pt x="0" y="0"/>
                </a:lnTo>
                <a:lnTo>
                  <a:pt x="0" y="228600"/>
                </a:lnTo>
                <a:lnTo>
                  <a:pt x="9525" y="2286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0" name="Google Shape;120;p3"/>
          <p:cNvSpPr/>
          <p:nvPr/>
        </p:nvSpPr>
        <p:spPr>
          <a:xfrm>
            <a:off x="222885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3"/>
          <p:cNvSpPr/>
          <p:nvPr/>
        </p:nvSpPr>
        <p:spPr>
          <a:xfrm>
            <a:off x="276225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2" name="Google Shape;122;p3"/>
          <p:cNvSpPr/>
          <p:nvPr/>
        </p:nvSpPr>
        <p:spPr>
          <a:xfrm>
            <a:off x="328612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3" name="Google Shape;123;p3"/>
          <p:cNvSpPr/>
          <p:nvPr/>
        </p:nvSpPr>
        <p:spPr>
          <a:xfrm>
            <a:off x="381952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3"/>
          <p:cNvSpPr/>
          <p:nvPr/>
        </p:nvSpPr>
        <p:spPr>
          <a:xfrm>
            <a:off x="434340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5" name="Google Shape;125;p3"/>
          <p:cNvSpPr/>
          <p:nvPr/>
        </p:nvSpPr>
        <p:spPr>
          <a:xfrm>
            <a:off x="487680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3"/>
          <p:cNvSpPr/>
          <p:nvPr/>
        </p:nvSpPr>
        <p:spPr>
          <a:xfrm>
            <a:off x="541020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7" name="Google Shape;127;p3"/>
          <p:cNvSpPr/>
          <p:nvPr/>
        </p:nvSpPr>
        <p:spPr>
          <a:xfrm>
            <a:off x="593407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8" name="Google Shape;128;p3"/>
          <p:cNvSpPr/>
          <p:nvPr/>
        </p:nvSpPr>
        <p:spPr>
          <a:xfrm>
            <a:off x="646747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3"/>
          <p:cNvSpPr/>
          <p:nvPr/>
        </p:nvSpPr>
        <p:spPr>
          <a:xfrm>
            <a:off x="700087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0" name="Google Shape;130;p3"/>
          <p:cNvSpPr/>
          <p:nvPr/>
        </p:nvSpPr>
        <p:spPr>
          <a:xfrm>
            <a:off x="752475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3"/>
          <p:cNvSpPr/>
          <p:nvPr/>
        </p:nvSpPr>
        <p:spPr>
          <a:xfrm>
            <a:off x="805815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3"/>
          <p:cNvSpPr/>
          <p:nvPr/>
        </p:nvSpPr>
        <p:spPr>
          <a:xfrm>
            <a:off x="858202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3" name="Google Shape;133;p3"/>
          <p:cNvSpPr/>
          <p:nvPr/>
        </p:nvSpPr>
        <p:spPr>
          <a:xfrm>
            <a:off x="911542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4" name="Google Shape;134;p3"/>
          <p:cNvSpPr/>
          <p:nvPr/>
        </p:nvSpPr>
        <p:spPr>
          <a:xfrm>
            <a:off x="9648825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3"/>
          <p:cNvSpPr/>
          <p:nvPr/>
        </p:nvSpPr>
        <p:spPr>
          <a:xfrm>
            <a:off x="1017270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6" name="Google Shape;136;p3"/>
          <p:cNvSpPr/>
          <p:nvPr/>
        </p:nvSpPr>
        <p:spPr>
          <a:xfrm>
            <a:off x="10706100" y="2990850"/>
            <a:ext cx="9525" cy="266700"/>
          </a:xfrm>
          <a:custGeom>
            <a:rect b="b" l="l" r="r" t="t"/>
            <a:pathLst>
              <a:path extrusionOk="0" h="266700" w="9525">
                <a:moveTo>
                  <a:pt x="9525" y="0"/>
                </a:moveTo>
                <a:lnTo>
                  <a:pt x="0" y="0"/>
                </a:lnTo>
                <a:lnTo>
                  <a:pt x="0" y="266700"/>
                </a:lnTo>
                <a:lnTo>
                  <a:pt x="9525" y="266700"/>
                </a:lnTo>
                <a:lnTo>
                  <a:pt x="9525" y="0"/>
                </a:lnTo>
                <a:close/>
              </a:path>
            </a:pathLst>
          </a:custGeom>
          <a:solidFill>
            <a:srgbClr val="334154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descr="Hoja de ruta Gantt con S11 destacado.png" id="137" name="Google Shape;137;p3"/>
          <p:cNvGrpSpPr/>
          <p:nvPr/>
        </p:nvGrpSpPr>
        <p:grpSpPr>
          <a:xfrm>
            <a:off x="419100" y="952500"/>
            <a:ext cx="11658600" cy="4562475"/>
            <a:chOff x="419100" y="952500"/>
            <a:chExt cx="11658600" cy="4562475"/>
          </a:xfrm>
        </p:grpSpPr>
        <p:sp>
          <p:nvSpPr>
            <p:cNvPr id="138" name="Google Shape;138;p3"/>
            <p:cNvSpPr/>
            <p:nvPr/>
          </p:nvSpPr>
          <p:spPr>
            <a:xfrm>
              <a:off x="11239500" y="2990850"/>
              <a:ext cx="9525" cy="266700"/>
            </a:xfrm>
            <a:custGeom>
              <a:rect b="b" l="l" r="r" t="t"/>
              <a:pathLst>
                <a:path extrusionOk="0" h="266700" w="9525">
                  <a:moveTo>
                    <a:pt x="9525" y="0"/>
                  </a:moveTo>
                  <a:lnTo>
                    <a:pt x="0" y="0"/>
                  </a:lnTo>
                  <a:lnTo>
                    <a:pt x="0" y="266700"/>
                  </a:lnTo>
                  <a:lnTo>
                    <a:pt x="9525" y="266700"/>
                  </a:lnTo>
                  <a:lnTo>
                    <a:pt x="9525" y="0"/>
                  </a:lnTo>
                  <a:close/>
                </a:path>
              </a:pathLst>
            </a:custGeom>
            <a:solidFill>
              <a:srgbClr val="334154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pic>
          <p:nvPicPr>
            <p:cNvPr descr="Hoja de ruta Gantt con S11 destacado.png" id="139" name="Google Shape;139;p3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419100" y="952500"/>
              <a:ext cx="11658600" cy="4562475"/>
            </a:xfrm>
            <a:prstGeom prst="rect">
              <a:avLst/>
            </a:prstGeom>
            <a:noFill/>
            <a:ln>
              <a:noFill/>
            </a:ln>
          </p:spPr>
        </p:pic>
      </p:grpSp>
      <p:sp>
        <p:nvSpPr>
          <p:cNvPr id="140" name="Google Shape;140;p3"/>
          <p:cNvSpPr txBox="1"/>
          <p:nvPr/>
        </p:nvSpPr>
        <p:spPr>
          <a:xfrm>
            <a:off x="406717" y="6377622"/>
            <a:ext cx="28968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63748A"/>
                </a:solidFill>
                <a:latin typeface="Arial"/>
                <a:ea typeface="Arial"/>
                <a:cs typeface="Arial"/>
                <a:sym typeface="Arial"/>
              </a:rPr>
              <a:t>COMPLETADO: </a:t>
            </a:r>
            <a:r>
              <a:rPr lang="en-US" sz="8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S1 a S8 (F1 Levantamiento + F2 Backend)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1" name="Google Shape;141;p3"/>
          <p:cNvSpPr txBox="1"/>
          <p:nvPr/>
        </p:nvSpPr>
        <p:spPr>
          <a:xfrm>
            <a:off x="3676396" y="6377622"/>
            <a:ext cx="36855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63748A"/>
                </a:solidFill>
                <a:latin typeface="Arial"/>
                <a:ea typeface="Arial"/>
                <a:cs typeface="Arial"/>
                <a:sym typeface="Arial"/>
              </a:rPr>
              <a:t>SEMANA ACTUAL: </a:t>
            </a:r>
            <a:r>
              <a:rPr lang="en-US" sz="8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S11 — 23 de octubre de 2026 (Diseño UI/UX y Figma)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2" name="Google Shape;142;p3"/>
          <p:cNvSpPr txBox="1"/>
          <p:nvPr/>
        </p:nvSpPr>
        <p:spPr>
          <a:xfrm>
            <a:off x="7670418" y="6377622"/>
            <a:ext cx="4151100" cy="1518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63748A"/>
                </a:solidFill>
                <a:latin typeface="Arial"/>
                <a:ea typeface="Arial"/>
                <a:cs typeface="Arial"/>
                <a:sym typeface="Arial"/>
              </a:rPr>
              <a:t>PLANIFICADO: </a:t>
            </a:r>
            <a:r>
              <a:rPr lang="en-US" sz="8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S12 a S18 (F3 Desarrollo Web/Móvil, F4 Checkout, F5 QA y Deploy)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43" name="Google Shape;143;p3" title="Hoja de ruta Gantt con S11 destacado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9100" y="953350"/>
            <a:ext cx="11656223" cy="4561750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3" title="Hoja de ruta Gantt con S11 destacado.png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19100" y="953350"/>
            <a:ext cx="11656223" cy="45617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48" name="Shape 1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9" name="Google Shape;149;p4"/>
          <p:cNvSpPr txBox="1"/>
          <p:nvPr/>
        </p:nvSpPr>
        <p:spPr>
          <a:xfrm>
            <a:off x="559117" y="387096"/>
            <a:ext cx="2174240" cy="173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ARQUITECTURA DE PERSISTENCIA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150" name="Google Shape;150;p4"/>
          <p:cNvSpPr txBox="1"/>
          <p:nvPr>
            <p:ph type="title"/>
          </p:nvPr>
        </p:nvSpPr>
        <p:spPr>
          <a:xfrm>
            <a:off x="559117" y="464656"/>
            <a:ext cx="6770370" cy="632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71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Modelo Entidad-Relación (MER)</a:t>
            </a:r>
            <a:endParaRPr sz="2100"/>
          </a:p>
          <a:p>
            <a:pPr indent="0" lvl="0" marL="12700" rtl="0" algn="l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“El MER representa las entidades, atributos y relaciones que estructuran la base de datos de FerreMundo”.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151" name="Google Shape;151;p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05500" y="2924175"/>
            <a:ext cx="371475" cy="419100"/>
          </a:xfrm>
          <a:prstGeom prst="rect">
            <a:avLst/>
          </a:prstGeom>
          <a:noFill/>
          <a:ln>
            <a:noFill/>
          </a:ln>
        </p:spPr>
      </p:pic>
      <p:sp>
        <p:nvSpPr>
          <p:cNvPr id="152" name="Google Shape;152;p4"/>
          <p:cNvSpPr txBox="1"/>
          <p:nvPr/>
        </p:nvSpPr>
        <p:spPr>
          <a:xfrm>
            <a:off x="4028185" y="3373719"/>
            <a:ext cx="4150360" cy="5156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35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[ INSERTAR AQUÍ CAPTURA REAL DEL MER ]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Modelo Entidad-Relación Normalizado — FerreMundo</a:t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53" name="Google Shape;153;p4"/>
          <p:cNvGrpSpPr/>
          <p:nvPr/>
        </p:nvGrpSpPr>
        <p:grpSpPr>
          <a:xfrm>
            <a:off x="576262" y="5929312"/>
            <a:ext cx="11049635" cy="695325"/>
            <a:chOff x="576262" y="5929312"/>
            <a:chExt cx="11049635" cy="695325"/>
          </a:xfrm>
        </p:grpSpPr>
        <p:sp>
          <p:nvSpPr>
            <p:cNvPr id="154" name="Google Shape;154;p4"/>
            <p:cNvSpPr/>
            <p:nvPr/>
          </p:nvSpPr>
          <p:spPr>
            <a:xfrm>
              <a:off x="576262" y="5929312"/>
              <a:ext cx="11049635" cy="695325"/>
            </a:xfrm>
            <a:custGeom>
              <a:rect b="b" l="l" r="r" t="t"/>
              <a:pathLst>
                <a:path extrusionOk="0" h="695325" w="11049635">
                  <a:moveTo>
                    <a:pt x="10972863" y="0"/>
                  </a:moveTo>
                  <a:lnTo>
                    <a:pt x="76200" y="0"/>
                  </a:lnTo>
                  <a:lnTo>
                    <a:pt x="46537" y="5987"/>
                  </a:lnTo>
                  <a:lnTo>
                    <a:pt x="22317" y="22317"/>
                  </a:lnTo>
                  <a:lnTo>
                    <a:pt x="5987" y="46537"/>
                  </a:lnTo>
                  <a:lnTo>
                    <a:pt x="0" y="76200"/>
                  </a:lnTo>
                  <a:lnTo>
                    <a:pt x="0" y="619125"/>
                  </a:lnTo>
                  <a:lnTo>
                    <a:pt x="5987" y="648787"/>
                  </a:lnTo>
                  <a:lnTo>
                    <a:pt x="22317" y="673007"/>
                  </a:lnTo>
                  <a:lnTo>
                    <a:pt x="46537" y="689337"/>
                  </a:lnTo>
                  <a:lnTo>
                    <a:pt x="76200" y="695325"/>
                  </a:lnTo>
                  <a:lnTo>
                    <a:pt x="10972863" y="695325"/>
                  </a:lnTo>
                  <a:lnTo>
                    <a:pt x="11002504" y="689337"/>
                  </a:lnTo>
                  <a:lnTo>
                    <a:pt x="11026727" y="673007"/>
                  </a:lnTo>
                  <a:lnTo>
                    <a:pt x="11043068" y="648787"/>
                  </a:lnTo>
                  <a:lnTo>
                    <a:pt x="11049063" y="619125"/>
                  </a:lnTo>
                  <a:lnTo>
                    <a:pt x="11049063" y="76200"/>
                  </a:lnTo>
                  <a:lnTo>
                    <a:pt x="11043068" y="46537"/>
                  </a:lnTo>
                  <a:lnTo>
                    <a:pt x="11026727" y="22317"/>
                  </a:lnTo>
                  <a:lnTo>
                    <a:pt x="11002504" y="5987"/>
                  </a:lnTo>
                  <a:lnTo>
                    <a:pt x="1097286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55" name="Google Shape;155;p4"/>
            <p:cNvSpPr/>
            <p:nvPr/>
          </p:nvSpPr>
          <p:spPr>
            <a:xfrm>
              <a:off x="576262" y="5929312"/>
              <a:ext cx="11049635" cy="695325"/>
            </a:xfrm>
            <a:custGeom>
              <a:rect b="b" l="l" r="r" t="t"/>
              <a:pathLst>
                <a:path extrusionOk="0" h="695325" w="11049635">
                  <a:moveTo>
                    <a:pt x="0" y="76200"/>
                  </a:moveTo>
                  <a:lnTo>
                    <a:pt x="5987" y="46537"/>
                  </a:lnTo>
                  <a:lnTo>
                    <a:pt x="22317" y="22317"/>
                  </a:lnTo>
                  <a:lnTo>
                    <a:pt x="46537" y="5987"/>
                  </a:lnTo>
                  <a:lnTo>
                    <a:pt x="76200" y="0"/>
                  </a:lnTo>
                  <a:lnTo>
                    <a:pt x="10972863" y="0"/>
                  </a:lnTo>
                  <a:lnTo>
                    <a:pt x="11002504" y="5987"/>
                  </a:lnTo>
                  <a:lnTo>
                    <a:pt x="11026727" y="22317"/>
                  </a:lnTo>
                  <a:lnTo>
                    <a:pt x="11043068" y="46537"/>
                  </a:lnTo>
                  <a:lnTo>
                    <a:pt x="11049063" y="76200"/>
                  </a:lnTo>
                  <a:lnTo>
                    <a:pt x="11049063" y="619125"/>
                  </a:lnTo>
                  <a:lnTo>
                    <a:pt x="11043068" y="648787"/>
                  </a:lnTo>
                  <a:lnTo>
                    <a:pt x="11026727" y="673007"/>
                  </a:lnTo>
                  <a:lnTo>
                    <a:pt x="11002504" y="689337"/>
                  </a:lnTo>
                  <a:lnTo>
                    <a:pt x="10972863" y="695325"/>
                  </a:lnTo>
                  <a:lnTo>
                    <a:pt x="76200" y="695325"/>
                  </a:lnTo>
                  <a:lnTo>
                    <a:pt x="46537" y="689337"/>
                  </a:lnTo>
                  <a:lnTo>
                    <a:pt x="22317" y="673007"/>
                  </a:lnTo>
                  <a:lnTo>
                    <a:pt x="5987" y="648787"/>
                  </a:lnTo>
                  <a:lnTo>
                    <a:pt x="0" y="619125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56" name="Google Shape;156;p4"/>
          <p:cNvSpPr txBox="1"/>
          <p:nvPr/>
        </p:nvSpPr>
        <p:spPr>
          <a:xfrm>
            <a:off x="759459" y="6089396"/>
            <a:ext cx="5329555" cy="349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74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Entidades Principales: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63748A"/>
                </a:solidFill>
                <a:latin typeface="Arial"/>
                <a:ea typeface="Arial"/>
                <a:cs typeface="Arial"/>
                <a:sym typeface="Arial"/>
              </a:rPr>
              <a:t>CLIENTE | CARRITO | ITEM_CARRITO | PRODUCTO | CATEGORIA | BOLETA | DETALLE_BOLETA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57" name="Google Shape;157;p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576250" y="1172875"/>
            <a:ext cx="11049651" cy="46711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5"/>
          <p:cNvSpPr txBox="1"/>
          <p:nvPr/>
        </p:nvSpPr>
        <p:spPr>
          <a:xfrm>
            <a:off x="559117" y="406717"/>
            <a:ext cx="1852295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ESPECIFICACIÓN FUNCIONAL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163" name="Google Shape;163;p5"/>
          <p:cNvSpPr txBox="1"/>
          <p:nvPr>
            <p:ph type="title"/>
          </p:nvPr>
        </p:nvSpPr>
        <p:spPr>
          <a:xfrm>
            <a:off x="559117" y="484976"/>
            <a:ext cx="6569075" cy="6324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971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Casos de uso del sistema FerreMundo</a:t>
            </a:r>
            <a:endParaRPr sz="2100"/>
          </a:p>
          <a:p>
            <a:pPr indent="0" lvl="0" marL="12700" rtl="0" algn="l">
              <a:lnSpc>
                <a:spcPct val="100000"/>
              </a:lnSpc>
              <a:spcBef>
                <a:spcPts val="330"/>
              </a:spcBef>
              <a:spcAft>
                <a:spcPts val="0"/>
              </a:spcAft>
              <a:buNone/>
            </a:pPr>
            <a:r>
              <a:rPr b="0" lang="en-US" sz="10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“El diagrama representa las principales funciones del sistema para los actores Cliente y Administrador”.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164" name="Google Shape;164;p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857875" y="2981325"/>
            <a:ext cx="476250" cy="381000"/>
          </a:xfrm>
          <a:prstGeom prst="rect">
            <a:avLst/>
          </a:prstGeom>
          <a:noFill/>
          <a:ln>
            <a:noFill/>
          </a:ln>
        </p:spPr>
      </p:pic>
      <p:sp>
        <p:nvSpPr>
          <p:cNvPr id="165" name="Google Shape;165;p5"/>
          <p:cNvSpPr txBox="1"/>
          <p:nvPr/>
        </p:nvSpPr>
        <p:spPr>
          <a:xfrm>
            <a:off x="2813685" y="3413385"/>
            <a:ext cx="6564630" cy="51498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35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[ INSERTAR AQUÍ CAPTURA REAL DEL DIAGRAMA DE CASOS DE USO ]</a:t>
            </a:r>
            <a:endParaRPr sz="1500">
              <a:latin typeface="Arial"/>
              <a:ea typeface="Arial"/>
              <a:cs typeface="Arial"/>
              <a:sym typeface="Arial"/>
            </a:endParaRPr>
          </a:p>
          <a:p>
            <a:pPr indent="0" lvl="0" marL="9525" rtl="0" algn="ctr">
              <a:lnSpc>
                <a:spcPct val="100000"/>
              </a:lnSpc>
              <a:spcBef>
                <a:spcPts val="325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Diagrama General de Casos de Uso — FerreMundo</a:t>
            </a:r>
            <a:endParaRPr sz="110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166" name="Google Shape;166;p5"/>
          <p:cNvGrpSpPr/>
          <p:nvPr/>
        </p:nvGrpSpPr>
        <p:grpSpPr>
          <a:xfrm>
            <a:off x="623887" y="6081712"/>
            <a:ext cx="5448935" cy="657225"/>
            <a:chOff x="623887" y="6081712"/>
            <a:chExt cx="5448935" cy="657225"/>
          </a:xfrm>
        </p:grpSpPr>
        <p:sp>
          <p:nvSpPr>
            <p:cNvPr id="167" name="Google Shape;167;p5"/>
            <p:cNvSpPr/>
            <p:nvPr/>
          </p:nvSpPr>
          <p:spPr>
            <a:xfrm>
              <a:off x="623887" y="6081712"/>
              <a:ext cx="5448935" cy="657225"/>
            </a:xfrm>
            <a:custGeom>
              <a:rect b="b" l="l" r="r" t="t"/>
              <a:pathLst>
                <a:path extrusionOk="0" h="657225" w="5448935">
                  <a:moveTo>
                    <a:pt x="5372036" y="0"/>
                  </a:moveTo>
                  <a:lnTo>
                    <a:pt x="76200" y="0"/>
                  </a:lnTo>
                  <a:lnTo>
                    <a:pt x="46537" y="5987"/>
                  </a:lnTo>
                  <a:lnTo>
                    <a:pt x="22317" y="22317"/>
                  </a:lnTo>
                  <a:lnTo>
                    <a:pt x="5987" y="46537"/>
                  </a:lnTo>
                  <a:lnTo>
                    <a:pt x="0" y="76200"/>
                  </a:lnTo>
                  <a:lnTo>
                    <a:pt x="0" y="581025"/>
                  </a:lnTo>
                  <a:lnTo>
                    <a:pt x="5987" y="610687"/>
                  </a:lnTo>
                  <a:lnTo>
                    <a:pt x="22317" y="634907"/>
                  </a:lnTo>
                  <a:lnTo>
                    <a:pt x="46537" y="651237"/>
                  </a:lnTo>
                  <a:lnTo>
                    <a:pt x="76200" y="657225"/>
                  </a:lnTo>
                  <a:lnTo>
                    <a:pt x="5372036" y="657225"/>
                  </a:lnTo>
                  <a:lnTo>
                    <a:pt x="5401750" y="651237"/>
                  </a:lnTo>
                  <a:lnTo>
                    <a:pt x="5426011" y="634907"/>
                  </a:lnTo>
                  <a:lnTo>
                    <a:pt x="5442366" y="610687"/>
                  </a:lnTo>
                  <a:lnTo>
                    <a:pt x="5448363" y="581025"/>
                  </a:lnTo>
                  <a:lnTo>
                    <a:pt x="5448363" y="76200"/>
                  </a:lnTo>
                  <a:lnTo>
                    <a:pt x="5442366" y="46537"/>
                  </a:lnTo>
                  <a:lnTo>
                    <a:pt x="5426011" y="22317"/>
                  </a:lnTo>
                  <a:lnTo>
                    <a:pt x="5401750" y="5987"/>
                  </a:lnTo>
                  <a:lnTo>
                    <a:pt x="5372036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68" name="Google Shape;168;p5"/>
            <p:cNvSpPr/>
            <p:nvPr/>
          </p:nvSpPr>
          <p:spPr>
            <a:xfrm>
              <a:off x="623887" y="6081712"/>
              <a:ext cx="5448935" cy="657225"/>
            </a:xfrm>
            <a:custGeom>
              <a:rect b="b" l="l" r="r" t="t"/>
              <a:pathLst>
                <a:path extrusionOk="0" h="657225" w="5448935">
                  <a:moveTo>
                    <a:pt x="0" y="76200"/>
                  </a:moveTo>
                  <a:lnTo>
                    <a:pt x="5987" y="46537"/>
                  </a:lnTo>
                  <a:lnTo>
                    <a:pt x="22317" y="22317"/>
                  </a:lnTo>
                  <a:lnTo>
                    <a:pt x="46537" y="5987"/>
                  </a:lnTo>
                  <a:lnTo>
                    <a:pt x="76200" y="0"/>
                  </a:lnTo>
                  <a:lnTo>
                    <a:pt x="5372036" y="0"/>
                  </a:lnTo>
                  <a:lnTo>
                    <a:pt x="5401750" y="5987"/>
                  </a:lnTo>
                  <a:lnTo>
                    <a:pt x="5426011" y="22317"/>
                  </a:lnTo>
                  <a:lnTo>
                    <a:pt x="5442366" y="46537"/>
                  </a:lnTo>
                  <a:lnTo>
                    <a:pt x="5448363" y="76200"/>
                  </a:lnTo>
                  <a:lnTo>
                    <a:pt x="5448363" y="581025"/>
                  </a:lnTo>
                  <a:lnTo>
                    <a:pt x="5442366" y="610687"/>
                  </a:lnTo>
                  <a:lnTo>
                    <a:pt x="5426011" y="634907"/>
                  </a:lnTo>
                  <a:lnTo>
                    <a:pt x="5401750" y="651237"/>
                  </a:lnTo>
                  <a:lnTo>
                    <a:pt x="5372036" y="657225"/>
                  </a:lnTo>
                  <a:lnTo>
                    <a:pt x="76200" y="657225"/>
                  </a:lnTo>
                  <a:lnTo>
                    <a:pt x="46537" y="651237"/>
                  </a:lnTo>
                  <a:lnTo>
                    <a:pt x="22317" y="634907"/>
                  </a:lnTo>
                  <a:lnTo>
                    <a:pt x="5987" y="610687"/>
                  </a:lnTo>
                  <a:lnTo>
                    <a:pt x="0" y="581025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169" name="Google Shape;169;p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81050" y="6200776"/>
            <a:ext cx="104775" cy="114298"/>
          </a:xfrm>
          <a:prstGeom prst="rect">
            <a:avLst/>
          </a:prstGeom>
          <a:noFill/>
          <a:ln>
            <a:noFill/>
          </a:ln>
        </p:spPr>
      </p:pic>
      <p:sp>
        <p:nvSpPr>
          <p:cNvPr id="170" name="Google Shape;170;p5"/>
          <p:cNvSpPr txBox="1"/>
          <p:nvPr/>
        </p:nvSpPr>
        <p:spPr>
          <a:xfrm>
            <a:off x="771842" y="6152578"/>
            <a:ext cx="4804410" cy="4838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7450">
            <a:spAutoFit/>
          </a:bodyPr>
          <a:lstStyle/>
          <a:p>
            <a:pPr indent="0" lvl="0" marL="1746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Actor CLIENTE: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18333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Registrar cuenta, Iniciar sesión, Consultar productos, Gestionar carrito, Realizar compra,</a:t>
            </a:r>
            <a:endParaRPr sz="9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1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Historial de compras, Recuperar contraseña.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171" name="Google Shape;171;p5"/>
          <p:cNvGrpSpPr/>
          <p:nvPr/>
        </p:nvGrpSpPr>
        <p:grpSpPr>
          <a:xfrm>
            <a:off x="6224651" y="6081712"/>
            <a:ext cx="5448300" cy="657225"/>
            <a:chOff x="6224651" y="6081712"/>
            <a:chExt cx="5448300" cy="657225"/>
          </a:xfrm>
        </p:grpSpPr>
        <p:sp>
          <p:nvSpPr>
            <p:cNvPr id="172" name="Google Shape;172;p5"/>
            <p:cNvSpPr/>
            <p:nvPr/>
          </p:nvSpPr>
          <p:spPr>
            <a:xfrm>
              <a:off x="6224651" y="6081712"/>
              <a:ext cx="5448300" cy="657225"/>
            </a:xfrm>
            <a:custGeom>
              <a:rect b="b" l="l" r="r" t="t"/>
              <a:pathLst>
                <a:path extrusionOk="0" h="657225" w="5448300">
                  <a:moveTo>
                    <a:pt x="5371973" y="0"/>
                  </a:moveTo>
                  <a:lnTo>
                    <a:pt x="76200" y="0"/>
                  </a:lnTo>
                  <a:lnTo>
                    <a:pt x="46505" y="5987"/>
                  </a:lnTo>
                  <a:lnTo>
                    <a:pt x="22288" y="22317"/>
                  </a:lnTo>
                  <a:lnTo>
                    <a:pt x="5976" y="46537"/>
                  </a:lnTo>
                  <a:lnTo>
                    <a:pt x="0" y="76200"/>
                  </a:lnTo>
                  <a:lnTo>
                    <a:pt x="0" y="581025"/>
                  </a:lnTo>
                  <a:lnTo>
                    <a:pt x="5976" y="610687"/>
                  </a:lnTo>
                  <a:lnTo>
                    <a:pt x="22288" y="634907"/>
                  </a:lnTo>
                  <a:lnTo>
                    <a:pt x="46505" y="651237"/>
                  </a:lnTo>
                  <a:lnTo>
                    <a:pt x="76200" y="657225"/>
                  </a:lnTo>
                  <a:lnTo>
                    <a:pt x="5371973" y="657225"/>
                  </a:lnTo>
                  <a:lnTo>
                    <a:pt x="5401687" y="651237"/>
                  </a:lnTo>
                  <a:lnTo>
                    <a:pt x="5425948" y="634907"/>
                  </a:lnTo>
                  <a:lnTo>
                    <a:pt x="5442303" y="610687"/>
                  </a:lnTo>
                  <a:lnTo>
                    <a:pt x="5448300" y="581025"/>
                  </a:lnTo>
                  <a:lnTo>
                    <a:pt x="5448300" y="76200"/>
                  </a:lnTo>
                  <a:lnTo>
                    <a:pt x="5442303" y="46537"/>
                  </a:lnTo>
                  <a:lnTo>
                    <a:pt x="5425948" y="22317"/>
                  </a:lnTo>
                  <a:lnTo>
                    <a:pt x="5401687" y="5987"/>
                  </a:lnTo>
                  <a:lnTo>
                    <a:pt x="537197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73" name="Google Shape;173;p5"/>
            <p:cNvSpPr/>
            <p:nvPr/>
          </p:nvSpPr>
          <p:spPr>
            <a:xfrm>
              <a:off x="6224651" y="6081712"/>
              <a:ext cx="5448300" cy="657225"/>
            </a:xfrm>
            <a:custGeom>
              <a:rect b="b" l="l" r="r" t="t"/>
              <a:pathLst>
                <a:path extrusionOk="0" h="657225" w="5448300">
                  <a:moveTo>
                    <a:pt x="0" y="76200"/>
                  </a:moveTo>
                  <a:lnTo>
                    <a:pt x="5976" y="46537"/>
                  </a:lnTo>
                  <a:lnTo>
                    <a:pt x="22288" y="22317"/>
                  </a:lnTo>
                  <a:lnTo>
                    <a:pt x="46505" y="5987"/>
                  </a:lnTo>
                  <a:lnTo>
                    <a:pt x="76200" y="0"/>
                  </a:lnTo>
                  <a:lnTo>
                    <a:pt x="5371973" y="0"/>
                  </a:lnTo>
                  <a:lnTo>
                    <a:pt x="5401687" y="5987"/>
                  </a:lnTo>
                  <a:lnTo>
                    <a:pt x="5425948" y="22317"/>
                  </a:lnTo>
                  <a:lnTo>
                    <a:pt x="5442303" y="46537"/>
                  </a:lnTo>
                  <a:lnTo>
                    <a:pt x="5448300" y="76200"/>
                  </a:lnTo>
                  <a:lnTo>
                    <a:pt x="5448300" y="581025"/>
                  </a:lnTo>
                  <a:lnTo>
                    <a:pt x="5442303" y="610687"/>
                  </a:lnTo>
                  <a:lnTo>
                    <a:pt x="5425948" y="634907"/>
                  </a:lnTo>
                  <a:lnTo>
                    <a:pt x="5401687" y="651237"/>
                  </a:lnTo>
                  <a:lnTo>
                    <a:pt x="5371973" y="657225"/>
                  </a:lnTo>
                  <a:lnTo>
                    <a:pt x="76200" y="657225"/>
                  </a:lnTo>
                  <a:lnTo>
                    <a:pt x="46505" y="651237"/>
                  </a:lnTo>
                  <a:lnTo>
                    <a:pt x="22288" y="634907"/>
                  </a:lnTo>
                  <a:lnTo>
                    <a:pt x="5976" y="610687"/>
                  </a:lnTo>
                  <a:lnTo>
                    <a:pt x="0" y="581025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174" name="Google Shape;174;p5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381750" y="6200776"/>
            <a:ext cx="142875" cy="114298"/>
          </a:xfrm>
          <a:prstGeom prst="rect">
            <a:avLst/>
          </a:prstGeom>
          <a:noFill/>
          <a:ln>
            <a:noFill/>
          </a:ln>
        </p:spPr>
      </p:pic>
      <p:sp>
        <p:nvSpPr>
          <p:cNvPr id="175" name="Google Shape;175;p5"/>
          <p:cNvSpPr txBox="1"/>
          <p:nvPr/>
        </p:nvSpPr>
        <p:spPr>
          <a:xfrm>
            <a:off x="6377051" y="6152578"/>
            <a:ext cx="3989070" cy="34988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37450">
            <a:spAutoFit/>
          </a:bodyPr>
          <a:lstStyle/>
          <a:p>
            <a:pPr indent="0" lvl="0" marL="212725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Actor ADMINISTRADOR: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Gestionar productos, Gestionar categorías, Gestionar stock de inventario.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176" name="Google Shape;176;p5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499925" y="1237450"/>
            <a:ext cx="11173025" cy="47137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6"/>
          <p:cNvSpPr txBox="1"/>
          <p:nvPr/>
        </p:nvSpPr>
        <p:spPr>
          <a:xfrm>
            <a:off x="521017" y="368617"/>
            <a:ext cx="1929130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ASEGURAMIENTO DE CALIDAD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182" name="Google Shape;182;p6"/>
          <p:cNvSpPr txBox="1"/>
          <p:nvPr>
            <p:ph type="title"/>
          </p:nvPr>
        </p:nvSpPr>
        <p:spPr>
          <a:xfrm>
            <a:off x="521017" y="530605"/>
            <a:ext cx="349567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C1817"/>
                </a:solidFill>
              </a:rPr>
              <a:t>Plan de pruebas funcionales</a:t>
            </a:r>
            <a:endParaRPr sz="1950"/>
          </a:p>
        </p:txBody>
      </p:sp>
      <p:graphicFrame>
        <p:nvGraphicFramePr>
          <p:cNvPr id="183" name="Google Shape;183;p6"/>
          <p:cNvGraphicFramePr/>
          <p:nvPr/>
        </p:nvGraphicFramePr>
        <p:xfrm>
          <a:off x="533400" y="961999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{C3579349-B9B9-41A4-9F7A-237BA57FED3F}</a:tableStyleId>
              </a:tblPr>
              <a:tblGrid>
                <a:gridCol w="575300"/>
                <a:gridCol w="2103125"/>
                <a:gridCol w="8448050"/>
              </a:tblGrid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Código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3350" marB="0" marR="0" marL="0">
                    <a:solidFill>
                      <a:srgbClr val="1E29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Caso de prueba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3350" marB="0" marR="0" marL="0">
                    <a:solidFill>
                      <a:srgbClr val="1E29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Requisitos asociados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3350" marB="0" marR="0" marL="0">
                    <a:solidFill>
                      <a:srgbClr val="1E293A"/>
                    </a:solidFill>
                  </a:tcPr>
                </a:tc>
              </a:tr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CP-01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39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Registro de usuario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39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RF-01: Registro de usuario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3975" marB="0" marR="0" marL="0">
                    <a:solidFill>
                      <a:srgbClr val="F8F9FB"/>
                    </a:solidFill>
                  </a:tcPr>
                </a:tc>
              </a:tr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CP-02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460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Inicio de sesión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460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RF-02: Inicio de sesión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4600" marB="0" marR="0" marL="0"/>
                </a:tc>
              </a:tr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CP-03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525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Consulta y búsqueda de productos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525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RF-043: Consulta de productos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5250" marB="0" marR="0" marL="0">
                    <a:solidFill>
                      <a:srgbClr val="F8F9FB"/>
                    </a:solidFill>
                  </a:tcPr>
                </a:tc>
              </a:tr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CP-04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5875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Gestión del carrito y cálculo del total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5875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RF-0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8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: Agregar producto s al carrito; RF-0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8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: Modificar cantidades; RF-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09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: 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Eliminar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productos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5875" marB="0" marR="0" marL="0"/>
                </a:tc>
              </a:tr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CP-05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652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Realización</a:t>
                      </a: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de compra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652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RF-1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0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: Realizar compra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6525" marB="0" marR="0" marL="0">
                    <a:solidFill>
                      <a:srgbClr val="F8F9FB"/>
                    </a:solidFill>
                  </a:tcPr>
                </a:tc>
              </a:tr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CP-06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15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Consulta del historial de compras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15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RF-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05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: Consultar historial de compras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7150" marB="0" marR="0" marL="0"/>
                </a:tc>
              </a:tr>
              <a:tr h="4426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CP-07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7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Gestión de productos por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155575" marR="0" rtl="0" algn="l">
                        <a:lnSpc>
                          <a:spcPct val="100000"/>
                        </a:lnSpc>
                        <a:spcBef>
                          <a:spcPts val="8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administrador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066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RF-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20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: Crear productos; RF-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21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: Consultar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, RF-22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modificar; RF-</a:t>
                      </a: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23</a:t>
                      </a: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 : Eliminar productos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7775" marB="0" marR="0" marL="0">
                    <a:solidFill>
                      <a:srgbClr val="F8F9FB"/>
                    </a:solidFill>
                  </a:tcPr>
                </a:tc>
              </a:tr>
              <a:tr h="2857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10666"/>
                        </a:lnSpc>
                        <a:spcBef>
                          <a:spcPts val="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9770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CP-08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775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55575" marR="0" rtl="0" algn="l">
                        <a:lnSpc>
                          <a:spcPct val="110666"/>
                        </a:lnSpc>
                        <a:spcBef>
                          <a:spcPts val="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Recuperación</a:t>
                      </a:r>
                      <a:r>
                        <a:rPr b="1" lang="en-US" sz="750" u="none" cap="none" strike="noStrike">
                          <a:solidFill>
                            <a:srgbClr val="334154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de contraseña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57775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49860" marR="0" rtl="0" algn="l">
                        <a:lnSpc>
                          <a:spcPct val="110666"/>
                        </a:lnSpc>
                        <a:spcBef>
                          <a:spcPts val="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Solicitar codigo de recuperacion RF:16, Validar Codigo RF:17, Restablecer contraseña RF:18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57775" marB="0" marR="0" marL="0"/>
                </a:tc>
              </a:tr>
            </a:tbl>
          </a:graphicData>
        </a:graphic>
      </p:graphicFrame>
      <p:grpSp>
        <p:nvGrpSpPr>
          <p:cNvPr id="184" name="Google Shape;184;p6"/>
          <p:cNvGrpSpPr/>
          <p:nvPr/>
        </p:nvGrpSpPr>
        <p:grpSpPr>
          <a:xfrm>
            <a:off x="533400" y="6124575"/>
            <a:ext cx="11125200" cy="352425"/>
            <a:chOff x="533400" y="6124575"/>
            <a:chExt cx="11125200" cy="352425"/>
          </a:xfrm>
        </p:grpSpPr>
        <p:sp>
          <p:nvSpPr>
            <p:cNvPr id="185" name="Google Shape;185;p6"/>
            <p:cNvSpPr/>
            <p:nvPr/>
          </p:nvSpPr>
          <p:spPr>
            <a:xfrm>
              <a:off x="533400" y="6124575"/>
              <a:ext cx="11125200" cy="352425"/>
            </a:xfrm>
            <a:custGeom>
              <a:rect b="b" l="l" r="r" t="t"/>
              <a:pathLst>
                <a:path extrusionOk="0" h="352425" w="11125200">
                  <a:moveTo>
                    <a:pt x="11125200" y="0"/>
                  </a:moveTo>
                  <a:lnTo>
                    <a:pt x="0" y="0"/>
                  </a:lnTo>
                  <a:lnTo>
                    <a:pt x="0" y="352425"/>
                  </a:lnTo>
                  <a:lnTo>
                    <a:pt x="11125200" y="352425"/>
                  </a:lnTo>
                  <a:lnTo>
                    <a:pt x="11125200" y="0"/>
                  </a:lnTo>
                  <a:close/>
                </a:path>
              </a:pathLst>
            </a:custGeom>
            <a:solidFill>
              <a:srgbClr val="FFFA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86" name="Google Shape;186;p6"/>
            <p:cNvSpPr/>
            <p:nvPr/>
          </p:nvSpPr>
          <p:spPr>
            <a:xfrm>
              <a:off x="533400" y="6124575"/>
              <a:ext cx="38100" cy="352425"/>
            </a:xfrm>
            <a:custGeom>
              <a:rect b="b" l="l" r="r" t="t"/>
              <a:pathLst>
                <a:path extrusionOk="0" h="352425" w="38100">
                  <a:moveTo>
                    <a:pt x="38100" y="0"/>
                  </a:moveTo>
                  <a:lnTo>
                    <a:pt x="0" y="0"/>
                  </a:lnTo>
                  <a:lnTo>
                    <a:pt x="0" y="352425"/>
                  </a:lnTo>
                  <a:lnTo>
                    <a:pt x="38100" y="35242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D97705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87" name="Google Shape;187;p6"/>
          <p:cNvSpPr txBox="1"/>
          <p:nvPr/>
        </p:nvSpPr>
        <p:spPr>
          <a:xfrm>
            <a:off x="571500" y="6246495"/>
            <a:ext cx="11087100" cy="16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52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78350E"/>
                </a:solidFill>
                <a:latin typeface="Arial"/>
                <a:ea typeface="Arial"/>
                <a:cs typeface="Arial"/>
                <a:sym typeface="Arial"/>
              </a:rPr>
              <a:t>Nota: “Los casos de prueba están documentados. Su ejecución y registro de resultados se realizarán durante la etapa de QA, según la planificación del proyecto”.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7"/>
          <p:cNvSpPr txBox="1"/>
          <p:nvPr/>
        </p:nvSpPr>
        <p:spPr>
          <a:xfrm>
            <a:off x="521017" y="368617"/>
            <a:ext cx="1563370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CONTROL DE PROYECTO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193" name="Google Shape;193;p7"/>
          <p:cNvSpPr txBox="1"/>
          <p:nvPr>
            <p:ph type="title"/>
          </p:nvPr>
        </p:nvSpPr>
        <p:spPr>
          <a:xfrm>
            <a:off x="521017" y="530605"/>
            <a:ext cx="3916045" cy="3238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950">
                <a:solidFill>
                  <a:srgbClr val="1C1817"/>
                </a:solidFill>
              </a:rPr>
              <a:t>Gestión de riesgos del proyecto</a:t>
            </a:r>
            <a:endParaRPr sz="1950"/>
          </a:p>
        </p:txBody>
      </p:sp>
      <p:graphicFrame>
        <p:nvGraphicFramePr>
          <p:cNvPr id="194" name="Google Shape;194;p7"/>
          <p:cNvGraphicFramePr/>
          <p:nvPr/>
        </p:nvGraphicFramePr>
        <p:xfrm>
          <a:off x="533400" y="96208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{C3579349-B9B9-41A4-9F7A-237BA57FED3F}</a:tableStyleId>
              </a:tblPr>
              <a:tblGrid>
                <a:gridCol w="1992625"/>
                <a:gridCol w="932175"/>
                <a:gridCol w="682625"/>
                <a:gridCol w="7519025"/>
              </a:tblGrid>
              <a:tr h="503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Riesgo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7000" marB="0" marR="0" marL="0">
                    <a:solidFill>
                      <a:srgbClr val="1E29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Probabilidad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7000" marB="0" marR="0" marL="0">
                    <a:solidFill>
                      <a:srgbClr val="1E29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45085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Impacto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7000" marB="0" marR="0" marL="0">
                    <a:solidFill>
                      <a:srgbClr val="1E293A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FFFFFF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Mitigación o respuesta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7000" marB="0" marR="0" marL="0">
                    <a:solidFill>
                      <a:srgbClr val="1E293A"/>
                    </a:solidFill>
                  </a:tcPr>
                </a:tc>
              </a:tr>
              <a:tr h="503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15748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Retrasos en integración Web, Móvil y API REST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04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B4520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762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43815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C252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762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Probar endpoints e integración por etapas secuenciales.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87625" marB="0" marR="0" marL="0">
                    <a:solidFill>
                      <a:srgbClr val="F8F9FB"/>
                    </a:solidFill>
                  </a:tcPr>
                </a:tc>
              </a:tr>
              <a:tr h="462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Problemas de integración con la API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5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REST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1015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B4520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795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43815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C252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6795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Verificar contratos de API y realizar pruebas de integración continuas.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67950" marB="0" marR="0" marL="0"/>
                </a:tc>
              </a:tr>
              <a:tr h="503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Errores en el cálculo del carrito y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checkout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175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B4520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890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43815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C252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890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Realizar pruebas con datos controlados y verificar totales.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88900" marB="0" marR="0" marL="0">
                    <a:solidFill>
                      <a:srgbClr val="F8F9FB"/>
                    </a:solidFill>
                  </a:tcPr>
                </a:tc>
              </a:tr>
              <a:tr h="503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Inconsistencias en la base de datos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PostgreSQL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2375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B4520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9525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43815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C252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89525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Validar relaciones, restricciones y operaciones de persistencia.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89525" marB="0" marR="0" marL="0"/>
                </a:tc>
              </a:tr>
              <a:tr h="503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Problemas con los pagos de prueba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01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B4520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01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43815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C252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0175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Validar las respuestas de Mercado Pago Sandbox antes de la integración final.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90175" marB="0" marR="0" marL="0">
                    <a:solidFill>
                      <a:srgbClr val="F8F9FB"/>
                    </a:solidFill>
                  </a:tcPr>
                </a:tc>
              </a:tr>
              <a:tr h="503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Ausencia de un integrante del equipo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080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127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6A24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Baja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080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5080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0E172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0800" marB="0" marR="0" marL="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Mantener documentación compartida y distribuir la información del proyecto.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90800" marB="0" marR="0" marL="0"/>
                </a:tc>
              </a:tr>
              <a:tr h="5035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Conflictos o pérdida de cambios en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  <a:p>
                      <a:pPr indent="0" lvl="0" marL="635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1E293A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GitHub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3430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B45209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Media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145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43815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1" lang="en-US" sz="750" u="none" cap="none" strike="noStrike">
                          <a:solidFill>
                            <a:srgbClr val="DC2525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Alto</a:t>
                      </a:r>
                      <a:endParaRPr sz="750" u="none" cap="none" strike="noStrike"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1450" marB="0" marR="0" marL="0">
                    <a:solidFill>
                      <a:srgbClr val="F8F9FB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750" u="none" cap="none" strike="noStrike">
                        <a:latin typeface="Times New Roman"/>
                        <a:ea typeface="Times New Roman"/>
                        <a:cs typeface="Times New Roman"/>
                        <a:sym typeface="Times New Roman"/>
                      </a:endParaRPr>
                    </a:p>
                    <a:p>
                      <a:pPr indent="0" lvl="0" marL="1270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750" u="none" cap="none" strike="noStrike">
                          <a:solidFill>
                            <a:srgbClr val="465469"/>
                          </a:solidFill>
                          <a:latin typeface="Tahoma"/>
                          <a:ea typeface="Tahoma"/>
                          <a:cs typeface="Tahoma"/>
                          <a:sym typeface="Tahoma"/>
                        </a:rPr>
                        <a:t>Realizar commits frecuentes y revisar cambios antes de integrarlos.</a:t>
                      </a:r>
                      <a:endParaRPr sz="750" u="none" cap="none" strike="noStrike">
                        <a:latin typeface="Tahoma"/>
                        <a:ea typeface="Tahoma"/>
                        <a:cs typeface="Tahoma"/>
                        <a:sym typeface="Tahoma"/>
                      </a:endParaRPr>
                    </a:p>
                  </a:txBody>
                  <a:tcPr marT="91450" marB="0" marR="0" marL="0">
                    <a:solidFill>
                      <a:srgbClr val="F8F9FB"/>
                    </a:solidFill>
                  </a:tcPr>
                </a:tc>
              </a:tr>
            </a:tbl>
          </a:graphicData>
        </a:graphic>
      </p:graphicFrame>
      <p:grpSp>
        <p:nvGrpSpPr>
          <p:cNvPr id="195" name="Google Shape;195;p7"/>
          <p:cNvGrpSpPr/>
          <p:nvPr/>
        </p:nvGrpSpPr>
        <p:grpSpPr>
          <a:xfrm>
            <a:off x="533400" y="6143625"/>
            <a:ext cx="11125200" cy="333375"/>
            <a:chOff x="533400" y="6143625"/>
            <a:chExt cx="11125200" cy="333375"/>
          </a:xfrm>
        </p:grpSpPr>
        <p:sp>
          <p:nvSpPr>
            <p:cNvPr id="196" name="Google Shape;196;p7"/>
            <p:cNvSpPr/>
            <p:nvPr/>
          </p:nvSpPr>
          <p:spPr>
            <a:xfrm>
              <a:off x="533400" y="6143625"/>
              <a:ext cx="11125200" cy="333375"/>
            </a:xfrm>
            <a:custGeom>
              <a:rect b="b" l="l" r="r" t="t"/>
              <a:pathLst>
                <a:path extrusionOk="0" h="333375" w="11125200">
                  <a:moveTo>
                    <a:pt x="11125200" y="0"/>
                  </a:moveTo>
                  <a:lnTo>
                    <a:pt x="0" y="0"/>
                  </a:lnTo>
                  <a:lnTo>
                    <a:pt x="0" y="333375"/>
                  </a:lnTo>
                  <a:lnTo>
                    <a:pt x="11125200" y="333375"/>
                  </a:lnTo>
                  <a:lnTo>
                    <a:pt x="11125200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197" name="Google Shape;197;p7"/>
            <p:cNvSpPr/>
            <p:nvPr/>
          </p:nvSpPr>
          <p:spPr>
            <a:xfrm>
              <a:off x="533400" y="6143625"/>
              <a:ext cx="38100" cy="333375"/>
            </a:xfrm>
            <a:custGeom>
              <a:rect b="b" l="l" r="r" t="t"/>
              <a:pathLst>
                <a:path extrusionOk="0" h="333375" w="38100">
                  <a:moveTo>
                    <a:pt x="38100" y="0"/>
                  </a:moveTo>
                  <a:lnTo>
                    <a:pt x="0" y="0"/>
                  </a:lnTo>
                  <a:lnTo>
                    <a:pt x="0" y="333375"/>
                  </a:lnTo>
                  <a:lnTo>
                    <a:pt x="38100" y="33337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1E293A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198" name="Google Shape;198;p7"/>
          <p:cNvSpPr txBox="1"/>
          <p:nvPr/>
        </p:nvSpPr>
        <p:spPr>
          <a:xfrm>
            <a:off x="571500" y="6235065"/>
            <a:ext cx="11087100" cy="1625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524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334154"/>
                </a:solidFill>
                <a:latin typeface="Arial"/>
                <a:ea typeface="Arial"/>
                <a:cs typeface="Arial"/>
                <a:sym typeface="Arial"/>
              </a:rPr>
              <a:t>Nota: Estos riesgos potenciales han sido identificados para su prevención y control continuo durante la ejecución del proyect o.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202" name="Shape 2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3" name="Google Shape;203;p12"/>
          <p:cNvSpPr txBox="1"/>
          <p:nvPr/>
        </p:nvSpPr>
        <p:spPr>
          <a:xfrm>
            <a:off x="521017" y="368617"/>
            <a:ext cx="1972945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ARQUITECTURA DE SOFTWARE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204" name="Google Shape;204;p12"/>
          <p:cNvSpPr txBox="1"/>
          <p:nvPr>
            <p:ph type="title"/>
          </p:nvPr>
        </p:nvSpPr>
        <p:spPr>
          <a:xfrm>
            <a:off x="521017" y="419852"/>
            <a:ext cx="7738109" cy="657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44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Arquitectura del sistema y tecnologías</a:t>
            </a:r>
            <a:endParaRPr sz="2100"/>
          </a:p>
          <a:p>
            <a:pPr indent="0" lvl="0" marL="12700" rtl="0" algn="l">
              <a:lnSpc>
                <a:spcPct val="100000"/>
              </a:lnSpc>
              <a:spcBef>
                <a:spcPts val="43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El Modelo 4+1 describe el sistema desde múltiples perspectivas arquitectónicas (Lógica, Desarrollo, Procesos, Física y Escenarios).</a:t>
            </a:r>
            <a:endParaRPr sz="9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5" name="Google Shape;205;p12"/>
          <p:cNvSpPr/>
          <p:nvPr/>
        </p:nvSpPr>
        <p:spPr>
          <a:xfrm>
            <a:off x="48577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2"/>
          <p:cNvSpPr txBox="1"/>
          <p:nvPr/>
        </p:nvSpPr>
        <p:spPr>
          <a:xfrm>
            <a:off x="598169" y="1314888"/>
            <a:ext cx="1663700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09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0184C6"/>
                </a:solidFill>
                <a:latin typeface="Arial"/>
                <a:ea typeface="Arial"/>
                <a:cs typeface="Arial"/>
                <a:sym typeface="Arial"/>
              </a:rPr>
              <a:t>Vista Lógica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Usuarios, Productos, Categorías,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Stock, Carrito y Compras.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07" name="Google Shape;207;p12"/>
          <p:cNvSpPr/>
          <p:nvPr/>
        </p:nvSpPr>
        <p:spPr>
          <a:xfrm>
            <a:off x="258127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8" name="Google Shape;208;p12"/>
          <p:cNvSpPr/>
          <p:nvPr/>
        </p:nvSpPr>
        <p:spPr>
          <a:xfrm>
            <a:off x="27051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2"/>
          <p:cNvSpPr txBox="1"/>
          <p:nvPr/>
        </p:nvSpPr>
        <p:spPr>
          <a:xfrm>
            <a:off x="2817241" y="1314888"/>
            <a:ext cx="1749425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09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A249"/>
                </a:solidFill>
                <a:latin typeface="Arial"/>
                <a:ea typeface="Arial"/>
                <a:cs typeface="Arial"/>
                <a:sym typeface="Arial"/>
              </a:rPr>
              <a:t>Vista Desarrollo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Presentación → Lógica → Datos →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Servicios externos.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0" name="Google Shape;210;p12"/>
          <p:cNvSpPr/>
          <p:nvPr/>
        </p:nvSpPr>
        <p:spPr>
          <a:xfrm>
            <a:off x="48006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1" name="Google Shape;211;p12"/>
          <p:cNvSpPr/>
          <p:nvPr/>
        </p:nvSpPr>
        <p:spPr>
          <a:xfrm>
            <a:off x="492442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2"/>
          <p:cNvSpPr txBox="1"/>
          <p:nvPr/>
        </p:nvSpPr>
        <p:spPr>
          <a:xfrm>
            <a:off x="5036439" y="1314888"/>
            <a:ext cx="1828164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09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Vista Procesos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Web/Móvil → API REST → Lógica de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negocio → Datos.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3" name="Google Shape;213;p12"/>
          <p:cNvSpPr/>
          <p:nvPr/>
        </p:nvSpPr>
        <p:spPr>
          <a:xfrm>
            <a:off x="70104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4" name="Google Shape;214;p12"/>
          <p:cNvSpPr/>
          <p:nvPr/>
        </p:nvSpPr>
        <p:spPr>
          <a:xfrm>
            <a:off x="713422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2"/>
          <p:cNvSpPr txBox="1"/>
          <p:nvPr/>
        </p:nvSpPr>
        <p:spPr>
          <a:xfrm>
            <a:off x="7255509" y="1314888"/>
            <a:ext cx="1961514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09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9233EA"/>
                </a:solidFill>
                <a:latin typeface="Arial"/>
                <a:ea typeface="Arial"/>
                <a:cs typeface="Arial"/>
                <a:sym typeface="Arial"/>
              </a:rPr>
              <a:t>Vista Física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Dispositivos → Infraestructura cloud →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BD Neon.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16" name="Google Shape;216;p12"/>
          <p:cNvSpPr/>
          <p:nvPr/>
        </p:nvSpPr>
        <p:spPr>
          <a:xfrm>
            <a:off x="922972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2"/>
          <p:cNvSpPr/>
          <p:nvPr/>
        </p:nvSpPr>
        <p:spPr>
          <a:xfrm>
            <a:off x="935355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8" name="Google Shape;218;p12"/>
          <p:cNvSpPr txBox="1"/>
          <p:nvPr/>
        </p:nvSpPr>
        <p:spPr>
          <a:xfrm>
            <a:off x="9474581" y="1314888"/>
            <a:ext cx="1920875" cy="5048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09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DC2525"/>
                </a:solidFill>
                <a:latin typeface="Arial"/>
                <a:ea typeface="Arial"/>
                <a:cs typeface="Arial"/>
                <a:sym typeface="Arial"/>
              </a:rPr>
              <a:t>Escenarios (+1)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7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Registro, consulta productos, carrito y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5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compras.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19" name="Google Shape;219;p12"/>
          <p:cNvGrpSpPr/>
          <p:nvPr/>
        </p:nvGrpSpPr>
        <p:grpSpPr>
          <a:xfrm>
            <a:off x="538162" y="2300351"/>
            <a:ext cx="6534784" cy="847725"/>
            <a:chOff x="538162" y="2300351"/>
            <a:chExt cx="6534784" cy="847725"/>
          </a:xfrm>
        </p:grpSpPr>
        <p:sp>
          <p:nvSpPr>
            <p:cNvPr id="220" name="Google Shape;220;p12"/>
            <p:cNvSpPr/>
            <p:nvPr/>
          </p:nvSpPr>
          <p:spPr>
            <a:xfrm>
              <a:off x="538162" y="2300351"/>
              <a:ext cx="6534784" cy="847725"/>
            </a:xfrm>
            <a:custGeom>
              <a:rect b="b" l="l" r="r" t="t"/>
              <a:pathLst>
                <a:path extrusionOk="0" h="847725" w="6534784">
                  <a:moveTo>
                    <a:pt x="6458013" y="0"/>
                  </a:moveTo>
                  <a:lnTo>
                    <a:pt x="76200" y="0"/>
                  </a:lnTo>
                  <a:lnTo>
                    <a:pt x="46537" y="5974"/>
                  </a:lnTo>
                  <a:lnTo>
                    <a:pt x="22317" y="22272"/>
                  </a:lnTo>
                  <a:lnTo>
                    <a:pt x="5987" y="46452"/>
                  </a:lnTo>
                  <a:lnTo>
                    <a:pt x="0" y="76073"/>
                  </a:lnTo>
                  <a:lnTo>
                    <a:pt x="0" y="771525"/>
                  </a:lnTo>
                  <a:lnTo>
                    <a:pt x="5987" y="801165"/>
                  </a:lnTo>
                  <a:lnTo>
                    <a:pt x="22317" y="825388"/>
                  </a:lnTo>
                  <a:lnTo>
                    <a:pt x="46537" y="841730"/>
                  </a:lnTo>
                  <a:lnTo>
                    <a:pt x="76200" y="847725"/>
                  </a:lnTo>
                  <a:lnTo>
                    <a:pt x="6458013" y="847725"/>
                  </a:lnTo>
                  <a:lnTo>
                    <a:pt x="6487654" y="841730"/>
                  </a:lnTo>
                  <a:lnTo>
                    <a:pt x="6511877" y="825388"/>
                  </a:lnTo>
                  <a:lnTo>
                    <a:pt x="6528218" y="801165"/>
                  </a:lnTo>
                  <a:lnTo>
                    <a:pt x="6534213" y="771525"/>
                  </a:lnTo>
                  <a:lnTo>
                    <a:pt x="6534213" y="76073"/>
                  </a:lnTo>
                  <a:lnTo>
                    <a:pt x="6528218" y="46452"/>
                  </a:lnTo>
                  <a:lnTo>
                    <a:pt x="6511877" y="22272"/>
                  </a:lnTo>
                  <a:lnTo>
                    <a:pt x="6487654" y="5974"/>
                  </a:lnTo>
                  <a:lnTo>
                    <a:pt x="645801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1" name="Google Shape;221;p12"/>
            <p:cNvSpPr/>
            <p:nvPr/>
          </p:nvSpPr>
          <p:spPr>
            <a:xfrm>
              <a:off x="538162" y="2300351"/>
              <a:ext cx="6534784" cy="847725"/>
            </a:xfrm>
            <a:custGeom>
              <a:rect b="b" l="l" r="r" t="t"/>
              <a:pathLst>
                <a:path extrusionOk="0" h="847725" w="6534784">
                  <a:moveTo>
                    <a:pt x="0" y="76073"/>
                  </a:moveTo>
                  <a:lnTo>
                    <a:pt x="5987" y="46452"/>
                  </a:lnTo>
                  <a:lnTo>
                    <a:pt x="22317" y="22272"/>
                  </a:lnTo>
                  <a:lnTo>
                    <a:pt x="46537" y="5974"/>
                  </a:lnTo>
                  <a:lnTo>
                    <a:pt x="76200" y="0"/>
                  </a:lnTo>
                  <a:lnTo>
                    <a:pt x="6458013" y="0"/>
                  </a:lnTo>
                  <a:lnTo>
                    <a:pt x="6487654" y="5974"/>
                  </a:lnTo>
                  <a:lnTo>
                    <a:pt x="6511877" y="22272"/>
                  </a:lnTo>
                  <a:lnTo>
                    <a:pt x="6528218" y="46452"/>
                  </a:lnTo>
                  <a:lnTo>
                    <a:pt x="6534213" y="76073"/>
                  </a:lnTo>
                  <a:lnTo>
                    <a:pt x="6534213" y="771525"/>
                  </a:lnTo>
                  <a:lnTo>
                    <a:pt x="6528218" y="801165"/>
                  </a:lnTo>
                  <a:lnTo>
                    <a:pt x="6511877" y="825388"/>
                  </a:lnTo>
                  <a:lnTo>
                    <a:pt x="6487654" y="841730"/>
                  </a:lnTo>
                  <a:lnTo>
                    <a:pt x="6458013" y="847725"/>
                  </a:lnTo>
                  <a:lnTo>
                    <a:pt x="76200" y="847725"/>
                  </a:lnTo>
                  <a:lnTo>
                    <a:pt x="46537" y="841730"/>
                  </a:lnTo>
                  <a:lnTo>
                    <a:pt x="22317" y="825388"/>
                  </a:lnTo>
                  <a:lnTo>
                    <a:pt x="5987" y="801165"/>
                  </a:lnTo>
                  <a:lnTo>
                    <a:pt x="0" y="771525"/>
                  </a:lnTo>
                  <a:lnTo>
                    <a:pt x="0" y="76073"/>
                  </a:lnTo>
                  <a:close/>
                </a:path>
              </a:pathLst>
            </a:custGeom>
            <a:noFill/>
            <a:ln cap="flat" cmpd="sng" w="9525">
              <a:solidFill>
                <a:srgbClr val="CAD4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22" name="Google Shape;222;p12"/>
          <p:cNvSpPr txBox="1"/>
          <p:nvPr/>
        </p:nvSpPr>
        <p:spPr>
          <a:xfrm>
            <a:off x="702309" y="2380071"/>
            <a:ext cx="2391410" cy="636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66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CAPA DE PRESENTACIÓN</a:t>
            </a:r>
            <a:endParaRPr sz="7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172A"/>
                </a:solidFill>
                <a:latin typeface="Arial"/>
                <a:ea typeface="Arial"/>
                <a:cs typeface="Arial"/>
                <a:sym typeface="Arial"/>
              </a:rPr>
              <a:t>Sitio Web + App Móvil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9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Ionic • Angular • Capacitor • HTML/CSS/JS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23" name="Google Shape;223;p12"/>
          <p:cNvSpPr txBox="1"/>
          <p:nvPr/>
        </p:nvSpPr>
        <p:spPr>
          <a:xfrm>
            <a:off x="7257415" y="2342515"/>
            <a:ext cx="1922145" cy="15113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63748A"/>
                </a:solidFill>
                <a:latin typeface="Arial"/>
                <a:ea typeface="Arial"/>
                <a:cs typeface="Arial"/>
                <a:sym typeface="Arial"/>
              </a:rPr>
              <a:t>SERVICIOS EXTERNOS INTEGRADOS</a:t>
            </a:r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24" name="Google Shape;224;p1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15125" y="2609850"/>
            <a:ext cx="171450" cy="2286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225" name="Google Shape;225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52850" y="3228975"/>
            <a:ext cx="104775" cy="1238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26" name="Google Shape;226;p12"/>
          <p:cNvGrpSpPr/>
          <p:nvPr/>
        </p:nvGrpSpPr>
        <p:grpSpPr>
          <a:xfrm>
            <a:off x="7300976" y="2881376"/>
            <a:ext cx="4362450" cy="742950"/>
            <a:chOff x="7300976" y="2881376"/>
            <a:chExt cx="4362450" cy="742950"/>
          </a:xfrm>
        </p:grpSpPr>
        <p:sp>
          <p:nvSpPr>
            <p:cNvPr id="227" name="Google Shape;227;p12"/>
            <p:cNvSpPr/>
            <p:nvPr/>
          </p:nvSpPr>
          <p:spPr>
            <a:xfrm>
              <a:off x="7300976" y="2881376"/>
              <a:ext cx="4362450" cy="742950"/>
            </a:xfrm>
            <a:custGeom>
              <a:rect b="b" l="l" r="r" t="t"/>
              <a:pathLst>
                <a:path extrusionOk="0" h="742950" w="4362450">
                  <a:moveTo>
                    <a:pt x="4252341" y="0"/>
                  </a:moveTo>
                  <a:lnTo>
                    <a:pt x="109981" y="0"/>
                  </a:lnTo>
                  <a:lnTo>
                    <a:pt x="67133" y="8630"/>
                  </a:lnTo>
                  <a:lnTo>
                    <a:pt x="32178" y="32178"/>
                  </a:lnTo>
                  <a:lnTo>
                    <a:pt x="8630" y="67133"/>
                  </a:lnTo>
                  <a:lnTo>
                    <a:pt x="0" y="109982"/>
                  </a:lnTo>
                  <a:lnTo>
                    <a:pt x="0" y="632840"/>
                  </a:lnTo>
                  <a:lnTo>
                    <a:pt x="8630" y="675709"/>
                  </a:lnTo>
                  <a:lnTo>
                    <a:pt x="32178" y="710707"/>
                  </a:lnTo>
                  <a:lnTo>
                    <a:pt x="67133" y="734300"/>
                  </a:lnTo>
                  <a:lnTo>
                    <a:pt x="109981" y="742950"/>
                  </a:lnTo>
                  <a:lnTo>
                    <a:pt x="4252341" y="742950"/>
                  </a:lnTo>
                  <a:lnTo>
                    <a:pt x="4295209" y="734300"/>
                  </a:lnTo>
                  <a:lnTo>
                    <a:pt x="4330207" y="710707"/>
                  </a:lnTo>
                  <a:lnTo>
                    <a:pt x="4353800" y="675709"/>
                  </a:lnTo>
                  <a:lnTo>
                    <a:pt x="4362450" y="632840"/>
                  </a:lnTo>
                  <a:lnTo>
                    <a:pt x="4362450" y="109982"/>
                  </a:lnTo>
                  <a:lnTo>
                    <a:pt x="4353800" y="67133"/>
                  </a:lnTo>
                  <a:lnTo>
                    <a:pt x="4330207" y="32178"/>
                  </a:lnTo>
                  <a:lnTo>
                    <a:pt x="4295209" y="8630"/>
                  </a:lnTo>
                  <a:lnTo>
                    <a:pt x="4252341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28" name="Google Shape;228;p12"/>
            <p:cNvSpPr/>
            <p:nvPr/>
          </p:nvSpPr>
          <p:spPr>
            <a:xfrm>
              <a:off x="7300976" y="2881376"/>
              <a:ext cx="4362450" cy="742950"/>
            </a:xfrm>
            <a:custGeom>
              <a:rect b="b" l="l" r="r" t="t"/>
              <a:pathLst>
                <a:path extrusionOk="0" h="742950" w="4362450">
                  <a:moveTo>
                    <a:pt x="0" y="109982"/>
                  </a:moveTo>
                  <a:lnTo>
                    <a:pt x="8630" y="67133"/>
                  </a:lnTo>
                  <a:lnTo>
                    <a:pt x="32178" y="32178"/>
                  </a:lnTo>
                  <a:lnTo>
                    <a:pt x="67133" y="8630"/>
                  </a:lnTo>
                  <a:lnTo>
                    <a:pt x="109981" y="0"/>
                  </a:lnTo>
                  <a:lnTo>
                    <a:pt x="4252341" y="0"/>
                  </a:lnTo>
                  <a:lnTo>
                    <a:pt x="4295209" y="8630"/>
                  </a:lnTo>
                  <a:lnTo>
                    <a:pt x="4330207" y="32178"/>
                  </a:lnTo>
                  <a:lnTo>
                    <a:pt x="4353800" y="67133"/>
                  </a:lnTo>
                  <a:lnTo>
                    <a:pt x="4362450" y="109982"/>
                  </a:lnTo>
                  <a:lnTo>
                    <a:pt x="4362450" y="632840"/>
                  </a:lnTo>
                  <a:lnTo>
                    <a:pt x="4353800" y="675709"/>
                  </a:lnTo>
                  <a:lnTo>
                    <a:pt x="4330207" y="710707"/>
                  </a:lnTo>
                  <a:lnTo>
                    <a:pt x="4295209" y="734300"/>
                  </a:lnTo>
                  <a:lnTo>
                    <a:pt x="4252341" y="742950"/>
                  </a:lnTo>
                  <a:lnTo>
                    <a:pt x="109981" y="742950"/>
                  </a:lnTo>
                  <a:lnTo>
                    <a:pt x="67133" y="734300"/>
                  </a:lnTo>
                  <a:lnTo>
                    <a:pt x="32178" y="710707"/>
                  </a:lnTo>
                  <a:lnTo>
                    <a:pt x="8630" y="675709"/>
                  </a:lnTo>
                  <a:lnTo>
                    <a:pt x="0" y="632840"/>
                  </a:lnTo>
                  <a:lnTo>
                    <a:pt x="0" y="109982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229" name="Google Shape;229;p12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7439025" y="3028950"/>
            <a:ext cx="152400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30" name="Google Shape;230;p12"/>
          <p:cNvSpPr txBox="1"/>
          <p:nvPr/>
        </p:nvSpPr>
        <p:spPr>
          <a:xfrm>
            <a:off x="7436104" y="2975084"/>
            <a:ext cx="1518285" cy="3492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2525">
            <a:spAutoFit/>
          </a:bodyPr>
          <a:lstStyle/>
          <a:p>
            <a:pPr indent="0" lvl="0" marL="22225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Cloudinary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09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Almacenamiento de imágenes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grpSp>
        <p:nvGrpSpPr>
          <p:cNvPr id="231" name="Google Shape;231;p12"/>
          <p:cNvGrpSpPr/>
          <p:nvPr/>
        </p:nvGrpSpPr>
        <p:grpSpPr>
          <a:xfrm>
            <a:off x="538162" y="3424301"/>
            <a:ext cx="6534784" cy="847725"/>
            <a:chOff x="538162" y="3424301"/>
            <a:chExt cx="6534784" cy="847725"/>
          </a:xfrm>
        </p:grpSpPr>
        <p:sp>
          <p:nvSpPr>
            <p:cNvPr id="232" name="Google Shape;232;p12"/>
            <p:cNvSpPr/>
            <p:nvPr/>
          </p:nvSpPr>
          <p:spPr>
            <a:xfrm>
              <a:off x="538162" y="3424301"/>
              <a:ext cx="6534784" cy="847725"/>
            </a:xfrm>
            <a:custGeom>
              <a:rect b="b" l="l" r="r" t="t"/>
              <a:pathLst>
                <a:path extrusionOk="0" h="847725" w="6534784">
                  <a:moveTo>
                    <a:pt x="6458013" y="0"/>
                  </a:moveTo>
                  <a:lnTo>
                    <a:pt x="76200" y="0"/>
                  </a:lnTo>
                  <a:lnTo>
                    <a:pt x="46537" y="5974"/>
                  </a:lnTo>
                  <a:lnTo>
                    <a:pt x="22317" y="22272"/>
                  </a:lnTo>
                  <a:lnTo>
                    <a:pt x="5987" y="46452"/>
                  </a:lnTo>
                  <a:lnTo>
                    <a:pt x="0" y="76073"/>
                  </a:lnTo>
                  <a:lnTo>
                    <a:pt x="0" y="771525"/>
                  </a:lnTo>
                  <a:lnTo>
                    <a:pt x="5987" y="801165"/>
                  </a:lnTo>
                  <a:lnTo>
                    <a:pt x="22317" y="825388"/>
                  </a:lnTo>
                  <a:lnTo>
                    <a:pt x="46537" y="841730"/>
                  </a:lnTo>
                  <a:lnTo>
                    <a:pt x="76200" y="847725"/>
                  </a:lnTo>
                  <a:lnTo>
                    <a:pt x="6458013" y="847725"/>
                  </a:lnTo>
                  <a:lnTo>
                    <a:pt x="6487654" y="841730"/>
                  </a:lnTo>
                  <a:lnTo>
                    <a:pt x="6511877" y="825388"/>
                  </a:lnTo>
                  <a:lnTo>
                    <a:pt x="6528218" y="801165"/>
                  </a:lnTo>
                  <a:lnTo>
                    <a:pt x="6534213" y="771525"/>
                  </a:lnTo>
                  <a:lnTo>
                    <a:pt x="6534213" y="76073"/>
                  </a:lnTo>
                  <a:lnTo>
                    <a:pt x="6528218" y="46452"/>
                  </a:lnTo>
                  <a:lnTo>
                    <a:pt x="6511877" y="22272"/>
                  </a:lnTo>
                  <a:lnTo>
                    <a:pt x="6487654" y="5974"/>
                  </a:lnTo>
                  <a:lnTo>
                    <a:pt x="645801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3" name="Google Shape;233;p12"/>
            <p:cNvSpPr/>
            <p:nvPr/>
          </p:nvSpPr>
          <p:spPr>
            <a:xfrm>
              <a:off x="538162" y="3424301"/>
              <a:ext cx="6534784" cy="847725"/>
            </a:xfrm>
            <a:custGeom>
              <a:rect b="b" l="l" r="r" t="t"/>
              <a:pathLst>
                <a:path extrusionOk="0" h="847725" w="6534784">
                  <a:moveTo>
                    <a:pt x="0" y="76073"/>
                  </a:moveTo>
                  <a:lnTo>
                    <a:pt x="5987" y="46452"/>
                  </a:lnTo>
                  <a:lnTo>
                    <a:pt x="22317" y="22272"/>
                  </a:lnTo>
                  <a:lnTo>
                    <a:pt x="46537" y="5974"/>
                  </a:lnTo>
                  <a:lnTo>
                    <a:pt x="76200" y="0"/>
                  </a:lnTo>
                  <a:lnTo>
                    <a:pt x="6458013" y="0"/>
                  </a:lnTo>
                  <a:lnTo>
                    <a:pt x="6487654" y="5974"/>
                  </a:lnTo>
                  <a:lnTo>
                    <a:pt x="6511877" y="22272"/>
                  </a:lnTo>
                  <a:lnTo>
                    <a:pt x="6528218" y="46452"/>
                  </a:lnTo>
                  <a:lnTo>
                    <a:pt x="6534213" y="76073"/>
                  </a:lnTo>
                  <a:lnTo>
                    <a:pt x="6534213" y="771525"/>
                  </a:lnTo>
                  <a:lnTo>
                    <a:pt x="6528218" y="801165"/>
                  </a:lnTo>
                  <a:lnTo>
                    <a:pt x="6511877" y="825388"/>
                  </a:lnTo>
                  <a:lnTo>
                    <a:pt x="6487654" y="841730"/>
                  </a:lnTo>
                  <a:lnTo>
                    <a:pt x="6458013" y="847725"/>
                  </a:lnTo>
                  <a:lnTo>
                    <a:pt x="76200" y="847725"/>
                  </a:lnTo>
                  <a:lnTo>
                    <a:pt x="46537" y="841730"/>
                  </a:lnTo>
                  <a:lnTo>
                    <a:pt x="22317" y="825388"/>
                  </a:lnTo>
                  <a:lnTo>
                    <a:pt x="5987" y="801165"/>
                  </a:lnTo>
                  <a:lnTo>
                    <a:pt x="0" y="771525"/>
                  </a:lnTo>
                  <a:lnTo>
                    <a:pt x="0" y="76073"/>
                  </a:lnTo>
                  <a:close/>
                </a:path>
              </a:pathLst>
            </a:custGeom>
            <a:noFill/>
            <a:ln cap="flat" cmpd="sng" w="9525">
              <a:solidFill>
                <a:srgbClr val="CAD4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34" name="Google Shape;234;p12"/>
          <p:cNvSpPr txBox="1"/>
          <p:nvPr/>
        </p:nvSpPr>
        <p:spPr>
          <a:xfrm>
            <a:off x="702309" y="3506129"/>
            <a:ext cx="2002789" cy="6356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60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BACKEND s API REST</a:t>
            </a:r>
            <a:endParaRPr sz="7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172A"/>
                </a:solidFill>
                <a:latin typeface="Arial"/>
                <a:ea typeface="Arial"/>
                <a:cs typeface="Arial"/>
                <a:sym typeface="Arial"/>
              </a:rPr>
              <a:t>Python + Django + DRF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9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Lógica de negocio y endpoints REST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235" name="Google Shape;235;p12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600825" y="3733800"/>
            <a:ext cx="285750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36" name="Google Shape;236;p12"/>
          <p:cNvGrpSpPr/>
          <p:nvPr/>
        </p:nvGrpSpPr>
        <p:grpSpPr>
          <a:xfrm>
            <a:off x="7300976" y="3852926"/>
            <a:ext cx="4362450" cy="514350"/>
            <a:chOff x="7300976" y="3852926"/>
            <a:chExt cx="4362450" cy="514350"/>
          </a:xfrm>
        </p:grpSpPr>
        <p:sp>
          <p:nvSpPr>
            <p:cNvPr id="237" name="Google Shape;237;p12"/>
            <p:cNvSpPr/>
            <p:nvPr/>
          </p:nvSpPr>
          <p:spPr>
            <a:xfrm>
              <a:off x="7300976" y="3852926"/>
              <a:ext cx="4362450" cy="514350"/>
            </a:xfrm>
            <a:custGeom>
              <a:rect b="b" l="l" r="r" t="t"/>
              <a:pathLst>
                <a:path extrusionOk="0" h="514350" w="4362450">
                  <a:moveTo>
                    <a:pt x="4286250" y="0"/>
                  </a:moveTo>
                  <a:lnTo>
                    <a:pt x="76073" y="0"/>
                  </a:lnTo>
                  <a:lnTo>
                    <a:pt x="46452" y="5974"/>
                  </a:lnTo>
                  <a:lnTo>
                    <a:pt x="22272" y="22272"/>
                  </a:lnTo>
                  <a:lnTo>
                    <a:pt x="5974" y="46452"/>
                  </a:lnTo>
                  <a:lnTo>
                    <a:pt x="0" y="76073"/>
                  </a:lnTo>
                  <a:lnTo>
                    <a:pt x="0" y="438150"/>
                  </a:lnTo>
                  <a:lnTo>
                    <a:pt x="5974" y="467790"/>
                  </a:lnTo>
                  <a:lnTo>
                    <a:pt x="22272" y="492013"/>
                  </a:lnTo>
                  <a:lnTo>
                    <a:pt x="46452" y="508355"/>
                  </a:lnTo>
                  <a:lnTo>
                    <a:pt x="76073" y="514350"/>
                  </a:lnTo>
                  <a:lnTo>
                    <a:pt x="4286250" y="514350"/>
                  </a:lnTo>
                  <a:lnTo>
                    <a:pt x="4315890" y="508355"/>
                  </a:lnTo>
                  <a:lnTo>
                    <a:pt x="4340113" y="492013"/>
                  </a:lnTo>
                  <a:lnTo>
                    <a:pt x="4356455" y="467790"/>
                  </a:lnTo>
                  <a:lnTo>
                    <a:pt x="4362450" y="438150"/>
                  </a:lnTo>
                  <a:lnTo>
                    <a:pt x="4362450" y="76073"/>
                  </a:lnTo>
                  <a:lnTo>
                    <a:pt x="4356455" y="46452"/>
                  </a:lnTo>
                  <a:lnTo>
                    <a:pt x="4340113" y="22272"/>
                  </a:lnTo>
                  <a:lnTo>
                    <a:pt x="4315890" y="5974"/>
                  </a:lnTo>
                  <a:lnTo>
                    <a:pt x="4286250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38" name="Google Shape;238;p12"/>
            <p:cNvSpPr/>
            <p:nvPr/>
          </p:nvSpPr>
          <p:spPr>
            <a:xfrm>
              <a:off x="7300976" y="3852926"/>
              <a:ext cx="4362450" cy="514350"/>
            </a:xfrm>
            <a:custGeom>
              <a:rect b="b" l="l" r="r" t="t"/>
              <a:pathLst>
                <a:path extrusionOk="0" h="514350" w="4362450">
                  <a:moveTo>
                    <a:pt x="0" y="76073"/>
                  </a:moveTo>
                  <a:lnTo>
                    <a:pt x="5974" y="46452"/>
                  </a:lnTo>
                  <a:lnTo>
                    <a:pt x="22272" y="22272"/>
                  </a:lnTo>
                  <a:lnTo>
                    <a:pt x="46452" y="5974"/>
                  </a:lnTo>
                  <a:lnTo>
                    <a:pt x="76073" y="0"/>
                  </a:lnTo>
                  <a:lnTo>
                    <a:pt x="4286250" y="0"/>
                  </a:lnTo>
                  <a:lnTo>
                    <a:pt x="4315890" y="5974"/>
                  </a:lnTo>
                  <a:lnTo>
                    <a:pt x="4340113" y="22272"/>
                  </a:lnTo>
                  <a:lnTo>
                    <a:pt x="4356455" y="46452"/>
                  </a:lnTo>
                  <a:lnTo>
                    <a:pt x="4362450" y="76073"/>
                  </a:lnTo>
                  <a:lnTo>
                    <a:pt x="4362450" y="438150"/>
                  </a:lnTo>
                  <a:lnTo>
                    <a:pt x="4356455" y="467790"/>
                  </a:lnTo>
                  <a:lnTo>
                    <a:pt x="4340113" y="492013"/>
                  </a:lnTo>
                  <a:lnTo>
                    <a:pt x="4315890" y="508355"/>
                  </a:lnTo>
                  <a:lnTo>
                    <a:pt x="4286250" y="514350"/>
                  </a:lnTo>
                  <a:lnTo>
                    <a:pt x="76073" y="514350"/>
                  </a:lnTo>
                  <a:lnTo>
                    <a:pt x="46452" y="508355"/>
                  </a:lnTo>
                  <a:lnTo>
                    <a:pt x="22272" y="492013"/>
                  </a:lnTo>
                  <a:lnTo>
                    <a:pt x="5974" y="467790"/>
                  </a:lnTo>
                  <a:lnTo>
                    <a:pt x="0" y="438150"/>
                  </a:lnTo>
                  <a:lnTo>
                    <a:pt x="0" y="76073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239" name="Google Shape;239;p12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7439025" y="3971925"/>
            <a:ext cx="114298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40" name="Google Shape;240;p12"/>
          <p:cNvSpPr txBox="1"/>
          <p:nvPr/>
        </p:nvSpPr>
        <p:spPr>
          <a:xfrm>
            <a:off x="7435850" y="3919693"/>
            <a:ext cx="1450975" cy="3505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3175">
            <a:spAutoFit/>
          </a:bodyPr>
          <a:lstStyle/>
          <a:p>
            <a:pPr indent="0" lvl="0" marL="21082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Google Cloud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Recuperación de contraseña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241" name="Google Shape;241;p12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3752850" y="4352925"/>
            <a:ext cx="104775" cy="12382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2" name="Google Shape;242;p12"/>
          <p:cNvGrpSpPr/>
          <p:nvPr/>
        </p:nvGrpSpPr>
        <p:grpSpPr>
          <a:xfrm>
            <a:off x="538162" y="4548251"/>
            <a:ext cx="6534784" cy="847725"/>
            <a:chOff x="538162" y="4548251"/>
            <a:chExt cx="6534784" cy="847725"/>
          </a:xfrm>
        </p:grpSpPr>
        <p:sp>
          <p:nvSpPr>
            <p:cNvPr id="243" name="Google Shape;243;p12"/>
            <p:cNvSpPr/>
            <p:nvPr/>
          </p:nvSpPr>
          <p:spPr>
            <a:xfrm>
              <a:off x="538162" y="4548251"/>
              <a:ext cx="6534784" cy="847725"/>
            </a:xfrm>
            <a:custGeom>
              <a:rect b="b" l="l" r="r" t="t"/>
              <a:pathLst>
                <a:path extrusionOk="0" h="847725" w="6534784">
                  <a:moveTo>
                    <a:pt x="6458013" y="0"/>
                  </a:moveTo>
                  <a:lnTo>
                    <a:pt x="76200" y="0"/>
                  </a:lnTo>
                  <a:lnTo>
                    <a:pt x="46537" y="5974"/>
                  </a:lnTo>
                  <a:lnTo>
                    <a:pt x="22317" y="22272"/>
                  </a:lnTo>
                  <a:lnTo>
                    <a:pt x="5987" y="46452"/>
                  </a:lnTo>
                  <a:lnTo>
                    <a:pt x="0" y="76073"/>
                  </a:lnTo>
                  <a:lnTo>
                    <a:pt x="0" y="771525"/>
                  </a:lnTo>
                  <a:lnTo>
                    <a:pt x="5987" y="801165"/>
                  </a:lnTo>
                  <a:lnTo>
                    <a:pt x="22317" y="825388"/>
                  </a:lnTo>
                  <a:lnTo>
                    <a:pt x="46537" y="841730"/>
                  </a:lnTo>
                  <a:lnTo>
                    <a:pt x="76200" y="847725"/>
                  </a:lnTo>
                  <a:lnTo>
                    <a:pt x="6458013" y="847725"/>
                  </a:lnTo>
                  <a:lnTo>
                    <a:pt x="6487654" y="841730"/>
                  </a:lnTo>
                  <a:lnTo>
                    <a:pt x="6511877" y="825388"/>
                  </a:lnTo>
                  <a:lnTo>
                    <a:pt x="6528218" y="801165"/>
                  </a:lnTo>
                  <a:lnTo>
                    <a:pt x="6534213" y="771525"/>
                  </a:lnTo>
                  <a:lnTo>
                    <a:pt x="6534213" y="76073"/>
                  </a:lnTo>
                  <a:lnTo>
                    <a:pt x="6528218" y="46452"/>
                  </a:lnTo>
                  <a:lnTo>
                    <a:pt x="6511877" y="22272"/>
                  </a:lnTo>
                  <a:lnTo>
                    <a:pt x="6487654" y="5974"/>
                  </a:lnTo>
                  <a:lnTo>
                    <a:pt x="645801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4" name="Google Shape;244;p12"/>
            <p:cNvSpPr/>
            <p:nvPr/>
          </p:nvSpPr>
          <p:spPr>
            <a:xfrm>
              <a:off x="538162" y="4548251"/>
              <a:ext cx="6534784" cy="847725"/>
            </a:xfrm>
            <a:custGeom>
              <a:rect b="b" l="l" r="r" t="t"/>
              <a:pathLst>
                <a:path extrusionOk="0" h="847725" w="6534784">
                  <a:moveTo>
                    <a:pt x="0" y="76073"/>
                  </a:moveTo>
                  <a:lnTo>
                    <a:pt x="5987" y="46452"/>
                  </a:lnTo>
                  <a:lnTo>
                    <a:pt x="22317" y="22272"/>
                  </a:lnTo>
                  <a:lnTo>
                    <a:pt x="46537" y="5974"/>
                  </a:lnTo>
                  <a:lnTo>
                    <a:pt x="76200" y="0"/>
                  </a:lnTo>
                  <a:lnTo>
                    <a:pt x="6458013" y="0"/>
                  </a:lnTo>
                  <a:lnTo>
                    <a:pt x="6487654" y="5974"/>
                  </a:lnTo>
                  <a:lnTo>
                    <a:pt x="6511877" y="22272"/>
                  </a:lnTo>
                  <a:lnTo>
                    <a:pt x="6528218" y="46452"/>
                  </a:lnTo>
                  <a:lnTo>
                    <a:pt x="6534213" y="76073"/>
                  </a:lnTo>
                  <a:lnTo>
                    <a:pt x="6534213" y="771525"/>
                  </a:lnTo>
                  <a:lnTo>
                    <a:pt x="6528218" y="801165"/>
                  </a:lnTo>
                  <a:lnTo>
                    <a:pt x="6511877" y="825388"/>
                  </a:lnTo>
                  <a:lnTo>
                    <a:pt x="6487654" y="841730"/>
                  </a:lnTo>
                  <a:lnTo>
                    <a:pt x="6458013" y="847725"/>
                  </a:lnTo>
                  <a:lnTo>
                    <a:pt x="76200" y="847725"/>
                  </a:lnTo>
                  <a:lnTo>
                    <a:pt x="46537" y="841730"/>
                  </a:lnTo>
                  <a:lnTo>
                    <a:pt x="22317" y="825388"/>
                  </a:lnTo>
                  <a:lnTo>
                    <a:pt x="5987" y="801165"/>
                  </a:lnTo>
                  <a:lnTo>
                    <a:pt x="0" y="771525"/>
                  </a:lnTo>
                  <a:lnTo>
                    <a:pt x="0" y="76073"/>
                  </a:lnTo>
                  <a:close/>
                </a:path>
              </a:pathLst>
            </a:custGeom>
            <a:noFill/>
            <a:ln cap="flat" cmpd="sng" w="9525">
              <a:solidFill>
                <a:srgbClr val="CAD4E0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245" name="Google Shape;245;p12"/>
          <p:cNvSpPr txBox="1"/>
          <p:nvPr/>
        </p:nvSpPr>
        <p:spPr>
          <a:xfrm>
            <a:off x="702309" y="4631602"/>
            <a:ext cx="1826895" cy="63627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602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BASE DE DATOS</a:t>
            </a:r>
            <a:endParaRPr sz="7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675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0E172A"/>
                </a:solidFill>
                <a:latin typeface="Arial"/>
                <a:ea typeface="Arial"/>
                <a:cs typeface="Arial"/>
                <a:sym typeface="Arial"/>
              </a:rPr>
              <a:t>PostgreSQL en Neon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9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Persistencia relacional serverless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246" name="Google Shape;246;p12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686550" y="4857750"/>
            <a:ext cx="200025" cy="228600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47" name="Google Shape;247;p12"/>
          <p:cNvGrpSpPr/>
          <p:nvPr/>
        </p:nvGrpSpPr>
        <p:grpSpPr>
          <a:xfrm>
            <a:off x="7300976" y="4681601"/>
            <a:ext cx="4362450" cy="514350"/>
            <a:chOff x="7300976" y="4681601"/>
            <a:chExt cx="4362450" cy="514350"/>
          </a:xfrm>
        </p:grpSpPr>
        <p:sp>
          <p:nvSpPr>
            <p:cNvPr id="248" name="Google Shape;248;p12"/>
            <p:cNvSpPr/>
            <p:nvPr/>
          </p:nvSpPr>
          <p:spPr>
            <a:xfrm>
              <a:off x="7300976" y="4681601"/>
              <a:ext cx="4362450" cy="514350"/>
            </a:xfrm>
            <a:custGeom>
              <a:rect b="b" l="l" r="r" t="t"/>
              <a:pathLst>
                <a:path extrusionOk="0" h="514350" w="4362450">
                  <a:moveTo>
                    <a:pt x="4286250" y="0"/>
                  </a:moveTo>
                  <a:lnTo>
                    <a:pt x="76073" y="0"/>
                  </a:lnTo>
                  <a:lnTo>
                    <a:pt x="46452" y="5974"/>
                  </a:lnTo>
                  <a:lnTo>
                    <a:pt x="22272" y="22272"/>
                  </a:lnTo>
                  <a:lnTo>
                    <a:pt x="5974" y="46452"/>
                  </a:lnTo>
                  <a:lnTo>
                    <a:pt x="0" y="76073"/>
                  </a:lnTo>
                  <a:lnTo>
                    <a:pt x="0" y="438150"/>
                  </a:lnTo>
                  <a:lnTo>
                    <a:pt x="5974" y="467790"/>
                  </a:lnTo>
                  <a:lnTo>
                    <a:pt x="22272" y="492013"/>
                  </a:lnTo>
                  <a:lnTo>
                    <a:pt x="46452" y="508355"/>
                  </a:lnTo>
                  <a:lnTo>
                    <a:pt x="76073" y="514350"/>
                  </a:lnTo>
                  <a:lnTo>
                    <a:pt x="4286250" y="514350"/>
                  </a:lnTo>
                  <a:lnTo>
                    <a:pt x="4315890" y="508355"/>
                  </a:lnTo>
                  <a:lnTo>
                    <a:pt x="4340113" y="492013"/>
                  </a:lnTo>
                  <a:lnTo>
                    <a:pt x="4356455" y="467790"/>
                  </a:lnTo>
                  <a:lnTo>
                    <a:pt x="4362450" y="438150"/>
                  </a:lnTo>
                  <a:lnTo>
                    <a:pt x="4362450" y="76073"/>
                  </a:lnTo>
                  <a:lnTo>
                    <a:pt x="4356455" y="46452"/>
                  </a:lnTo>
                  <a:lnTo>
                    <a:pt x="4340113" y="22272"/>
                  </a:lnTo>
                  <a:lnTo>
                    <a:pt x="4315890" y="5974"/>
                  </a:lnTo>
                  <a:lnTo>
                    <a:pt x="4286250" y="0"/>
                  </a:lnTo>
                  <a:close/>
                </a:path>
              </a:pathLst>
            </a:custGeom>
            <a:solidFill>
              <a:srgbClr val="FFFAE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249" name="Google Shape;249;p12"/>
            <p:cNvSpPr/>
            <p:nvPr/>
          </p:nvSpPr>
          <p:spPr>
            <a:xfrm>
              <a:off x="7300976" y="4681601"/>
              <a:ext cx="4362450" cy="514350"/>
            </a:xfrm>
            <a:custGeom>
              <a:rect b="b" l="l" r="r" t="t"/>
              <a:pathLst>
                <a:path extrusionOk="0" h="514350" w="4362450">
                  <a:moveTo>
                    <a:pt x="0" y="76073"/>
                  </a:moveTo>
                  <a:lnTo>
                    <a:pt x="5974" y="46452"/>
                  </a:lnTo>
                  <a:lnTo>
                    <a:pt x="22272" y="22272"/>
                  </a:lnTo>
                  <a:lnTo>
                    <a:pt x="46452" y="5974"/>
                  </a:lnTo>
                  <a:lnTo>
                    <a:pt x="76073" y="0"/>
                  </a:lnTo>
                  <a:lnTo>
                    <a:pt x="4286250" y="0"/>
                  </a:lnTo>
                  <a:lnTo>
                    <a:pt x="4315890" y="5974"/>
                  </a:lnTo>
                  <a:lnTo>
                    <a:pt x="4340113" y="22272"/>
                  </a:lnTo>
                  <a:lnTo>
                    <a:pt x="4356455" y="46452"/>
                  </a:lnTo>
                  <a:lnTo>
                    <a:pt x="4362450" y="76073"/>
                  </a:lnTo>
                  <a:lnTo>
                    <a:pt x="4362450" y="438150"/>
                  </a:lnTo>
                  <a:lnTo>
                    <a:pt x="4356455" y="467790"/>
                  </a:lnTo>
                  <a:lnTo>
                    <a:pt x="4340113" y="492013"/>
                  </a:lnTo>
                  <a:lnTo>
                    <a:pt x="4315890" y="508355"/>
                  </a:lnTo>
                  <a:lnTo>
                    <a:pt x="4286250" y="514350"/>
                  </a:lnTo>
                  <a:lnTo>
                    <a:pt x="76073" y="514350"/>
                  </a:lnTo>
                  <a:lnTo>
                    <a:pt x="46452" y="508355"/>
                  </a:lnTo>
                  <a:lnTo>
                    <a:pt x="22272" y="492013"/>
                  </a:lnTo>
                  <a:lnTo>
                    <a:pt x="5974" y="467790"/>
                  </a:lnTo>
                  <a:lnTo>
                    <a:pt x="0" y="438150"/>
                  </a:lnTo>
                  <a:lnTo>
                    <a:pt x="0" y="76073"/>
                  </a:lnTo>
                  <a:close/>
                </a:path>
              </a:pathLst>
            </a:custGeom>
            <a:noFill/>
            <a:ln cap="flat" cmpd="sng" w="9525">
              <a:solidFill>
                <a:srgbClr val="FCE68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250" name="Google Shape;250;p12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7439025" y="4800600"/>
            <a:ext cx="142875" cy="123825"/>
          </a:xfrm>
          <a:prstGeom prst="rect">
            <a:avLst/>
          </a:prstGeom>
          <a:noFill/>
          <a:ln>
            <a:noFill/>
          </a:ln>
        </p:spPr>
      </p:pic>
      <p:sp>
        <p:nvSpPr>
          <p:cNvPr id="251" name="Google Shape;251;p12"/>
          <p:cNvSpPr txBox="1"/>
          <p:nvPr/>
        </p:nvSpPr>
        <p:spPr>
          <a:xfrm>
            <a:off x="7435850" y="4752500"/>
            <a:ext cx="1680210" cy="3511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3175">
            <a:spAutoFit/>
          </a:bodyPr>
          <a:lstStyle/>
          <a:p>
            <a:pPr indent="0" lvl="0" marL="0" marR="508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Mercado Pago Sandbox</a:t>
            </a:r>
            <a:endParaRPr sz="950">
              <a:latin typeface="Arial"/>
              <a:ea typeface="Arial"/>
              <a:cs typeface="Arial"/>
              <a:sym typeface="Arial"/>
            </a:endParaRPr>
          </a:p>
          <a:p>
            <a:pPr indent="0" lvl="0" marL="0" marR="36195" rtl="0" algn="r">
              <a:lnSpc>
                <a:spcPct val="100000"/>
              </a:lnSpc>
              <a:spcBef>
                <a:spcPts val="215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Simulación de pagos en prueba</a:t>
            </a:r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2" name="Google Shape;252;p12"/>
          <p:cNvSpPr/>
          <p:nvPr/>
        </p:nvSpPr>
        <p:spPr>
          <a:xfrm>
            <a:off x="7296150" y="5962650"/>
            <a:ext cx="4362450" cy="514350"/>
          </a:xfrm>
          <a:custGeom>
            <a:rect b="b" l="l" r="r" t="t"/>
            <a:pathLst>
              <a:path extrusionOk="0" h="514350" w="4362450">
                <a:moveTo>
                  <a:pt x="4286250" y="0"/>
                </a:moveTo>
                <a:lnTo>
                  <a:pt x="76200" y="0"/>
                </a:lnTo>
                <a:lnTo>
                  <a:pt x="46559" y="5987"/>
                </a:lnTo>
                <a:lnTo>
                  <a:pt x="22336" y="22317"/>
                </a:lnTo>
                <a:lnTo>
                  <a:pt x="5994" y="46537"/>
                </a:lnTo>
                <a:lnTo>
                  <a:pt x="0" y="76200"/>
                </a:lnTo>
                <a:lnTo>
                  <a:pt x="0" y="438150"/>
                </a:lnTo>
                <a:lnTo>
                  <a:pt x="5994" y="467812"/>
                </a:lnTo>
                <a:lnTo>
                  <a:pt x="22336" y="492032"/>
                </a:lnTo>
                <a:lnTo>
                  <a:pt x="46559" y="508362"/>
                </a:lnTo>
                <a:lnTo>
                  <a:pt x="76200" y="514350"/>
                </a:lnTo>
                <a:lnTo>
                  <a:pt x="4286250" y="514350"/>
                </a:lnTo>
                <a:lnTo>
                  <a:pt x="4315890" y="508362"/>
                </a:lnTo>
                <a:lnTo>
                  <a:pt x="4340113" y="492032"/>
                </a:lnTo>
                <a:lnTo>
                  <a:pt x="4356455" y="467812"/>
                </a:lnTo>
                <a:lnTo>
                  <a:pt x="4362450" y="438150"/>
                </a:lnTo>
                <a:lnTo>
                  <a:pt x="4362450" y="76200"/>
                </a:lnTo>
                <a:lnTo>
                  <a:pt x="4356455" y="46537"/>
                </a:lnTo>
                <a:lnTo>
                  <a:pt x="4340113" y="22317"/>
                </a:lnTo>
                <a:lnTo>
                  <a:pt x="4315890" y="5987"/>
                </a:lnTo>
                <a:lnTo>
                  <a:pt x="4286250" y="0"/>
                </a:lnTo>
                <a:close/>
              </a:path>
            </a:pathLst>
          </a:custGeom>
          <a:solidFill>
            <a:srgbClr val="0E172A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12"/>
          <p:cNvSpPr txBox="1"/>
          <p:nvPr/>
        </p:nvSpPr>
        <p:spPr>
          <a:xfrm>
            <a:off x="7426325" y="6057924"/>
            <a:ext cx="1298575" cy="3225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273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F59E0A"/>
                </a:solidFill>
                <a:latin typeface="Arial"/>
                <a:ea typeface="Arial"/>
                <a:cs typeface="Arial"/>
                <a:sym typeface="Arial"/>
              </a:rPr>
              <a:t>DESPLIEGUE PLANIFICADO</a:t>
            </a:r>
            <a:endParaRPr sz="7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8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Render (Cloud)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mage.png" id="254" name="Google Shape;254;p12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11306175" y="6134100"/>
            <a:ext cx="219075" cy="17145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8" name="Shape 2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Google Shape;259;p8"/>
          <p:cNvSpPr txBox="1"/>
          <p:nvPr/>
        </p:nvSpPr>
        <p:spPr>
          <a:xfrm>
            <a:off x="521017" y="368617"/>
            <a:ext cx="1972945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ARQUITECTURA DE SOFTWARE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260" name="Google Shape;260;p8"/>
          <p:cNvSpPr txBox="1"/>
          <p:nvPr>
            <p:ph type="title"/>
          </p:nvPr>
        </p:nvSpPr>
        <p:spPr>
          <a:xfrm>
            <a:off x="521017" y="419852"/>
            <a:ext cx="8812530" cy="657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44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Vista Lógica</a:t>
            </a:r>
            <a:endParaRPr sz="2100"/>
          </a:p>
          <a:p>
            <a:pPr indent="0" lvl="0" marL="12700" rtl="0" algn="l">
              <a:lnSpc>
                <a:spcPct val="100000"/>
              </a:lnSpc>
              <a:spcBef>
                <a:spcPts val="43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Representa la estructura de clases del sistema, definiendo la gestión de usuarios, catálogo de productos, carrito de compras y generación de boletas.</a:t>
            </a:r>
            <a:endParaRPr sz="9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1" name="Google Shape;261;p8"/>
          <p:cNvSpPr/>
          <p:nvPr/>
        </p:nvSpPr>
        <p:spPr>
          <a:xfrm>
            <a:off x="258127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2" name="Google Shape;262;p8"/>
          <p:cNvSpPr/>
          <p:nvPr/>
        </p:nvSpPr>
        <p:spPr>
          <a:xfrm>
            <a:off x="27051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3" name="Google Shape;263;p8"/>
          <p:cNvSpPr txBox="1"/>
          <p:nvPr/>
        </p:nvSpPr>
        <p:spPr>
          <a:xfrm>
            <a:off x="2817241" y="1363027"/>
            <a:ext cx="927735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A249"/>
                </a:solidFill>
                <a:latin typeface="Arial"/>
                <a:ea typeface="Arial"/>
                <a:cs typeface="Arial"/>
                <a:sym typeface="Arial"/>
              </a:rPr>
              <a:t>Vista Desarrollo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8"/>
          <p:cNvSpPr/>
          <p:nvPr/>
        </p:nvSpPr>
        <p:spPr>
          <a:xfrm>
            <a:off x="48006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8"/>
          <p:cNvSpPr/>
          <p:nvPr/>
        </p:nvSpPr>
        <p:spPr>
          <a:xfrm>
            <a:off x="492442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6" name="Google Shape;266;p8"/>
          <p:cNvSpPr txBox="1"/>
          <p:nvPr/>
        </p:nvSpPr>
        <p:spPr>
          <a:xfrm>
            <a:off x="5036439" y="1363027"/>
            <a:ext cx="881380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Vista Procesos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7" name="Google Shape;267;p8"/>
          <p:cNvSpPr/>
          <p:nvPr/>
        </p:nvSpPr>
        <p:spPr>
          <a:xfrm>
            <a:off x="70104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68" name="Google Shape;268;p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66750" y="1104900"/>
            <a:ext cx="9982200" cy="5257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2" name="Shape 2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Google Shape;273;p9"/>
          <p:cNvSpPr txBox="1"/>
          <p:nvPr/>
        </p:nvSpPr>
        <p:spPr>
          <a:xfrm>
            <a:off x="521017" y="368617"/>
            <a:ext cx="1972945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ARQUITECTURA DE SOFTWARE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274" name="Google Shape;274;p9"/>
          <p:cNvSpPr txBox="1"/>
          <p:nvPr>
            <p:ph type="title"/>
          </p:nvPr>
        </p:nvSpPr>
        <p:spPr>
          <a:xfrm>
            <a:off x="521017" y="419852"/>
            <a:ext cx="10431780" cy="657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44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Vista Despliegue</a:t>
            </a:r>
            <a:endParaRPr sz="2100"/>
          </a:p>
          <a:p>
            <a:pPr indent="0" lvl="0" marL="12700" rtl="0" algn="l">
              <a:lnSpc>
                <a:spcPct val="100000"/>
              </a:lnSpc>
              <a:spcBef>
                <a:spcPts val="43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Arquitectura desacoplada en la nube donde clientes web/móviles consumen servicios centralizados en Render, almacenan datos en Neon (PostgreSQL) e integran APIs externas.</a:t>
            </a:r>
            <a:endParaRPr sz="9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5" name="Google Shape;275;p9"/>
          <p:cNvSpPr/>
          <p:nvPr/>
        </p:nvSpPr>
        <p:spPr>
          <a:xfrm>
            <a:off x="258127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6" name="Google Shape;276;p9"/>
          <p:cNvSpPr/>
          <p:nvPr/>
        </p:nvSpPr>
        <p:spPr>
          <a:xfrm>
            <a:off x="27051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9"/>
          <p:cNvSpPr txBox="1"/>
          <p:nvPr/>
        </p:nvSpPr>
        <p:spPr>
          <a:xfrm>
            <a:off x="2817241" y="1363027"/>
            <a:ext cx="927735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A249"/>
                </a:solidFill>
                <a:latin typeface="Arial"/>
                <a:ea typeface="Arial"/>
                <a:cs typeface="Arial"/>
                <a:sym typeface="Arial"/>
              </a:rPr>
              <a:t>Vista Desarrollo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8" name="Google Shape;278;p9"/>
          <p:cNvSpPr/>
          <p:nvPr/>
        </p:nvSpPr>
        <p:spPr>
          <a:xfrm>
            <a:off x="48006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9" name="Google Shape;279;p9"/>
          <p:cNvSpPr/>
          <p:nvPr/>
        </p:nvSpPr>
        <p:spPr>
          <a:xfrm>
            <a:off x="492442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0" name="Google Shape;280;p9"/>
          <p:cNvSpPr txBox="1"/>
          <p:nvPr/>
        </p:nvSpPr>
        <p:spPr>
          <a:xfrm>
            <a:off x="5036439" y="1363027"/>
            <a:ext cx="881380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Vista Procesos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1" name="Google Shape;281;p9"/>
          <p:cNvSpPr/>
          <p:nvPr/>
        </p:nvSpPr>
        <p:spPr>
          <a:xfrm>
            <a:off x="70104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282" name="Google Shape;282;p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85775" y="1104900"/>
            <a:ext cx="10858500" cy="49149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86" name="Shape 2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7" name="Google Shape;287;p10"/>
          <p:cNvSpPr txBox="1"/>
          <p:nvPr/>
        </p:nvSpPr>
        <p:spPr>
          <a:xfrm>
            <a:off x="521017" y="368617"/>
            <a:ext cx="1972945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ARQUITECTURA DE SOFTWARE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288" name="Google Shape;288;p10"/>
          <p:cNvSpPr txBox="1"/>
          <p:nvPr>
            <p:ph type="title"/>
          </p:nvPr>
        </p:nvSpPr>
        <p:spPr>
          <a:xfrm>
            <a:off x="521017" y="419852"/>
            <a:ext cx="8474710" cy="657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44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Vista de Procesos</a:t>
            </a:r>
            <a:endParaRPr sz="2100"/>
          </a:p>
          <a:p>
            <a:pPr indent="0" lvl="0" marL="12700" rtl="0" algn="l">
              <a:lnSpc>
                <a:spcPct val="100000"/>
              </a:lnSpc>
              <a:spcBef>
                <a:spcPts val="43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Detalla el recorrido del usuario desde la selección y gestión flexible del carrito de compras hasta la validación del pago y la emisión de la boleta.</a:t>
            </a:r>
            <a:endParaRPr sz="9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89" name="Google Shape;289;p10"/>
          <p:cNvSpPr/>
          <p:nvPr/>
        </p:nvSpPr>
        <p:spPr>
          <a:xfrm>
            <a:off x="258127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0" name="Google Shape;290;p10"/>
          <p:cNvSpPr/>
          <p:nvPr/>
        </p:nvSpPr>
        <p:spPr>
          <a:xfrm>
            <a:off x="27051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1" name="Google Shape;291;p10"/>
          <p:cNvSpPr txBox="1"/>
          <p:nvPr/>
        </p:nvSpPr>
        <p:spPr>
          <a:xfrm>
            <a:off x="2817241" y="1363027"/>
            <a:ext cx="927735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A249"/>
                </a:solidFill>
                <a:latin typeface="Arial"/>
                <a:ea typeface="Arial"/>
                <a:cs typeface="Arial"/>
                <a:sym typeface="Arial"/>
              </a:rPr>
              <a:t>Vista Desarrollo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2" name="Google Shape;292;p10"/>
          <p:cNvSpPr/>
          <p:nvPr/>
        </p:nvSpPr>
        <p:spPr>
          <a:xfrm>
            <a:off x="48006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3" name="Google Shape;293;p10"/>
          <p:cNvSpPr/>
          <p:nvPr/>
        </p:nvSpPr>
        <p:spPr>
          <a:xfrm>
            <a:off x="492442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4" name="Google Shape;294;p10"/>
          <p:cNvSpPr txBox="1"/>
          <p:nvPr/>
        </p:nvSpPr>
        <p:spPr>
          <a:xfrm>
            <a:off x="5036439" y="1363027"/>
            <a:ext cx="881380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Vista Procesos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5" name="Google Shape;295;p10"/>
          <p:cNvSpPr/>
          <p:nvPr/>
        </p:nvSpPr>
        <p:spPr>
          <a:xfrm>
            <a:off x="70104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296" name="Google Shape;296;p10"/>
          <p:cNvGrpSpPr/>
          <p:nvPr/>
        </p:nvGrpSpPr>
        <p:grpSpPr>
          <a:xfrm>
            <a:off x="28575" y="1066798"/>
            <a:ext cx="11791950" cy="5791199"/>
            <a:chOff x="28575" y="1066798"/>
            <a:chExt cx="11791950" cy="5791199"/>
          </a:xfrm>
        </p:grpSpPr>
        <p:pic>
          <p:nvPicPr>
            <p:cNvPr id="297" name="Google Shape;297;p10"/>
            <p:cNvPicPr preferRelativeResize="0"/>
            <p:nvPr/>
          </p:nvPicPr>
          <p:blipFill rotWithShape="1">
            <a:blip r:embed="rId3">
              <a:alphaModFix/>
            </a:blip>
            <a:srcRect b="0" l="0" r="0" t="0"/>
            <a:stretch/>
          </p:blipFill>
          <p:spPr>
            <a:xfrm>
              <a:off x="28575" y="1066798"/>
              <a:ext cx="6038850" cy="5762623"/>
            </a:xfrm>
            <a:prstGeom prst="rect">
              <a:avLst/>
            </a:prstGeom>
            <a:noFill/>
            <a:ln>
              <a:noFill/>
            </a:ln>
          </p:spPr>
        </p:pic>
        <p:pic>
          <p:nvPicPr>
            <p:cNvPr id="298" name="Google Shape;298;p10"/>
            <p:cNvPicPr preferRelativeResize="0"/>
            <p:nvPr/>
          </p:nvPicPr>
          <p:blipFill rotWithShape="1">
            <a:blip r:embed="rId4">
              <a:alphaModFix/>
            </a:blip>
            <a:srcRect b="0" l="0" r="0" t="0"/>
            <a:stretch/>
          </p:blipFill>
          <p:spPr>
            <a:xfrm>
              <a:off x="5210175" y="1066799"/>
              <a:ext cx="6610350" cy="5791198"/>
            </a:xfrm>
            <a:prstGeom prst="rect">
              <a:avLst/>
            </a:prstGeom>
            <a:noFill/>
            <a:ln>
              <a:noFill/>
            </a:ln>
          </p:spPr>
        </p:pic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2" name="Shape 3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3" name="Google Shape;303;p11"/>
          <p:cNvSpPr txBox="1"/>
          <p:nvPr/>
        </p:nvSpPr>
        <p:spPr>
          <a:xfrm>
            <a:off x="521017" y="368617"/>
            <a:ext cx="1972945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ARQUITECTURA DE SOFTWARE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304" name="Google Shape;304;p11"/>
          <p:cNvSpPr txBox="1"/>
          <p:nvPr>
            <p:ph type="title"/>
          </p:nvPr>
        </p:nvSpPr>
        <p:spPr>
          <a:xfrm>
            <a:off x="521017" y="419852"/>
            <a:ext cx="9004935" cy="65786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44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Vista Física</a:t>
            </a:r>
            <a:endParaRPr sz="2100"/>
          </a:p>
          <a:p>
            <a:pPr indent="0" lvl="0" marL="12700" rtl="0" algn="l">
              <a:lnSpc>
                <a:spcPct val="100000"/>
              </a:lnSpc>
              <a:spcBef>
                <a:spcPts val="430"/>
              </a:spcBef>
              <a:spcAft>
                <a:spcPts val="0"/>
              </a:spcAft>
              <a:buNone/>
            </a:pPr>
            <a:r>
              <a:rPr b="0" lang="en-US" sz="950">
                <a:solidFill>
                  <a:srgbClr val="63748A"/>
                </a:solidFill>
                <a:latin typeface="Tahoma"/>
                <a:ea typeface="Tahoma"/>
                <a:cs typeface="Tahoma"/>
                <a:sym typeface="Tahoma"/>
              </a:rPr>
              <a:t>Organiza el sistema en capas desacopladas, separando la interfaz de usuario de los módulos del negocio, el acceso a datos y las integraciones externas.</a:t>
            </a:r>
            <a:endParaRPr sz="9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05" name="Google Shape;305;p11"/>
          <p:cNvSpPr/>
          <p:nvPr/>
        </p:nvSpPr>
        <p:spPr>
          <a:xfrm>
            <a:off x="258127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6" name="Google Shape;306;p11"/>
          <p:cNvSpPr/>
          <p:nvPr/>
        </p:nvSpPr>
        <p:spPr>
          <a:xfrm>
            <a:off x="27051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7" name="Google Shape;307;p11"/>
          <p:cNvSpPr txBox="1"/>
          <p:nvPr/>
        </p:nvSpPr>
        <p:spPr>
          <a:xfrm>
            <a:off x="2817241" y="1363027"/>
            <a:ext cx="927735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16A249"/>
                </a:solidFill>
                <a:latin typeface="Arial"/>
                <a:ea typeface="Arial"/>
                <a:cs typeface="Arial"/>
                <a:sym typeface="Arial"/>
              </a:rPr>
              <a:t>Vista Desarrollo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8" name="Google Shape;308;p11"/>
          <p:cNvSpPr/>
          <p:nvPr/>
        </p:nvSpPr>
        <p:spPr>
          <a:xfrm>
            <a:off x="48006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9" name="Google Shape;309;p11"/>
          <p:cNvSpPr/>
          <p:nvPr/>
        </p:nvSpPr>
        <p:spPr>
          <a:xfrm>
            <a:off x="4924425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0" name="Google Shape;310;p11"/>
          <p:cNvSpPr txBox="1"/>
          <p:nvPr/>
        </p:nvSpPr>
        <p:spPr>
          <a:xfrm>
            <a:off x="5036439" y="1363027"/>
            <a:ext cx="881380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Vista Procesos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1" name="Google Shape;311;p11"/>
          <p:cNvSpPr/>
          <p:nvPr/>
        </p:nvSpPr>
        <p:spPr>
          <a:xfrm>
            <a:off x="7010400" y="1228725"/>
            <a:ext cx="9525" cy="714375"/>
          </a:xfrm>
          <a:custGeom>
            <a:rect b="b" l="l" r="r" t="t"/>
            <a:pathLst>
              <a:path extrusionOk="0" h="714375" w="9525">
                <a:moveTo>
                  <a:pt x="9525" y="0"/>
                </a:moveTo>
                <a:lnTo>
                  <a:pt x="0" y="0"/>
                </a:lnTo>
                <a:lnTo>
                  <a:pt x="0" y="714375"/>
                </a:lnTo>
                <a:lnTo>
                  <a:pt x="9525" y="714375"/>
                </a:lnTo>
                <a:lnTo>
                  <a:pt x="952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id="312" name="Google Shape;312;p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3400" y="1228725"/>
            <a:ext cx="10420350" cy="50768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13"/>
          <p:cNvSpPr txBox="1"/>
          <p:nvPr/>
        </p:nvSpPr>
        <p:spPr>
          <a:xfrm>
            <a:off x="559117" y="406717"/>
            <a:ext cx="1212850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EVIDENCIA VISUAL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318" name="Google Shape;318;p13"/>
          <p:cNvSpPr txBox="1"/>
          <p:nvPr>
            <p:ph type="title"/>
          </p:nvPr>
        </p:nvSpPr>
        <p:spPr>
          <a:xfrm>
            <a:off x="559117" y="569277"/>
            <a:ext cx="4088765" cy="346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Avances de la aplicación móvil</a:t>
            </a:r>
            <a:endParaRPr sz="2100"/>
          </a:p>
        </p:txBody>
      </p:sp>
      <p:pic>
        <p:nvPicPr>
          <p:cNvPr descr="image.png" id="319" name="Google Shape;319;p1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9325" y="3067050"/>
            <a:ext cx="24765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0" name="Google Shape;320;p1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876925" y="3086100"/>
            <a:ext cx="419100" cy="304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21" name="Google Shape;321;p13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9648825" y="3067050"/>
            <a:ext cx="3905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22" name="Google Shape;322;p13"/>
          <p:cNvSpPr txBox="1"/>
          <p:nvPr/>
        </p:nvSpPr>
        <p:spPr>
          <a:xfrm>
            <a:off x="1828545" y="3439712"/>
            <a:ext cx="1043305" cy="46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5400">
            <a:spAutoFit/>
          </a:bodyPr>
          <a:lstStyle/>
          <a:p>
            <a:pPr indent="0" lvl="0" marL="482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[ CAPTURA ]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Inicio de sesión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323" name="Google Shape;323;p13"/>
          <p:cNvGrpSpPr/>
          <p:nvPr/>
        </p:nvGrpSpPr>
        <p:grpSpPr>
          <a:xfrm>
            <a:off x="576262" y="6386512"/>
            <a:ext cx="11049635" cy="400050"/>
            <a:chOff x="576262" y="6386512"/>
            <a:chExt cx="11049635" cy="400050"/>
          </a:xfrm>
        </p:grpSpPr>
        <p:sp>
          <p:nvSpPr>
            <p:cNvPr id="324" name="Google Shape;324;p13"/>
            <p:cNvSpPr/>
            <p:nvPr/>
          </p:nvSpPr>
          <p:spPr>
            <a:xfrm>
              <a:off x="576262" y="6386512"/>
              <a:ext cx="11049635" cy="400050"/>
            </a:xfrm>
            <a:custGeom>
              <a:rect b="b" l="l" r="r" t="t"/>
              <a:pathLst>
                <a:path extrusionOk="0" h="400050" w="11049635">
                  <a:moveTo>
                    <a:pt x="10972863" y="0"/>
                  </a:moveTo>
                  <a:lnTo>
                    <a:pt x="76200" y="0"/>
                  </a:lnTo>
                  <a:lnTo>
                    <a:pt x="46537" y="5987"/>
                  </a:lnTo>
                  <a:lnTo>
                    <a:pt x="22317" y="22317"/>
                  </a:lnTo>
                  <a:lnTo>
                    <a:pt x="5987" y="46537"/>
                  </a:lnTo>
                  <a:lnTo>
                    <a:pt x="0" y="76200"/>
                  </a:lnTo>
                  <a:lnTo>
                    <a:pt x="0" y="323850"/>
                  </a:lnTo>
                  <a:lnTo>
                    <a:pt x="5987" y="353510"/>
                  </a:lnTo>
                  <a:lnTo>
                    <a:pt x="22317" y="377731"/>
                  </a:lnTo>
                  <a:lnTo>
                    <a:pt x="46537" y="394061"/>
                  </a:lnTo>
                  <a:lnTo>
                    <a:pt x="76200" y="400050"/>
                  </a:lnTo>
                  <a:lnTo>
                    <a:pt x="10972863" y="400050"/>
                  </a:lnTo>
                  <a:lnTo>
                    <a:pt x="11002504" y="394061"/>
                  </a:lnTo>
                  <a:lnTo>
                    <a:pt x="11026727" y="377731"/>
                  </a:lnTo>
                  <a:lnTo>
                    <a:pt x="11043068" y="353510"/>
                  </a:lnTo>
                  <a:lnTo>
                    <a:pt x="11049063" y="323850"/>
                  </a:lnTo>
                  <a:lnTo>
                    <a:pt x="11049063" y="76200"/>
                  </a:lnTo>
                  <a:lnTo>
                    <a:pt x="11043068" y="46537"/>
                  </a:lnTo>
                  <a:lnTo>
                    <a:pt x="11026727" y="22317"/>
                  </a:lnTo>
                  <a:lnTo>
                    <a:pt x="11002504" y="5987"/>
                  </a:lnTo>
                  <a:lnTo>
                    <a:pt x="1097286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25" name="Google Shape;325;p13"/>
            <p:cNvSpPr/>
            <p:nvPr/>
          </p:nvSpPr>
          <p:spPr>
            <a:xfrm>
              <a:off x="576262" y="6386512"/>
              <a:ext cx="11049635" cy="400050"/>
            </a:xfrm>
            <a:custGeom>
              <a:rect b="b" l="l" r="r" t="t"/>
              <a:pathLst>
                <a:path extrusionOk="0" h="400050" w="11049635">
                  <a:moveTo>
                    <a:pt x="0" y="76200"/>
                  </a:moveTo>
                  <a:lnTo>
                    <a:pt x="5987" y="46537"/>
                  </a:lnTo>
                  <a:lnTo>
                    <a:pt x="22317" y="22317"/>
                  </a:lnTo>
                  <a:lnTo>
                    <a:pt x="46537" y="5987"/>
                  </a:lnTo>
                  <a:lnTo>
                    <a:pt x="76200" y="0"/>
                  </a:lnTo>
                  <a:lnTo>
                    <a:pt x="10972863" y="0"/>
                  </a:lnTo>
                  <a:lnTo>
                    <a:pt x="11002504" y="5987"/>
                  </a:lnTo>
                  <a:lnTo>
                    <a:pt x="11026727" y="22317"/>
                  </a:lnTo>
                  <a:lnTo>
                    <a:pt x="11043068" y="46537"/>
                  </a:lnTo>
                  <a:lnTo>
                    <a:pt x="11049063" y="76200"/>
                  </a:lnTo>
                  <a:lnTo>
                    <a:pt x="11049063" y="323850"/>
                  </a:lnTo>
                  <a:lnTo>
                    <a:pt x="11043068" y="353510"/>
                  </a:lnTo>
                  <a:lnTo>
                    <a:pt x="11026727" y="377731"/>
                  </a:lnTo>
                  <a:lnTo>
                    <a:pt x="11002504" y="394061"/>
                  </a:lnTo>
                  <a:lnTo>
                    <a:pt x="10972863" y="400050"/>
                  </a:lnTo>
                  <a:lnTo>
                    <a:pt x="76200" y="400050"/>
                  </a:lnTo>
                  <a:lnTo>
                    <a:pt x="46537" y="394061"/>
                  </a:lnTo>
                  <a:lnTo>
                    <a:pt x="22317" y="377731"/>
                  </a:lnTo>
                  <a:lnTo>
                    <a:pt x="5987" y="353510"/>
                  </a:lnTo>
                  <a:lnTo>
                    <a:pt x="0" y="323850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id="326" name="Google Shape;326;p13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6275" y="1000125"/>
            <a:ext cx="3343275" cy="538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27" name="Google Shape;327;p13"/>
          <p:cNvSpPr txBox="1"/>
          <p:nvPr/>
        </p:nvSpPr>
        <p:spPr>
          <a:xfrm>
            <a:off x="5338190" y="3597259"/>
            <a:ext cx="1520190" cy="50038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82550">
            <a:spAutoFit/>
          </a:bodyPr>
          <a:lstStyle/>
          <a:p>
            <a:pPr indent="0" lvl="0" marL="190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[ CAPTURA ]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484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Catálogo de productos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28" name="Google Shape;328;p13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4257675" y="1000125"/>
            <a:ext cx="3790950" cy="5086350"/>
          </a:xfrm>
          <a:prstGeom prst="rect">
            <a:avLst/>
          </a:prstGeom>
          <a:noFill/>
          <a:ln>
            <a:noFill/>
          </a:ln>
        </p:spPr>
      </p:pic>
      <p:sp>
        <p:nvSpPr>
          <p:cNvPr id="329" name="Google Shape;329;p13"/>
          <p:cNvSpPr txBox="1"/>
          <p:nvPr/>
        </p:nvSpPr>
        <p:spPr>
          <a:xfrm>
            <a:off x="8964294" y="3439712"/>
            <a:ext cx="1771014" cy="46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54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[ CAPTURA ]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Gestión de carrito / Detalle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0" name="Google Shape;330;p13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8277225" y="1000125"/>
            <a:ext cx="3724275" cy="5381625"/>
          </a:xfrm>
          <a:prstGeom prst="rect">
            <a:avLst/>
          </a:prstGeom>
          <a:noFill/>
          <a:ln>
            <a:noFill/>
          </a:ln>
        </p:spPr>
      </p:pic>
      <p:sp>
        <p:nvSpPr>
          <p:cNvPr id="331" name="Google Shape;331;p13"/>
          <p:cNvSpPr txBox="1"/>
          <p:nvPr/>
        </p:nvSpPr>
        <p:spPr>
          <a:xfrm>
            <a:off x="3137535" y="6501129"/>
            <a:ext cx="5920105" cy="173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465469"/>
                </a:solidFill>
                <a:latin typeface="Arial"/>
                <a:ea typeface="Arial"/>
                <a:cs typeface="Arial"/>
                <a:sym typeface="Arial"/>
              </a:rPr>
              <a:t>Interfaces desarrolladas con Ionic, Angular y Capacitor para la plataforma móvil de FerreMundo.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32" name="Google Shape;332;p13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677750" y="1003175"/>
            <a:ext cx="3343275" cy="53775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33" name="Google Shape;333;p13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4258350" y="1003175"/>
            <a:ext cx="3786075" cy="5087137"/>
          </a:xfrm>
          <a:prstGeom prst="rect">
            <a:avLst/>
          </a:prstGeom>
          <a:noFill/>
          <a:ln>
            <a:noFill/>
          </a:ln>
        </p:spPr>
      </p:pic>
      <p:pic>
        <p:nvPicPr>
          <p:cNvPr id="334" name="Google Shape;334;p13"/>
          <p:cNvPicPr preferRelativeResize="0"/>
          <p:nvPr/>
        </p:nvPicPr>
        <p:blipFill rotWithShape="1">
          <a:blip r:embed="rId11">
            <a:alphaModFix/>
          </a:blip>
          <a:srcRect b="0" l="0" r="0" t="0"/>
          <a:stretch/>
        </p:blipFill>
        <p:spPr>
          <a:xfrm>
            <a:off x="8281750" y="958788"/>
            <a:ext cx="3723400" cy="537754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338" name="Shape 3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Google Shape;339;p14"/>
          <p:cNvSpPr txBox="1"/>
          <p:nvPr/>
        </p:nvSpPr>
        <p:spPr>
          <a:xfrm>
            <a:off x="559117" y="406717"/>
            <a:ext cx="1212850" cy="17462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EVIDENCIA VISUAL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340" name="Google Shape;340;p14"/>
          <p:cNvSpPr txBox="1"/>
          <p:nvPr>
            <p:ph type="title"/>
          </p:nvPr>
        </p:nvSpPr>
        <p:spPr>
          <a:xfrm>
            <a:off x="559117" y="569277"/>
            <a:ext cx="2990850" cy="34607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100">
                <a:solidFill>
                  <a:srgbClr val="1C1817"/>
                </a:solidFill>
              </a:rPr>
              <a:t>Avances del Sitio Web</a:t>
            </a:r>
            <a:endParaRPr sz="2100"/>
          </a:p>
        </p:txBody>
      </p:sp>
      <p:pic>
        <p:nvPicPr>
          <p:cNvPr descr="image.png" id="341" name="Google Shape;341;p1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19325" y="3067050"/>
            <a:ext cx="247650" cy="3429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342" name="Google Shape;342;p1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9648825" y="3067050"/>
            <a:ext cx="390525" cy="342900"/>
          </a:xfrm>
          <a:prstGeom prst="rect">
            <a:avLst/>
          </a:prstGeom>
          <a:noFill/>
          <a:ln>
            <a:noFill/>
          </a:ln>
        </p:spPr>
      </p:pic>
      <p:sp>
        <p:nvSpPr>
          <p:cNvPr id="343" name="Google Shape;343;p14"/>
          <p:cNvSpPr txBox="1"/>
          <p:nvPr/>
        </p:nvSpPr>
        <p:spPr>
          <a:xfrm>
            <a:off x="1828545" y="3439712"/>
            <a:ext cx="1043305" cy="46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5400">
            <a:spAutoFit/>
          </a:bodyPr>
          <a:lstStyle/>
          <a:p>
            <a:pPr indent="0" lvl="0" marL="482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[ CAPTURA ]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Inicio de sesión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4" name="Google Shape;344;p14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695325" y="1533525"/>
            <a:ext cx="5505450" cy="3686175"/>
          </a:xfrm>
          <a:prstGeom prst="rect">
            <a:avLst/>
          </a:prstGeom>
          <a:noFill/>
          <a:ln>
            <a:noFill/>
          </a:ln>
        </p:spPr>
      </p:pic>
      <p:sp>
        <p:nvSpPr>
          <p:cNvPr id="345" name="Google Shape;345;p14"/>
          <p:cNvSpPr txBox="1"/>
          <p:nvPr/>
        </p:nvSpPr>
        <p:spPr>
          <a:xfrm>
            <a:off x="8964294" y="3439712"/>
            <a:ext cx="1771014" cy="4679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54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200">
                <a:solidFill>
                  <a:srgbClr val="92400D"/>
                </a:solidFill>
                <a:latin typeface="Arial"/>
                <a:ea typeface="Arial"/>
                <a:cs typeface="Arial"/>
                <a:sym typeface="Arial"/>
              </a:rPr>
              <a:t>[ CAPTURA ]</a:t>
            </a:r>
            <a:endParaRPr sz="12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65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Gestión de carrito / Detalle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46" name="Google Shape;346;p14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781800" y="1533525"/>
            <a:ext cx="5314950" cy="3686175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347" name="Google Shape;347;p14"/>
          <p:cNvGrpSpPr/>
          <p:nvPr/>
        </p:nvGrpSpPr>
        <p:grpSpPr>
          <a:xfrm>
            <a:off x="576262" y="6386512"/>
            <a:ext cx="11049635" cy="400050"/>
            <a:chOff x="576262" y="6386512"/>
            <a:chExt cx="11049635" cy="400050"/>
          </a:xfrm>
        </p:grpSpPr>
        <p:sp>
          <p:nvSpPr>
            <p:cNvPr id="348" name="Google Shape;348;p14"/>
            <p:cNvSpPr/>
            <p:nvPr/>
          </p:nvSpPr>
          <p:spPr>
            <a:xfrm>
              <a:off x="576262" y="6386512"/>
              <a:ext cx="11049635" cy="400050"/>
            </a:xfrm>
            <a:custGeom>
              <a:rect b="b" l="l" r="r" t="t"/>
              <a:pathLst>
                <a:path extrusionOk="0" h="400050" w="11049635">
                  <a:moveTo>
                    <a:pt x="10972863" y="0"/>
                  </a:moveTo>
                  <a:lnTo>
                    <a:pt x="76200" y="0"/>
                  </a:lnTo>
                  <a:lnTo>
                    <a:pt x="46537" y="5987"/>
                  </a:lnTo>
                  <a:lnTo>
                    <a:pt x="22317" y="22317"/>
                  </a:lnTo>
                  <a:lnTo>
                    <a:pt x="5987" y="46537"/>
                  </a:lnTo>
                  <a:lnTo>
                    <a:pt x="0" y="76200"/>
                  </a:lnTo>
                  <a:lnTo>
                    <a:pt x="0" y="323850"/>
                  </a:lnTo>
                  <a:lnTo>
                    <a:pt x="5987" y="353510"/>
                  </a:lnTo>
                  <a:lnTo>
                    <a:pt x="22317" y="377731"/>
                  </a:lnTo>
                  <a:lnTo>
                    <a:pt x="46537" y="394061"/>
                  </a:lnTo>
                  <a:lnTo>
                    <a:pt x="76200" y="400050"/>
                  </a:lnTo>
                  <a:lnTo>
                    <a:pt x="10972863" y="400050"/>
                  </a:lnTo>
                  <a:lnTo>
                    <a:pt x="11002504" y="394061"/>
                  </a:lnTo>
                  <a:lnTo>
                    <a:pt x="11026727" y="377731"/>
                  </a:lnTo>
                  <a:lnTo>
                    <a:pt x="11043068" y="353510"/>
                  </a:lnTo>
                  <a:lnTo>
                    <a:pt x="11049063" y="323850"/>
                  </a:lnTo>
                  <a:lnTo>
                    <a:pt x="11049063" y="76200"/>
                  </a:lnTo>
                  <a:lnTo>
                    <a:pt x="11043068" y="46537"/>
                  </a:lnTo>
                  <a:lnTo>
                    <a:pt x="11026727" y="22317"/>
                  </a:lnTo>
                  <a:lnTo>
                    <a:pt x="11002504" y="5987"/>
                  </a:lnTo>
                  <a:lnTo>
                    <a:pt x="1097286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49" name="Google Shape;349;p14"/>
            <p:cNvSpPr/>
            <p:nvPr/>
          </p:nvSpPr>
          <p:spPr>
            <a:xfrm>
              <a:off x="576262" y="6386512"/>
              <a:ext cx="11049635" cy="400050"/>
            </a:xfrm>
            <a:custGeom>
              <a:rect b="b" l="l" r="r" t="t"/>
              <a:pathLst>
                <a:path extrusionOk="0" h="400050" w="11049635">
                  <a:moveTo>
                    <a:pt x="0" y="76200"/>
                  </a:moveTo>
                  <a:lnTo>
                    <a:pt x="5987" y="46537"/>
                  </a:lnTo>
                  <a:lnTo>
                    <a:pt x="22317" y="22317"/>
                  </a:lnTo>
                  <a:lnTo>
                    <a:pt x="46537" y="5987"/>
                  </a:lnTo>
                  <a:lnTo>
                    <a:pt x="76200" y="0"/>
                  </a:lnTo>
                  <a:lnTo>
                    <a:pt x="10972863" y="0"/>
                  </a:lnTo>
                  <a:lnTo>
                    <a:pt x="11002504" y="5987"/>
                  </a:lnTo>
                  <a:lnTo>
                    <a:pt x="11026727" y="22317"/>
                  </a:lnTo>
                  <a:lnTo>
                    <a:pt x="11043068" y="46537"/>
                  </a:lnTo>
                  <a:lnTo>
                    <a:pt x="11049063" y="76200"/>
                  </a:lnTo>
                  <a:lnTo>
                    <a:pt x="11049063" y="323850"/>
                  </a:lnTo>
                  <a:lnTo>
                    <a:pt x="11043068" y="353510"/>
                  </a:lnTo>
                  <a:lnTo>
                    <a:pt x="11026727" y="377731"/>
                  </a:lnTo>
                  <a:lnTo>
                    <a:pt x="11002504" y="394061"/>
                  </a:lnTo>
                  <a:lnTo>
                    <a:pt x="10972863" y="400050"/>
                  </a:lnTo>
                  <a:lnTo>
                    <a:pt x="76200" y="400050"/>
                  </a:lnTo>
                  <a:lnTo>
                    <a:pt x="46537" y="394061"/>
                  </a:lnTo>
                  <a:lnTo>
                    <a:pt x="22317" y="377731"/>
                  </a:lnTo>
                  <a:lnTo>
                    <a:pt x="5987" y="353510"/>
                  </a:lnTo>
                  <a:lnTo>
                    <a:pt x="0" y="323850"/>
                  </a:lnTo>
                  <a:lnTo>
                    <a:pt x="0" y="76200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50" name="Google Shape;350;p14"/>
          <p:cNvSpPr txBox="1"/>
          <p:nvPr/>
        </p:nvSpPr>
        <p:spPr>
          <a:xfrm>
            <a:off x="3137535" y="6501129"/>
            <a:ext cx="5920105" cy="173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465469"/>
                </a:solidFill>
                <a:latin typeface="Arial"/>
                <a:ea typeface="Arial"/>
                <a:cs typeface="Arial"/>
                <a:sym typeface="Arial"/>
              </a:rPr>
              <a:t>Interfaces desarrolladas con Ionic, Angular y Capacitor para la plataforma móvil de FerreMundo.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351" name="Google Shape;351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4150" y="1531350"/>
            <a:ext cx="5508376" cy="3692576"/>
          </a:xfrm>
          <a:prstGeom prst="rect">
            <a:avLst/>
          </a:prstGeom>
          <a:noFill/>
          <a:ln>
            <a:noFill/>
          </a:ln>
        </p:spPr>
      </p:pic>
      <p:pic>
        <p:nvPicPr>
          <p:cNvPr id="352" name="Google Shape;352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5500" y="1531350"/>
            <a:ext cx="5311876" cy="369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3" name="Google Shape;353;p14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785500" y="1531350"/>
            <a:ext cx="5311876" cy="3692575"/>
          </a:xfrm>
          <a:prstGeom prst="rect">
            <a:avLst/>
          </a:prstGeom>
          <a:noFill/>
          <a:ln>
            <a:noFill/>
          </a:ln>
        </p:spPr>
      </p:pic>
      <p:pic>
        <p:nvPicPr>
          <p:cNvPr id="354" name="Google Shape;354;p14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694150" y="1531350"/>
            <a:ext cx="5508376" cy="3692576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358" name="Shape 3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9" name="Google Shape;359;p15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F8F9FB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$PPTXTitle" id="360" name="Google Shape;360;p15"/>
          <p:cNvSpPr txBox="1"/>
          <p:nvPr>
            <p:ph type="title"/>
          </p:nvPr>
        </p:nvSpPr>
        <p:spPr>
          <a:xfrm>
            <a:off x="474027" y="97155"/>
            <a:ext cx="3691254" cy="254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D97705"/>
                </a:solidFill>
              </a:rPr>
              <a:t>Seguimiento del Proyecto — Semana 11</a:t>
            </a:r>
            <a:endParaRPr sz="1500"/>
          </a:p>
        </p:txBody>
      </p:sp>
      <p:grpSp>
        <p:nvGrpSpPr>
          <p:cNvPr id="361" name="Google Shape;361;p15"/>
          <p:cNvGrpSpPr/>
          <p:nvPr/>
        </p:nvGrpSpPr>
        <p:grpSpPr>
          <a:xfrm>
            <a:off x="9472676" y="128651"/>
            <a:ext cx="1971675" cy="238125"/>
            <a:chOff x="9472676" y="128651"/>
            <a:chExt cx="1971675" cy="238125"/>
          </a:xfrm>
        </p:grpSpPr>
        <p:sp>
          <p:nvSpPr>
            <p:cNvPr id="362" name="Google Shape;362;p15"/>
            <p:cNvSpPr/>
            <p:nvPr/>
          </p:nvSpPr>
          <p:spPr>
            <a:xfrm>
              <a:off x="9472676" y="128651"/>
              <a:ext cx="1971675" cy="238125"/>
            </a:xfrm>
            <a:custGeom>
              <a:rect b="b" l="l" r="r" t="t"/>
              <a:pathLst>
                <a:path extrusionOk="0" h="238125" w="1971675">
                  <a:moveTo>
                    <a:pt x="1914525" y="0"/>
                  </a:moveTo>
                  <a:lnTo>
                    <a:pt x="57023" y="0"/>
                  </a:lnTo>
                  <a:lnTo>
                    <a:pt x="34825" y="4480"/>
                  </a:lnTo>
                  <a:lnTo>
                    <a:pt x="16700" y="16700"/>
                  </a:lnTo>
                  <a:lnTo>
                    <a:pt x="4480" y="34825"/>
                  </a:lnTo>
                  <a:lnTo>
                    <a:pt x="0" y="57023"/>
                  </a:lnTo>
                  <a:lnTo>
                    <a:pt x="0" y="180975"/>
                  </a:lnTo>
                  <a:lnTo>
                    <a:pt x="4480" y="203192"/>
                  </a:lnTo>
                  <a:lnTo>
                    <a:pt x="16700" y="221360"/>
                  </a:lnTo>
                  <a:lnTo>
                    <a:pt x="34825" y="233624"/>
                  </a:lnTo>
                  <a:lnTo>
                    <a:pt x="57023" y="238125"/>
                  </a:lnTo>
                  <a:lnTo>
                    <a:pt x="1914525" y="238125"/>
                  </a:lnTo>
                  <a:lnTo>
                    <a:pt x="1936742" y="233624"/>
                  </a:lnTo>
                  <a:lnTo>
                    <a:pt x="1954910" y="221360"/>
                  </a:lnTo>
                  <a:lnTo>
                    <a:pt x="1967174" y="203192"/>
                  </a:lnTo>
                  <a:lnTo>
                    <a:pt x="1971675" y="180975"/>
                  </a:lnTo>
                  <a:lnTo>
                    <a:pt x="1971675" y="57023"/>
                  </a:lnTo>
                  <a:lnTo>
                    <a:pt x="1967174" y="34825"/>
                  </a:lnTo>
                  <a:lnTo>
                    <a:pt x="1954910" y="16700"/>
                  </a:lnTo>
                  <a:lnTo>
                    <a:pt x="1936742" y="4480"/>
                  </a:lnTo>
                  <a:lnTo>
                    <a:pt x="1914525" y="0"/>
                  </a:lnTo>
                  <a:close/>
                </a:path>
              </a:pathLst>
            </a:custGeom>
            <a:solidFill>
              <a:srgbClr val="FDF3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63" name="Google Shape;363;p15"/>
            <p:cNvSpPr/>
            <p:nvPr/>
          </p:nvSpPr>
          <p:spPr>
            <a:xfrm>
              <a:off x="9472676" y="128651"/>
              <a:ext cx="1971675" cy="238125"/>
            </a:xfrm>
            <a:custGeom>
              <a:rect b="b" l="l" r="r" t="t"/>
              <a:pathLst>
                <a:path extrusionOk="0" h="238125" w="1971675">
                  <a:moveTo>
                    <a:pt x="0" y="57023"/>
                  </a:moveTo>
                  <a:lnTo>
                    <a:pt x="4480" y="34825"/>
                  </a:lnTo>
                  <a:lnTo>
                    <a:pt x="16700" y="16700"/>
                  </a:lnTo>
                  <a:lnTo>
                    <a:pt x="34825" y="4480"/>
                  </a:lnTo>
                  <a:lnTo>
                    <a:pt x="57023" y="0"/>
                  </a:lnTo>
                  <a:lnTo>
                    <a:pt x="1914525" y="0"/>
                  </a:lnTo>
                  <a:lnTo>
                    <a:pt x="1936742" y="4480"/>
                  </a:lnTo>
                  <a:lnTo>
                    <a:pt x="1954910" y="16700"/>
                  </a:lnTo>
                  <a:lnTo>
                    <a:pt x="1967174" y="34825"/>
                  </a:lnTo>
                  <a:lnTo>
                    <a:pt x="1971675" y="57023"/>
                  </a:lnTo>
                  <a:lnTo>
                    <a:pt x="1971675" y="180975"/>
                  </a:lnTo>
                  <a:lnTo>
                    <a:pt x="1967174" y="203192"/>
                  </a:lnTo>
                  <a:lnTo>
                    <a:pt x="1954910" y="221360"/>
                  </a:lnTo>
                  <a:lnTo>
                    <a:pt x="1936742" y="233624"/>
                  </a:lnTo>
                  <a:lnTo>
                    <a:pt x="1914525" y="238125"/>
                  </a:lnTo>
                  <a:lnTo>
                    <a:pt x="57023" y="238125"/>
                  </a:lnTo>
                  <a:lnTo>
                    <a:pt x="34825" y="233624"/>
                  </a:lnTo>
                  <a:lnTo>
                    <a:pt x="16700" y="221360"/>
                  </a:lnTo>
                  <a:lnTo>
                    <a:pt x="4480" y="203192"/>
                  </a:lnTo>
                  <a:lnTo>
                    <a:pt x="0" y="180975"/>
                  </a:lnTo>
                  <a:lnTo>
                    <a:pt x="0" y="57023"/>
                  </a:lnTo>
                  <a:close/>
                </a:path>
              </a:pathLst>
            </a:custGeom>
            <a:noFill/>
            <a:ln cap="flat" cmpd="sng" w="9525">
              <a:solidFill>
                <a:srgbClr val="FCE689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64" name="Google Shape;364;p15"/>
          <p:cNvSpPr txBox="1"/>
          <p:nvPr/>
        </p:nvSpPr>
        <p:spPr>
          <a:xfrm>
            <a:off x="9596501" y="163131"/>
            <a:ext cx="1786889" cy="16319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B45209"/>
                </a:solidFill>
                <a:latin typeface="Arial"/>
                <a:ea typeface="Arial"/>
                <a:cs typeface="Arial"/>
                <a:sym typeface="Arial"/>
              </a:rPr>
              <a:t>ESTADO DE AVANCE s GITHUB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15"/>
          <p:cNvSpPr/>
          <p:nvPr/>
        </p:nvSpPr>
        <p:spPr>
          <a:xfrm>
            <a:off x="295275" y="447675"/>
            <a:ext cx="5886450" cy="838200"/>
          </a:xfrm>
          <a:custGeom>
            <a:rect b="b" l="l" r="r" t="t"/>
            <a:pathLst>
              <a:path extrusionOk="0" h="838200" w="5886450">
                <a:moveTo>
                  <a:pt x="5791200" y="0"/>
                </a:moveTo>
                <a:lnTo>
                  <a:pt x="95237" y="0"/>
                </a:lnTo>
                <a:lnTo>
                  <a:pt x="58169" y="7489"/>
                </a:lnTo>
                <a:lnTo>
                  <a:pt x="27897" y="27908"/>
                </a:lnTo>
                <a:lnTo>
                  <a:pt x="7485" y="58185"/>
                </a:lnTo>
                <a:lnTo>
                  <a:pt x="0" y="95250"/>
                </a:lnTo>
                <a:lnTo>
                  <a:pt x="0" y="742950"/>
                </a:lnTo>
                <a:lnTo>
                  <a:pt x="7485" y="780014"/>
                </a:lnTo>
                <a:lnTo>
                  <a:pt x="27897" y="810291"/>
                </a:lnTo>
                <a:lnTo>
                  <a:pt x="58169" y="830710"/>
                </a:lnTo>
                <a:lnTo>
                  <a:pt x="95237" y="838200"/>
                </a:lnTo>
                <a:lnTo>
                  <a:pt x="5791200" y="838200"/>
                </a:lnTo>
                <a:lnTo>
                  <a:pt x="5828264" y="830710"/>
                </a:lnTo>
                <a:lnTo>
                  <a:pt x="5858541" y="810291"/>
                </a:lnTo>
                <a:lnTo>
                  <a:pt x="5878960" y="780014"/>
                </a:lnTo>
                <a:lnTo>
                  <a:pt x="5886450" y="742950"/>
                </a:lnTo>
                <a:lnTo>
                  <a:pt x="5886450" y="95250"/>
                </a:lnTo>
                <a:lnTo>
                  <a:pt x="5878960" y="58185"/>
                </a:lnTo>
                <a:lnTo>
                  <a:pt x="5858541" y="27908"/>
                </a:lnTo>
                <a:lnTo>
                  <a:pt x="5828264" y="7489"/>
                </a:lnTo>
                <a:lnTo>
                  <a:pt x="5791200" y="0"/>
                </a:lnTo>
                <a:close/>
              </a:path>
            </a:pathLst>
          </a:custGeom>
          <a:solidFill>
            <a:srgbClr val="1E293A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6" name="Google Shape;366;p15"/>
          <p:cNvSpPr/>
          <p:nvPr/>
        </p:nvSpPr>
        <p:spPr>
          <a:xfrm>
            <a:off x="295275" y="447675"/>
            <a:ext cx="57150" cy="838200"/>
          </a:xfrm>
          <a:custGeom>
            <a:rect b="b" l="l" r="r" t="t"/>
            <a:pathLst>
              <a:path extrusionOk="0" h="838200" w="57150">
                <a:moveTo>
                  <a:pt x="57150" y="0"/>
                </a:moveTo>
                <a:lnTo>
                  <a:pt x="0" y="0"/>
                </a:lnTo>
                <a:lnTo>
                  <a:pt x="0" y="838200"/>
                </a:lnTo>
                <a:lnTo>
                  <a:pt x="57150" y="838200"/>
                </a:lnTo>
                <a:lnTo>
                  <a:pt x="57150" y="0"/>
                </a:lnTo>
                <a:close/>
              </a:path>
            </a:pathLst>
          </a:custGeom>
          <a:solidFill>
            <a:srgbClr val="F59E0A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67" name="Google Shape;367;p15"/>
          <p:cNvSpPr txBox="1"/>
          <p:nvPr/>
        </p:nvSpPr>
        <p:spPr>
          <a:xfrm>
            <a:off x="531177" y="693420"/>
            <a:ext cx="1717675" cy="29654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1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F59E0A"/>
                </a:solidFill>
                <a:latin typeface="Arial"/>
                <a:ea typeface="Arial"/>
                <a:cs typeface="Arial"/>
                <a:sym typeface="Arial"/>
              </a:rPr>
              <a:t>Estado Global Estimado </a:t>
            </a:r>
            <a:r>
              <a:rPr b="1" lang="en-US" sz="900">
                <a:solidFill>
                  <a:srgbClr val="CAD4E0"/>
                </a:solidFill>
                <a:latin typeface="Arial"/>
                <a:ea typeface="Arial"/>
                <a:cs typeface="Arial"/>
                <a:sym typeface="Arial"/>
              </a:rPr>
              <a:t>Meta de</a:t>
            </a:r>
            <a:endParaRPr sz="90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18333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00">
                <a:solidFill>
                  <a:srgbClr val="CAD4E0"/>
                </a:solidFill>
                <a:latin typeface="Arial"/>
                <a:ea typeface="Arial"/>
                <a:cs typeface="Arial"/>
                <a:sym typeface="Arial"/>
              </a:rPr>
              <a:t>presentación Semana 11</a:t>
            </a:r>
            <a:endParaRPr sz="9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8" name="Google Shape;368;p15"/>
          <p:cNvSpPr txBox="1"/>
          <p:nvPr/>
        </p:nvSpPr>
        <p:spPr>
          <a:xfrm>
            <a:off x="5095240" y="550544"/>
            <a:ext cx="911860" cy="58801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12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2700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68 %</a:t>
            </a:r>
            <a:endParaRPr sz="2700">
              <a:latin typeface="Arial"/>
              <a:ea typeface="Arial"/>
              <a:cs typeface="Arial"/>
              <a:sym typeface="Arial"/>
            </a:endParaRPr>
          </a:p>
          <a:p>
            <a:pPr indent="0" lvl="0" marL="39370" rtl="0" algn="l">
              <a:lnSpc>
                <a:spcPct val="100000"/>
              </a:lnSpc>
              <a:spcBef>
                <a:spcPts val="60"/>
              </a:spcBef>
              <a:spcAft>
                <a:spcPts val="0"/>
              </a:spcAft>
              <a:buNone/>
            </a:pPr>
            <a:r>
              <a:rPr b="1" lang="en-US" sz="750">
                <a:solidFill>
                  <a:srgbClr val="93A2B8"/>
                </a:solidFill>
                <a:latin typeface="Arial"/>
                <a:ea typeface="Arial"/>
                <a:cs typeface="Arial"/>
                <a:sym typeface="Arial"/>
              </a:rPr>
              <a:t>Avance Solicitado</a:t>
            </a:r>
            <a:endParaRPr sz="7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9" name="Google Shape;369;p15"/>
          <p:cNvSpPr txBox="1"/>
          <p:nvPr/>
        </p:nvSpPr>
        <p:spPr>
          <a:xfrm>
            <a:off x="6271640" y="1063878"/>
            <a:ext cx="2881630" cy="17399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950">
                <a:solidFill>
                  <a:srgbClr val="0E172A"/>
                </a:solidFill>
                <a:latin typeface="Arial"/>
                <a:ea typeface="Arial"/>
                <a:cs typeface="Arial"/>
                <a:sym typeface="Arial"/>
              </a:rPr>
              <a:t>APORTES Y RESPONSABILIDADES DEL EQUIPO</a:t>
            </a:r>
            <a:endParaRPr sz="9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0" name="Google Shape;370;p15"/>
          <p:cNvSpPr/>
          <p:nvPr/>
        </p:nvSpPr>
        <p:spPr>
          <a:xfrm>
            <a:off x="295275" y="1409700"/>
            <a:ext cx="4905375" cy="1143000"/>
          </a:xfrm>
          <a:custGeom>
            <a:rect b="b" l="l" r="r" t="t"/>
            <a:pathLst>
              <a:path extrusionOk="0" h="1143000" w="4905375">
                <a:moveTo>
                  <a:pt x="4829556" y="0"/>
                </a:moveTo>
                <a:lnTo>
                  <a:pt x="75882" y="0"/>
                </a:lnTo>
                <a:lnTo>
                  <a:pt x="46345" y="5970"/>
                </a:lnTo>
                <a:lnTo>
                  <a:pt x="22225" y="22240"/>
                </a:lnTo>
                <a:lnTo>
                  <a:pt x="5963" y="46345"/>
                </a:lnTo>
                <a:lnTo>
                  <a:pt x="0" y="75819"/>
                </a:lnTo>
                <a:lnTo>
                  <a:pt x="0" y="1067180"/>
                </a:lnTo>
                <a:lnTo>
                  <a:pt x="5963" y="1096654"/>
                </a:lnTo>
                <a:lnTo>
                  <a:pt x="22225" y="1120759"/>
                </a:lnTo>
                <a:lnTo>
                  <a:pt x="46345" y="1137029"/>
                </a:lnTo>
                <a:lnTo>
                  <a:pt x="75882" y="1143000"/>
                </a:lnTo>
                <a:lnTo>
                  <a:pt x="4829556" y="1143000"/>
                </a:lnTo>
                <a:lnTo>
                  <a:pt x="4859029" y="1137029"/>
                </a:lnTo>
                <a:lnTo>
                  <a:pt x="4883134" y="1120759"/>
                </a:lnTo>
                <a:lnTo>
                  <a:pt x="4899404" y="1096654"/>
                </a:lnTo>
                <a:lnTo>
                  <a:pt x="4905375" y="1067180"/>
                </a:lnTo>
                <a:lnTo>
                  <a:pt x="4905375" y="75819"/>
                </a:lnTo>
                <a:lnTo>
                  <a:pt x="4899404" y="46345"/>
                </a:lnTo>
                <a:lnTo>
                  <a:pt x="4883134" y="22240"/>
                </a:lnTo>
                <a:lnTo>
                  <a:pt x="4859029" y="5970"/>
                </a:lnTo>
                <a:lnTo>
                  <a:pt x="482955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1" name="Google Shape;371;p15"/>
          <p:cNvSpPr/>
          <p:nvPr/>
        </p:nvSpPr>
        <p:spPr>
          <a:xfrm>
            <a:off x="295275" y="1409700"/>
            <a:ext cx="38100" cy="1143000"/>
          </a:xfrm>
          <a:custGeom>
            <a:rect b="b" l="l" r="r" t="t"/>
            <a:pathLst>
              <a:path extrusionOk="0" h="1143000" w="38100">
                <a:moveTo>
                  <a:pt x="38100" y="0"/>
                </a:moveTo>
                <a:lnTo>
                  <a:pt x="0" y="0"/>
                </a:lnTo>
                <a:lnTo>
                  <a:pt x="0" y="1143000"/>
                </a:lnTo>
                <a:lnTo>
                  <a:pt x="38100" y="1143000"/>
                </a:lnTo>
                <a:lnTo>
                  <a:pt x="38100" y="0"/>
                </a:lnTo>
                <a:close/>
              </a:path>
            </a:pathLst>
          </a:custGeom>
          <a:solidFill>
            <a:srgbClr val="D97705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72" name="Google Shape;372;p15"/>
          <p:cNvSpPr txBox="1"/>
          <p:nvPr/>
        </p:nvSpPr>
        <p:spPr>
          <a:xfrm>
            <a:off x="416242" y="1328725"/>
            <a:ext cx="908700" cy="3816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205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E172A"/>
                </a:solidFill>
                <a:latin typeface="Arial"/>
                <a:ea typeface="Arial"/>
                <a:cs typeface="Arial"/>
                <a:sym typeface="Arial"/>
              </a:rPr>
              <a:t>Alan Cruz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Jefe de Proyecto</a:t>
            </a:r>
            <a:endParaRPr sz="8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3" name="Google Shape;373;p15"/>
          <p:cNvSpPr txBox="1"/>
          <p:nvPr/>
        </p:nvSpPr>
        <p:spPr>
          <a:xfrm>
            <a:off x="571350" y="1788400"/>
            <a:ext cx="120300" cy="139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•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4" name="Google Shape;374;p15"/>
          <p:cNvSpPr txBox="1"/>
          <p:nvPr/>
        </p:nvSpPr>
        <p:spPr>
          <a:xfrm>
            <a:off x="537527" y="1775744"/>
            <a:ext cx="2811900" cy="497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46975">
            <a:spAutoFit/>
          </a:bodyPr>
          <a:lstStyle/>
          <a:p>
            <a:pPr indent="0" lvl="0" marL="10033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Coordinación general y seguimiento de la Carta Gantt.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-74930" lvl="0" marL="100330" rtl="0" algn="l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Clr>
                <a:srgbClr val="465469"/>
              </a:buClr>
              <a:buSzPts val="800"/>
              <a:buFont typeface="Tahoma"/>
              <a:buChar char="•"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Planificación de entregables y organización de tareas.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-74930" lvl="0" marL="100330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465469"/>
              </a:buClr>
              <a:buSzPts val="800"/>
              <a:buFont typeface="Tahoma"/>
              <a:buChar char="•"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Gestión de documentación y evidencias del proyecto.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75" name="Google Shape;375;p15"/>
          <p:cNvSpPr/>
          <p:nvPr/>
        </p:nvSpPr>
        <p:spPr>
          <a:xfrm>
            <a:off x="5524500" y="1400175"/>
            <a:ext cx="4895850" cy="1152525"/>
          </a:xfrm>
          <a:custGeom>
            <a:rect b="b" l="l" r="r" t="t"/>
            <a:pathLst>
              <a:path extrusionOk="0" h="1152525" w="4895850">
                <a:moveTo>
                  <a:pt x="4819396" y="0"/>
                </a:moveTo>
                <a:lnTo>
                  <a:pt x="76453" y="0"/>
                </a:lnTo>
                <a:lnTo>
                  <a:pt x="46720" y="6016"/>
                </a:lnTo>
                <a:lnTo>
                  <a:pt x="22415" y="22415"/>
                </a:lnTo>
                <a:lnTo>
                  <a:pt x="6016" y="46720"/>
                </a:lnTo>
                <a:lnTo>
                  <a:pt x="0" y="76453"/>
                </a:lnTo>
                <a:lnTo>
                  <a:pt x="0" y="1076071"/>
                </a:lnTo>
                <a:lnTo>
                  <a:pt x="6016" y="1105804"/>
                </a:lnTo>
                <a:lnTo>
                  <a:pt x="22415" y="1130109"/>
                </a:lnTo>
                <a:lnTo>
                  <a:pt x="46720" y="1146508"/>
                </a:lnTo>
                <a:lnTo>
                  <a:pt x="76453" y="1152525"/>
                </a:lnTo>
                <a:lnTo>
                  <a:pt x="4819396" y="1152525"/>
                </a:lnTo>
                <a:lnTo>
                  <a:pt x="4849129" y="1146508"/>
                </a:lnTo>
                <a:lnTo>
                  <a:pt x="4873434" y="1130109"/>
                </a:lnTo>
                <a:lnTo>
                  <a:pt x="4889833" y="1105804"/>
                </a:lnTo>
                <a:lnTo>
                  <a:pt x="4895850" y="1076071"/>
                </a:lnTo>
                <a:lnTo>
                  <a:pt x="4895850" y="76453"/>
                </a:lnTo>
                <a:lnTo>
                  <a:pt x="4889833" y="46720"/>
                </a:lnTo>
                <a:lnTo>
                  <a:pt x="4873434" y="22415"/>
                </a:lnTo>
                <a:lnTo>
                  <a:pt x="4849129" y="6016"/>
                </a:lnTo>
                <a:lnTo>
                  <a:pt x="4819396" y="0"/>
                </a:ln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76" name="Google Shape;376;p15"/>
          <p:cNvGrpSpPr/>
          <p:nvPr/>
        </p:nvGrpSpPr>
        <p:grpSpPr>
          <a:xfrm>
            <a:off x="5524500" y="1400175"/>
            <a:ext cx="4895850" cy="1152525"/>
            <a:chOff x="5524500" y="1400175"/>
            <a:chExt cx="4895850" cy="1152525"/>
          </a:xfrm>
        </p:grpSpPr>
        <p:sp>
          <p:nvSpPr>
            <p:cNvPr id="377" name="Google Shape;377;p15"/>
            <p:cNvSpPr/>
            <p:nvPr/>
          </p:nvSpPr>
          <p:spPr>
            <a:xfrm>
              <a:off x="5524500" y="1400175"/>
              <a:ext cx="4895850" cy="9525"/>
            </a:xfrm>
            <a:custGeom>
              <a:rect b="b" l="l" r="r" t="t"/>
              <a:pathLst>
                <a:path extrusionOk="0" h="9525" w="4895850">
                  <a:moveTo>
                    <a:pt x="4895850" y="0"/>
                  </a:moveTo>
                  <a:lnTo>
                    <a:pt x="0" y="0"/>
                  </a:lnTo>
                  <a:lnTo>
                    <a:pt x="0" y="9525"/>
                  </a:lnTo>
                  <a:lnTo>
                    <a:pt x="4895850" y="9525"/>
                  </a:lnTo>
                  <a:lnTo>
                    <a:pt x="4895850" y="0"/>
                  </a:lnTo>
                  <a:close/>
                </a:path>
              </a:pathLst>
            </a:custGeom>
            <a:solidFill>
              <a:srgbClr val="CAD4E0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78" name="Google Shape;378;p15"/>
            <p:cNvSpPr/>
            <p:nvPr/>
          </p:nvSpPr>
          <p:spPr>
            <a:xfrm>
              <a:off x="5534025" y="1400175"/>
              <a:ext cx="38100" cy="1152525"/>
            </a:xfrm>
            <a:custGeom>
              <a:rect b="b" l="l" r="r" t="t"/>
              <a:pathLst>
                <a:path extrusionOk="0" h="1152525" w="38100">
                  <a:moveTo>
                    <a:pt x="38100" y="0"/>
                  </a:moveTo>
                  <a:lnTo>
                    <a:pt x="0" y="0"/>
                  </a:lnTo>
                  <a:lnTo>
                    <a:pt x="0" y="1152525"/>
                  </a:lnTo>
                  <a:lnTo>
                    <a:pt x="38100" y="1152525"/>
                  </a:lnTo>
                  <a:lnTo>
                    <a:pt x="38100" y="0"/>
                  </a:lnTo>
                  <a:close/>
                </a:path>
              </a:pathLst>
            </a:custGeom>
            <a:solidFill>
              <a:srgbClr val="0184C6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sp>
        <p:nvSpPr>
          <p:cNvPr id="379" name="Google Shape;379;p15"/>
          <p:cNvSpPr txBox="1"/>
          <p:nvPr/>
        </p:nvSpPr>
        <p:spPr>
          <a:xfrm>
            <a:off x="5658484" y="1485357"/>
            <a:ext cx="3507104" cy="944244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52050">
            <a:spAutoFit/>
          </a:bodyPr>
          <a:lstStyle/>
          <a:p>
            <a:pPr indent="0" lvl="0" marL="381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0E172A"/>
                </a:solidFill>
                <a:latin typeface="Arial"/>
                <a:ea typeface="Arial"/>
                <a:cs typeface="Arial"/>
                <a:sym typeface="Arial"/>
              </a:rPr>
              <a:t>Jonatan Gordillo</a:t>
            </a:r>
            <a:endParaRPr sz="1050">
              <a:latin typeface="Arial"/>
              <a:ea typeface="Arial"/>
              <a:cs typeface="Arial"/>
              <a:sym typeface="Arial"/>
            </a:endParaRPr>
          </a:p>
          <a:p>
            <a:pPr indent="0" lvl="0" marL="38100" rtl="0" algn="l">
              <a:lnSpc>
                <a:spcPct val="100000"/>
              </a:lnSpc>
              <a:spcBef>
                <a:spcPts val="265"/>
              </a:spcBef>
              <a:spcAft>
                <a:spcPts val="0"/>
              </a:spcAft>
              <a:buNone/>
            </a:pPr>
            <a:r>
              <a:rPr b="1" lang="en-US" sz="800">
                <a:solidFill>
                  <a:srgbClr val="0184C6"/>
                </a:solidFill>
                <a:latin typeface="Arial"/>
                <a:ea typeface="Arial"/>
                <a:cs typeface="Arial"/>
                <a:sym typeface="Arial"/>
              </a:rPr>
              <a:t>Desarrollo y QA</a:t>
            </a:r>
            <a:endParaRPr sz="800">
              <a:latin typeface="Arial"/>
              <a:ea typeface="Arial"/>
              <a:cs typeface="Arial"/>
              <a:sym typeface="Arial"/>
            </a:endParaRPr>
          </a:p>
          <a:p>
            <a:pPr indent="-113664" lvl="0" marL="247015" rtl="0" algn="l">
              <a:lnSpc>
                <a:spcPct val="100000"/>
              </a:lnSpc>
              <a:spcBef>
                <a:spcPts val="995"/>
              </a:spcBef>
              <a:spcAft>
                <a:spcPts val="0"/>
              </a:spcAft>
              <a:buClr>
                <a:srgbClr val="465469"/>
              </a:buClr>
              <a:buSzPts val="800"/>
              <a:buFont typeface="Tahoma"/>
              <a:buChar char="•"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Desarrollo de funcionalidades backend y componentes frontend.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-113664" lvl="0" marL="247015" rtl="0" algn="l">
              <a:lnSpc>
                <a:spcPct val="100000"/>
              </a:lnSpc>
              <a:spcBef>
                <a:spcPts val="275"/>
              </a:spcBef>
              <a:spcAft>
                <a:spcPts val="0"/>
              </a:spcAft>
              <a:buClr>
                <a:srgbClr val="465469"/>
              </a:buClr>
              <a:buSzPts val="800"/>
              <a:buFont typeface="Tahoma"/>
              <a:buChar char="•"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Apoyo en diseño de casos de prueba y verificación QA.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  <a:p>
            <a:pPr indent="-113664" lvl="0" marL="247015" rtl="0" algn="l">
              <a:lnSpc>
                <a:spcPct val="100000"/>
              </a:lnSpc>
              <a:spcBef>
                <a:spcPts val="280"/>
              </a:spcBef>
              <a:spcAft>
                <a:spcPts val="0"/>
              </a:spcAft>
              <a:buClr>
                <a:srgbClr val="465469"/>
              </a:buClr>
              <a:buSzPts val="800"/>
              <a:buFont typeface="Tahoma"/>
              <a:buChar char="•"/>
            </a:pPr>
            <a:r>
              <a:rPr lang="en-US" sz="800">
                <a:solidFill>
                  <a:srgbClr val="465469"/>
                </a:solidFill>
                <a:latin typeface="Tahoma"/>
                <a:ea typeface="Tahoma"/>
                <a:cs typeface="Tahoma"/>
                <a:sym typeface="Tahoma"/>
              </a:rPr>
              <a:t>Evidencias de código y avances registrados en commits.</a:t>
            </a:r>
            <a:endParaRPr sz="8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0" name="Google Shape;380;p15"/>
          <p:cNvSpPr/>
          <p:nvPr/>
        </p:nvSpPr>
        <p:spPr>
          <a:xfrm>
            <a:off x="5648325" y="2762250"/>
            <a:ext cx="4895850" cy="9525"/>
          </a:xfrm>
          <a:custGeom>
            <a:rect b="b" l="l" r="r" t="t"/>
            <a:pathLst>
              <a:path extrusionOk="0" h="9525" w="4895850">
                <a:moveTo>
                  <a:pt x="4895850" y="0"/>
                </a:moveTo>
                <a:lnTo>
                  <a:pt x="0" y="0"/>
                </a:lnTo>
                <a:lnTo>
                  <a:pt x="0" y="9525"/>
                </a:lnTo>
                <a:lnTo>
                  <a:pt x="4895850" y="9525"/>
                </a:lnTo>
                <a:lnTo>
                  <a:pt x="4895850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1" name="Google Shape;381;p15"/>
          <p:cNvSpPr/>
          <p:nvPr/>
        </p:nvSpPr>
        <p:spPr>
          <a:xfrm>
            <a:off x="419100" y="2771775"/>
            <a:ext cx="4905375" cy="9525"/>
          </a:xfrm>
          <a:custGeom>
            <a:rect b="b" l="l" r="r" t="t"/>
            <a:pathLst>
              <a:path extrusionOk="0" h="9525" w="4905375">
                <a:moveTo>
                  <a:pt x="4905375" y="0"/>
                </a:moveTo>
                <a:lnTo>
                  <a:pt x="0" y="0"/>
                </a:lnTo>
                <a:lnTo>
                  <a:pt x="0" y="9525"/>
                </a:lnTo>
                <a:lnTo>
                  <a:pt x="4905375" y="9525"/>
                </a:lnTo>
                <a:lnTo>
                  <a:pt x="4905375" y="0"/>
                </a:lnTo>
                <a:close/>
              </a:path>
            </a:pathLst>
          </a:custGeom>
          <a:solidFill>
            <a:srgbClr val="CAD4E0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2" name="Google Shape;382;p15"/>
          <p:cNvSpPr/>
          <p:nvPr/>
        </p:nvSpPr>
        <p:spPr>
          <a:xfrm>
            <a:off x="609600" y="6419850"/>
            <a:ext cx="10972800" cy="9525"/>
          </a:xfrm>
          <a:custGeom>
            <a:rect b="b" l="l" r="r" t="t"/>
            <a:pathLst>
              <a:path extrusionOk="0" h="9525" w="10972800">
                <a:moveTo>
                  <a:pt x="10972800" y="0"/>
                </a:moveTo>
                <a:lnTo>
                  <a:pt x="0" y="0"/>
                </a:lnTo>
                <a:lnTo>
                  <a:pt x="0" y="9525"/>
                </a:lnTo>
                <a:lnTo>
                  <a:pt x="10972800" y="9525"/>
                </a:lnTo>
                <a:lnTo>
                  <a:pt x="10972800" y="0"/>
                </a:lnTo>
                <a:close/>
              </a:path>
            </a:pathLst>
          </a:custGeom>
          <a:solidFill>
            <a:srgbClr val="F0F5F8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83" name="Google Shape;383;p15"/>
          <p:cNvSpPr txBox="1"/>
          <p:nvPr/>
        </p:nvSpPr>
        <p:spPr>
          <a:xfrm>
            <a:off x="597534" y="6521132"/>
            <a:ext cx="1741800" cy="1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384" name="Google Shape;384;p15"/>
          <p:cNvSpPr txBox="1"/>
          <p:nvPr/>
        </p:nvSpPr>
        <p:spPr>
          <a:xfrm>
            <a:off x="9491091" y="6521132"/>
            <a:ext cx="2116500" cy="151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id="385" name="Google Shape;385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33375" y="2571750"/>
            <a:ext cx="11582400" cy="39528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389" name="Shape 3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0" name="Google Shape;390;p16"/>
          <p:cNvSpPr txBox="1"/>
          <p:nvPr/>
        </p:nvSpPr>
        <p:spPr>
          <a:xfrm>
            <a:off x="749934" y="512190"/>
            <a:ext cx="2032635" cy="18542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50">
                <a:solidFill>
                  <a:srgbClr val="D97705"/>
                </a:solidFill>
                <a:latin typeface="Arial"/>
                <a:ea typeface="Arial"/>
                <a:cs typeface="Arial"/>
                <a:sym typeface="Arial"/>
              </a:rPr>
              <a:t>SEGUIMIENTO DEL PROYECTO</a:t>
            </a:r>
            <a:endParaRPr sz="105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descr="$PPTXTitle" id="391" name="Google Shape;391;p16"/>
          <p:cNvSpPr txBox="1"/>
          <p:nvPr>
            <p:ph type="title"/>
          </p:nvPr>
        </p:nvSpPr>
        <p:spPr>
          <a:xfrm>
            <a:off x="749934" y="731456"/>
            <a:ext cx="4629785" cy="43751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2700">
                <a:solidFill>
                  <a:srgbClr val="1C1817"/>
                </a:solidFill>
              </a:rPr>
              <a:t>Estado Actual — Semana 11</a:t>
            </a:r>
            <a:endParaRPr sz="2700"/>
          </a:p>
        </p:txBody>
      </p:sp>
      <p:grpSp>
        <p:nvGrpSpPr>
          <p:cNvPr id="392" name="Google Shape;392;p16"/>
          <p:cNvGrpSpPr/>
          <p:nvPr/>
        </p:nvGrpSpPr>
        <p:grpSpPr>
          <a:xfrm>
            <a:off x="966787" y="1233550"/>
            <a:ext cx="5182235" cy="4886325"/>
            <a:chOff x="966787" y="1233550"/>
            <a:chExt cx="5182235" cy="4886325"/>
          </a:xfrm>
        </p:grpSpPr>
        <p:sp>
          <p:nvSpPr>
            <p:cNvPr id="393" name="Google Shape;393;p16"/>
            <p:cNvSpPr/>
            <p:nvPr/>
          </p:nvSpPr>
          <p:spPr>
            <a:xfrm>
              <a:off x="966787" y="1233550"/>
              <a:ext cx="5182235" cy="4886325"/>
            </a:xfrm>
            <a:custGeom>
              <a:rect b="b" l="l" r="r" t="t"/>
              <a:pathLst>
                <a:path extrusionOk="0" h="4886325" w="5182235">
                  <a:moveTo>
                    <a:pt x="5067363" y="0"/>
                  </a:moveTo>
                  <a:lnTo>
                    <a:pt x="114287" y="0"/>
                  </a:lnTo>
                  <a:lnTo>
                    <a:pt x="69801" y="8963"/>
                  </a:lnTo>
                  <a:lnTo>
                    <a:pt x="33474" y="33416"/>
                  </a:lnTo>
                  <a:lnTo>
                    <a:pt x="8981" y="69705"/>
                  </a:lnTo>
                  <a:lnTo>
                    <a:pt x="0" y="114173"/>
                  </a:lnTo>
                  <a:lnTo>
                    <a:pt x="0" y="4771974"/>
                  </a:lnTo>
                  <a:lnTo>
                    <a:pt x="8981" y="4816459"/>
                  </a:lnTo>
                  <a:lnTo>
                    <a:pt x="33474" y="4852787"/>
                  </a:lnTo>
                  <a:lnTo>
                    <a:pt x="69801" y="4877280"/>
                  </a:lnTo>
                  <a:lnTo>
                    <a:pt x="114287" y="4886261"/>
                  </a:lnTo>
                  <a:lnTo>
                    <a:pt x="5067363" y="4886261"/>
                  </a:lnTo>
                  <a:lnTo>
                    <a:pt x="5111851" y="4877280"/>
                  </a:lnTo>
                  <a:lnTo>
                    <a:pt x="5148183" y="4852787"/>
                  </a:lnTo>
                  <a:lnTo>
                    <a:pt x="5172680" y="4816459"/>
                  </a:lnTo>
                  <a:lnTo>
                    <a:pt x="5181663" y="4771974"/>
                  </a:lnTo>
                  <a:lnTo>
                    <a:pt x="5181663" y="114173"/>
                  </a:lnTo>
                  <a:lnTo>
                    <a:pt x="5172680" y="69705"/>
                  </a:lnTo>
                  <a:lnTo>
                    <a:pt x="5148183" y="33416"/>
                  </a:lnTo>
                  <a:lnTo>
                    <a:pt x="5111851" y="8963"/>
                  </a:lnTo>
                  <a:lnTo>
                    <a:pt x="5067363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394" name="Google Shape;394;p16"/>
            <p:cNvSpPr/>
            <p:nvPr/>
          </p:nvSpPr>
          <p:spPr>
            <a:xfrm>
              <a:off x="966787" y="1233550"/>
              <a:ext cx="5182235" cy="4886325"/>
            </a:xfrm>
            <a:custGeom>
              <a:rect b="b" l="l" r="r" t="t"/>
              <a:pathLst>
                <a:path extrusionOk="0" h="4886325" w="5182235">
                  <a:moveTo>
                    <a:pt x="0" y="114173"/>
                  </a:moveTo>
                  <a:lnTo>
                    <a:pt x="8981" y="69705"/>
                  </a:lnTo>
                  <a:lnTo>
                    <a:pt x="33474" y="33416"/>
                  </a:lnTo>
                  <a:lnTo>
                    <a:pt x="69801" y="8963"/>
                  </a:lnTo>
                  <a:lnTo>
                    <a:pt x="114287" y="0"/>
                  </a:lnTo>
                  <a:lnTo>
                    <a:pt x="5067363" y="0"/>
                  </a:lnTo>
                  <a:lnTo>
                    <a:pt x="5111851" y="8963"/>
                  </a:lnTo>
                  <a:lnTo>
                    <a:pt x="5148183" y="33416"/>
                  </a:lnTo>
                  <a:lnTo>
                    <a:pt x="5172680" y="69705"/>
                  </a:lnTo>
                  <a:lnTo>
                    <a:pt x="5181663" y="114173"/>
                  </a:lnTo>
                  <a:lnTo>
                    <a:pt x="5181663" y="4771974"/>
                  </a:lnTo>
                  <a:lnTo>
                    <a:pt x="5172680" y="4816459"/>
                  </a:lnTo>
                  <a:lnTo>
                    <a:pt x="5148183" y="4852787"/>
                  </a:lnTo>
                  <a:lnTo>
                    <a:pt x="5111851" y="4877280"/>
                  </a:lnTo>
                  <a:lnTo>
                    <a:pt x="5067363" y="4886261"/>
                  </a:lnTo>
                  <a:lnTo>
                    <a:pt x="114287" y="4886261"/>
                  </a:lnTo>
                  <a:lnTo>
                    <a:pt x="69801" y="4877280"/>
                  </a:lnTo>
                  <a:lnTo>
                    <a:pt x="33474" y="4852787"/>
                  </a:lnTo>
                  <a:lnTo>
                    <a:pt x="8981" y="4816459"/>
                  </a:lnTo>
                  <a:lnTo>
                    <a:pt x="0" y="4771974"/>
                  </a:lnTo>
                  <a:lnTo>
                    <a:pt x="0" y="114173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395" name="Google Shape;395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038225" y="1724025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396" name="Google Shape;396;p16"/>
          <p:cNvSpPr txBox="1"/>
          <p:nvPr/>
        </p:nvSpPr>
        <p:spPr>
          <a:xfrm>
            <a:off x="1331213" y="1694497"/>
            <a:ext cx="2471420" cy="2546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COMPLETADO / DEFINIDO</a:t>
            </a:r>
            <a:endParaRPr sz="15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7" name="Google Shape;397;p16"/>
          <p:cNvSpPr/>
          <p:nvPr/>
        </p:nvSpPr>
        <p:spPr>
          <a:xfrm>
            <a:off x="1038225" y="2057400"/>
            <a:ext cx="4629150" cy="19050"/>
          </a:xfrm>
          <a:custGeom>
            <a:rect b="b" l="l" r="r" t="t"/>
            <a:pathLst>
              <a:path extrusionOk="0" h="19050" w="4629150">
                <a:moveTo>
                  <a:pt x="4629150" y="0"/>
                </a:moveTo>
                <a:lnTo>
                  <a:pt x="0" y="0"/>
                </a:lnTo>
                <a:lnTo>
                  <a:pt x="0" y="19050"/>
                </a:lnTo>
                <a:lnTo>
                  <a:pt x="4629150" y="19050"/>
                </a:lnTo>
                <a:lnTo>
                  <a:pt x="4629150" y="0"/>
                </a:lnTo>
                <a:close/>
              </a:path>
            </a:pathLst>
          </a:custGeom>
          <a:solidFill>
            <a:srgbClr val="E1E8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grpSp>
        <p:nvGrpSpPr>
          <p:cNvPr id="398" name="Google Shape;398;p16"/>
          <p:cNvGrpSpPr/>
          <p:nvPr/>
        </p:nvGrpSpPr>
        <p:grpSpPr>
          <a:xfrm>
            <a:off x="6267776" y="1401625"/>
            <a:ext cx="5181600" cy="5153025"/>
            <a:chOff x="6253226" y="1176400"/>
            <a:chExt cx="5181600" cy="5153025"/>
          </a:xfrm>
        </p:grpSpPr>
        <p:sp>
          <p:nvSpPr>
            <p:cNvPr id="399" name="Google Shape;399;p16"/>
            <p:cNvSpPr/>
            <p:nvPr/>
          </p:nvSpPr>
          <p:spPr>
            <a:xfrm>
              <a:off x="6253226" y="1176400"/>
              <a:ext cx="5181600" cy="5153025"/>
            </a:xfrm>
            <a:custGeom>
              <a:rect b="b" l="l" r="r" t="t"/>
              <a:pathLst>
                <a:path extrusionOk="0" h="5153025" w="5181600">
                  <a:moveTo>
                    <a:pt x="5060950" y="0"/>
                  </a:moveTo>
                  <a:lnTo>
                    <a:pt x="120523" y="0"/>
                  </a:lnTo>
                  <a:lnTo>
                    <a:pt x="73562" y="9455"/>
                  </a:lnTo>
                  <a:lnTo>
                    <a:pt x="35258" y="35258"/>
                  </a:lnTo>
                  <a:lnTo>
                    <a:pt x="9455" y="73562"/>
                  </a:lnTo>
                  <a:lnTo>
                    <a:pt x="0" y="120523"/>
                  </a:lnTo>
                  <a:lnTo>
                    <a:pt x="0" y="5032425"/>
                  </a:lnTo>
                  <a:lnTo>
                    <a:pt x="9455" y="5079345"/>
                  </a:lnTo>
                  <a:lnTo>
                    <a:pt x="35258" y="5117658"/>
                  </a:lnTo>
                  <a:lnTo>
                    <a:pt x="73562" y="5143489"/>
                  </a:lnTo>
                  <a:lnTo>
                    <a:pt x="120523" y="5152961"/>
                  </a:lnTo>
                  <a:lnTo>
                    <a:pt x="5060950" y="5152961"/>
                  </a:lnTo>
                  <a:lnTo>
                    <a:pt x="5107930" y="5143489"/>
                  </a:lnTo>
                  <a:lnTo>
                    <a:pt x="5146278" y="5117658"/>
                  </a:lnTo>
                  <a:lnTo>
                    <a:pt x="5172124" y="5079345"/>
                  </a:lnTo>
                  <a:lnTo>
                    <a:pt x="5181600" y="5032425"/>
                  </a:lnTo>
                  <a:lnTo>
                    <a:pt x="5181600" y="120523"/>
                  </a:lnTo>
                  <a:lnTo>
                    <a:pt x="5172124" y="73562"/>
                  </a:lnTo>
                  <a:lnTo>
                    <a:pt x="5146278" y="35258"/>
                  </a:lnTo>
                  <a:lnTo>
                    <a:pt x="5107930" y="9455"/>
                  </a:lnTo>
                  <a:lnTo>
                    <a:pt x="5060950" y="0"/>
                  </a:lnTo>
                  <a:close/>
                </a:path>
              </a:pathLst>
            </a:custGeom>
            <a:solidFill>
              <a:srgbClr val="F8F9FB"/>
            </a:solidFill>
            <a:ln>
              <a:noFill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00" name="Google Shape;400;p16"/>
            <p:cNvSpPr/>
            <p:nvPr/>
          </p:nvSpPr>
          <p:spPr>
            <a:xfrm>
              <a:off x="6253226" y="1176400"/>
              <a:ext cx="5181600" cy="5153025"/>
            </a:xfrm>
            <a:custGeom>
              <a:rect b="b" l="l" r="r" t="t"/>
              <a:pathLst>
                <a:path extrusionOk="0" h="5153025" w="5181600">
                  <a:moveTo>
                    <a:pt x="0" y="120523"/>
                  </a:moveTo>
                  <a:lnTo>
                    <a:pt x="9455" y="73562"/>
                  </a:lnTo>
                  <a:lnTo>
                    <a:pt x="35258" y="35258"/>
                  </a:lnTo>
                  <a:lnTo>
                    <a:pt x="73562" y="9455"/>
                  </a:lnTo>
                  <a:lnTo>
                    <a:pt x="120523" y="0"/>
                  </a:lnTo>
                  <a:lnTo>
                    <a:pt x="5060950" y="0"/>
                  </a:lnTo>
                  <a:lnTo>
                    <a:pt x="5107930" y="9455"/>
                  </a:lnTo>
                  <a:lnTo>
                    <a:pt x="5146278" y="35258"/>
                  </a:lnTo>
                  <a:lnTo>
                    <a:pt x="5172124" y="73562"/>
                  </a:lnTo>
                  <a:lnTo>
                    <a:pt x="5181600" y="120523"/>
                  </a:lnTo>
                  <a:lnTo>
                    <a:pt x="5181600" y="5032425"/>
                  </a:lnTo>
                  <a:lnTo>
                    <a:pt x="5172124" y="5079345"/>
                  </a:lnTo>
                  <a:lnTo>
                    <a:pt x="5146278" y="5117658"/>
                  </a:lnTo>
                  <a:lnTo>
                    <a:pt x="5107930" y="5143489"/>
                  </a:lnTo>
                  <a:lnTo>
                    <a:pt x="5060950" y="5152961"/>
                  </a:lnTo>
                  <a:lnTo>
                    <a:pt x="120523" y="5152961"/>
                  </a:lnTo>
                  <a:lnTo>
                    <a:pt x="73562" y="5143489"/>
                  </a:lnTo>
                  <a:lnTo>
                    <a:pt x="35258" y="5117658"/>
                  </a:lnTo>
                  <a:lnTo>
                    <a:pt x="9455" y="5079345"/>
                  </a:lnTo>
                  <a:lnTo>
                    <a:pt x="0" y="5032425"/>
                  </a:lnTo>
                  <a:lnTo>
                    <a:pt x="0" y="120523"/>
                  </a:lnTo>
                  <a:close/>
                </a:path>
              </a:pathLst>
            </a:custGeom>
            <a:noFill/>
            <a:ln cap="flat" cmpd="sng" w="9525">
              <a:solidFill>
                <a:srgbClr val="E1E8EF"/>
              </a:solidFill>
              <a:prstDash val="solid"/>
              <a:round/>
              <a:headEnd len="sm" w="sm" type="none"/>
              <a:tailEnd len="sm" w="sm" type="none"/>
            </a:ln>
          </p:spPr>
          <p:txBody>
            <a:bodyPr anchorCtr="0" anchor="t" bIns="0" lIns="0" spcFirstLastPara="1" rIns="0" wrap="square" tIns="0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</p:grpSp>
      <p:pic>
        <p:nvPicPr>
          <p:cNvPr descr="image.png" id="401" name="Google Shape;401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524625" y="1724025"/>
            <a:ext cx="209550" cy="209550"/>
          </a:xfrm>
          <a:prstGeom prst="rect">
            <a:avLst/>
          </a:prstGeom>
          <a:noFill/>
          <a:ln>
            <a:noFill/>
          </a:ln>
        </p:spPr>
      </p:pic>
      <p:sp>
        <p:nvSpPr>
          <p:cNvPr id="402" name="Google Shape;402;p16"/>
          <p:cNvSpPr txBox="1"/>
          <p:nvPr/>
        </p:nvSpPr>
        <p:spPr>
          <a:xfrm>
            <a:off x="6822058" y="1694497"/>
            <a:ext cx="1780539" cy="2546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700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500">
                <a:solidFill>
                  <a:srgbClr val="1E293A"/>
                </a:solidFill>
                <a:latin typeface="Arial"/>
                <a:ea typeface="Arial"/>
                <a:cs typeface="Arial"/>
                <a:sym typeface="Arial"/>
              </a:rPr>
              <a:t>PRÓXIMOS PASOS</a:t>
            </a:r>
            <a:endParaRPr sz="150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3" name="Google Shape;403;p16"/>
          <p:cNvSpPr/>
          <p:nvPr/>
        </p:nvSpPr>
        <p:spPr>
          <a:xfrm>
            <a:off x="6524625" y="2057400"/>
            <a:ext cx="4629150" cy="19050"/>
          </a:xfrm>
          <a:custGeom>
            <a:rect b="b" l="l" r="r" t="t"/>
            <a:pathLst>
              <a:path extrusionOk="0" h="19050" w="4629150">
                <a:moveTo>
                  <a:pt x="4629150" y="0"/>
                </a:moveTo>
                <a:lnTo>
                  <a:pt x="0" y="0"/>
                </a:lnTo>
                <a:lnTo>
                  <a:pt x="0" y="19050"/>
                </a:lnTo>
                <a:lnTo>
                  <a:pt x="4629150" y="19050"/>
                </a:lnTo>
                <a:lnTo>
                  <a:pt x="4629150" y="0"/>
                </a:lnTo>
                <a:close/>
              </a:path>
            </a:pathLst>
          </a:custGeom>
          <a:solidFill>
            <a:srgbClr val="E1E8EF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pic>
        <p:nvPicPr>
          <p:cNvPr descr="image.png" id="404" name="Google Shape;404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2305050"/>
            <a:ext cx="12382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5" name="Google Shape;40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2295525"/>
            <a:ext cx="1238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6" name="Google Shape;406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2619375"/>
            <a:ext cx="12382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7" name="Google Shape;407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2590800"/>
            <a:ext cx="1238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8" name="Google Shape;408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2933700"/>
            <a:ext cx="12382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09" name="Google Shape;409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2886075"/>
            <a:ext cx="1238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0" name="Google Shape;410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3181350"/>
            <a:ext cx="1238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1" name="Google Shape;411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3248025"/>
            <a:ext cx="123825" cy="952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2" name="Google Shape;412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3476625"/>
            <a:ext cx="123825" cy="1143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13" name="Google Shape;413;p16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1038225" y="3562350"/>
            <a:ext cx="123825" cy="95250"/>
          </a:xfrm>
          <a:prstGeom prst="rect">
            <a:avLst/>
          </a:prstGeom>
          <a:noFill/>
          <a:ln>
            <a:noFill/>
          </a:ln>
        </p:spPr>
      </p:pic>
      <p:sp>
        <p:nvSpPr>
          <p:cNvPr id="414" name="Google Shape;414;p16"/>
          <p:cNvSpPr txBox="1"/>
          <p:nvPr/>
        </p:nvSpPr>
        <p:spPr>
          <a:xfrm>
            <a:off x="1245550" y="2184725"/>
            <a:ext cx="3815100" cy="13533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Modelo de datos y modelo entidad-relación definidos.</a:t>
            </a:r>
            <a:endParaRPr sz="10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Casos de uso y arquitectura del sistema documentados.</a:t>
            </a:r>
            <a:endParaRPr sz="10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marR="898525" rtl="0" algn="l">
              <a:lnSpc>
                <a:spcPct val="1877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Backend Django y API REST desarrollados. Casos de prueba documentados.</a:t>
            </a:r>
            <a:endParaRPr sz="10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160"/>
              </a:spcBef>
              <a:spcAft>
                <a:spcPts val="0"/>
              </a:spcAft>
              <a:buNone/>
            </a:pPr>
            <a:r>
              <a:rPr lang="en-US" sz="10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Avances en el web y móvil.</a:t>
            </a:r>
            <a:endParaRPr sz="1000">
              <a:latin typeface="Tahoma"/>
              <a:ea typeface="Tahoma"/>
              <a:cs typeface="Tahoma"/>
              <a:sym typeface="Tahoma"/>
            </a:endParaRPr>
          </a:p>
        </p:txBody>
      </p:sp>
      <p:pic>
        <p:nvPicPr>
          <p:cNvPr descr="image.png" id="415" name="Google Shape;415;p16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6524625" y="3771900"/>
            <a:ext cx="123825" cy="114300"/>
          </a:xfrm>
          <a:prstGeom prst="rect">
            <a:avLst/>
          </a:prstGeom>
          <a:noFill/>
          <a:ln>
            <a:noFill/>
          </a:ln>
        </p:spPr>
      </p:pic>
      <p:sp>
        <p:nvSpPr>
          <p:cNvPr id="416" name="Google Shape;416;p16"/>
          <p:cNvSpPr txBox="1"/>
          <p:nvPr/>
        </p:nvSpPr>
        <p:spPr>
          <a:xfrm>
            <a:off x="6736075" y="2243449"/>
            <a:ext cx="4245000" cy="13239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5875">
            <a:spAutoFit/>
          </a:bodyPr>
          <a:lstStyle/>
          <a:p>
            <a:pPr indent="0" lvl="0" marL="1270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Continuar el desarrollo de las plataformas web y móvil.</a:t>
            </a:r>
            <a:endParaRPr sz="9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marR="690880" rtl="0" algn="l">
              <a:lnSpc>
                <a:spcPct val="176300"/>
              </a:lnSpc>
              <a:spcBef>
                <a:spcPts val="5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Completar y verificar la integración con la API REST. Desarrollar el módulo Carrito (Semana 14).</a:t>
            </a:r>
            <a:endParaRPr sz="9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0000"/>
              </a:lnSpc>
              <a:spcBef>
                <a:spcPts val="1005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Implementar el Checkout en entorno de prueba.</a:t>
            </a:r>
            <a:endParaRPr sz="9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4545"/>
              </a:lnSpc>
              <a:spcBef>
                <a:spcPts val="101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Completar el portal de administración y el CRUD de inventario.</a:t>
            </a:r>
            <a:endParaRPr sz="900">
              <a:latin typeface="Tahoma"/>
              <a:ea typeface="Tahoma"/>
              <a:cs typeface="Tahoma"/>
              <a:sym typeface="Tahoma"/>
            </a:endParaRPr>
          </a:p>
          <a:p>
            <a:pPr indent="0" lvl="0" marL="12700" rtl="0" algn="l">
              <a:lnSpc>
                <a:spcPct val="104545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>
                <a:solidFill>
                  <a:srgbClr val="334154"/>
                </a:solidFill>
                <a:latin typeface="Tahoma"/>
                <a:ea typeface="Tahoma"/>
                <a:cs typeface="Tahoma"/>
                <a:sym typeface="Tahoma"/>
              </a:rPr>
              <a:t>Pruebas QA y despliegue final en Render.</a:t>
            </a:r>
            <a:endParaRPr sz="9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17" name="Google Shape;417;p16"/>
          <p:cNvSpPr/>
          <p:nvPr/>
        </p:nvSpPr>
        <p:spPr>
          <a:xfrm>
            <a:off x="966125" y="1225350"/>
            <a:ext cx="5181600" cy="4886400"/>
          </a:xfrm>
          <a:prstGeom prst="roundRect">
            <a:avLst>
              <a:gd fmla="val 2339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8" name="Google Shape;418;p16"/>
          <p:cNvSpPr/>
          <p:nvPr/>
        </p:nvSpPr>
        <p:spPr>
          <a:xfrm>
            <a:off x="6248475" y="1167975"/>
            <a:ext cx="5181600" cy="5156700"/>
          </a:xfrm>
          <a:prstGeom prst="roundRect">
            <a:avLst>
              <a:gd fmla="val 2339" name="adj"/>
            </a:avLst>
          </a:prstGeom>
          <a:solidFill>
            <a:srgbClr val="F8FAFC"/>
          </a:solidFill>
          <a:ln cap="flat" cmpd="sng" w="9525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19" name="Google Shape;419;p16"/>
          <p:cNvSpPr/>
          <p:nvPr/>
        </p:nvSpPr>
        <p:spPr>
          <a:xfrm>
            <a:off x="1038225" y="1714500"/>
            <a:ext cx="46293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0" name="Google Shape;420;p16"/>
          <p:cNvSpPr/>
          <p:nvPr/>
        </p:nvSpPr>
        <p:spPr>
          <a:xfrm>
            <a:off x="6524625" y="1714500"/>
            <a:ext cx="4629300" cy="362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1" name="Google Shape;421;p16"/>
          <p:cNvSpPr/>
          <p:nvPr/>
        </p:nvSpPr>
        <p:spPr>
          <a:xfrm>
            <a:off x="1038225" y="2057400"/>
            <a:ext cx="46293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422" name="Google Shape;422;p16"/>
          <p:cNvSpPr/>
          <p:nvPr/>
        </p:nvSpPr>
        <p:spPr>
          <a:xfrm>
            <a:off x="6524625" y="2057400"/>
            <a:ext cx="4629300" cy="19200"/>
          </a:xfrm>
          <a:prstGeom prst="rect">
            <a:avLst/>
          </a:prstGeom>
          <a:solidFill>
            <a:srgbClr val="E2E8F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pic>
        <p:nvPicPr>
          <p:cNvPr descr="image.png" id="423" name="Google Shape;423;p16"/>
          <p:cNvPicPr preferRelativeResize="0"/>
          <p:nvPr/>
        </p:nvPicPr>
        <p:blipFill rotWithShape="1">
          <a:blip r:embed="rId7">
            <a:alphaModFix/>
          </a:blip>
          <a:srcRect b="0" l="0" r="0" t="0"/>
          <a:stretch/>
        </p:blipFill>
        <p:spPr>
          <a:xfrm>
            <a:off x="1038225" y="172402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4" name="Google Shape;424;p16"/>
          <p:cNvPicPr preferRelativeResize="0"/>
          <p:nvPr/>
        </p:nvPicPr>
        <p:blipFill rotWithShape="1">
          <a:blip r:embed="rId8">
            <a:alphaModFix/>
          </a:blip>
          <a:srcRect b="0" l="0" r="0" t="0"/>
          <a:stretch/>
        </p:blipFill>
        <p:spPr>
          <a:xfrm>
            <a:off x="6524625" y="1724025"/>
            <a:ext cx="209550" cy="20955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5" name="Google Shape;425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38225" y="22860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6" name="Google Shape;426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38225" y="260032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7" name="Google Shape;427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38225" y="291465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8" name="Google Shape;428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38225" y="322897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29" name="Google Shape;429;p16"/>
          <p:cNvPicPr preferRelativeResize="0"/>
          <p:nvPr/>
        </p:nvPicPr>
        <p:blipFill rotWithShape="1">
          <a:blip r:embed="rId9">
            <a:alphaModFix/>
          </a:blip>
          <a:srcRect b="0" l="0" r="0" t="0"/>
          <a:stretch/>
        </p:blipFill>
        <p:spPr>
          <a:xfrm>
            <a:off x="1038225" y="35433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0" name="Google Shape;430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22860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1" name="Google Shape;431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258127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2" name="Google Shape;432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287655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3" name="Google Shape;433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3171825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4" name="Google Shape;434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3467100"/>
            <a:ext cx="123825" cy="142875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image.png" id="435" name="Google Shape;435;p16"/>
          <p:cNvPicPr preferRelativeResize="0"/>
          <p:nvPr/>
        </p:nvPicPr>
        <p:blipFill rotWithShape="1">
          <a:blip r:embed="rId10">
            <a:alphaModFix/>
          </a:blip>
          <a:srcRect b="0" l="0" r="0" t="0"/>
          <a:stretch/>
        </p:blipFill>
        <p:spPr>
          <a:xfrm>
            <a:off x="6524625" y="3762375"/>
            <a:ext cx="123825" cy="142875"/>
          </a:xfrm>
          <a:prstGeom prst="rect">
            <a:avLst/>
          </a:prstGeom>
          <a:noFill/>
          <a:ln>
            <a:noFill/>
          </a:ln>
        </p:spPr>
      </p:pic>
      <p:sp>
        <p:nvSpPr>
          <p:cNvPr id="436" name="Google Shape;436;p16"/>
          <p:cNvSpPr txBox="1"/>
          <p:nvPr/>
        </p:nvSpPr>
        <p:spPr>
          <a:xfrm>
            <a:off x="762000" y="752475"/>
            <a:ext cx="11430000" cy="4155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700"/>
              <a:buFont typeface="Arial"/>
              <a:buNone/>
            </a:pPr>
            <a:r>
              <a:rPr b="1" i="0" lang="en-US" sz="2700" u="none" cap="none" strike="noStrike">
                <a:solidFill>
                  <a:srgbClr val="1C1917"/>
                </a:solidFill>
                <a:latin typeface="Inter"/>
                <a:ea typeface="Inter"/>
                <a:cs typeface="Inter"/>
                <a:sym typeface="Inter"/>
              </a:rPr>
              <a:t>Estado Actual — Semana 11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7" name="Google Shape;437;p16"/>
          <p:cNvSpPr txBox="1"/>
          <p:nvPr/>
        </p:nvSpPr>
        <p:spPr>
          <a:xfrm>
            <a:off x="1343025" y="1714500"/>
            <a:ext cx="315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COMPLETADO / DEFINIDO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8" name="Google Shape;438;p16"/>
          <p:cNvSpPr txBox="1"/>
          <p:nvPr/>
        </p:nvSpPr>
        <p:spPr>
          <a:xfrm>
            <a:off x="1038225" y="2266950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M</a:t>
            </a:r>
            <a:r>
              <a:rPr lang="en-US" sz="1125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odelo de datos y modelo entidad-relación definidos.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39" name="Google Shape;439;p16"/>
          <p:cNvSpPr txBox="1"/>
          <p:nvPr/>
        </p:nvSpPr>
        <p:spPr>
          <a:xfrm>
            <a:off x="1038225" y="2581275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25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Casos de uso y arquitectura del sistema documentados.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0" name="Google Shape;440;p16"/>
          <p:cNvSpPr txBox="1"/>
          <p:nvPr/>
        </p:nvSpPr>
        <p:spPr>
          <a:xfrm>
            <a:off x="1038225" y="2895600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B</a:t>
            </a:r>
            <a:r>
              <a:rPr lang="en-US" sz="1125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ackend Django y API REST desarrollados. Casos</a:t>
            </a: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1" name="Google Shape;441;p16"/>
          <p:cNvSpPr txBox="1"/>
          <p:nvPr/>
        </p:nvSpPr>
        <p:spPr>
          <a:xfrm>
            <a:off x="1038225" y="3209925"/>
            <a:ext cx="57864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Casos de prueba documentados.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2" name="Google Shape;442;p16"/>
          <p:cNvSpPr txBox="1"/>
          <p:nvPr/>
        </p:nvSpPr>
        <p:spPr>
          <a:xfrm>
            <a:off x="1038225" y="3524250"/>
            <a:ext cx="57864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120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Avances en el web y móvil.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3" name="Google Shape;443;p16"/>
          <p:cNvSpPr txBox="1"/>
          <p:nvPr/>
        </p:nvSpPr>
        <p:spPr>
          <a:xfrm>
            <a:off x="6829425" y="1714500"/>
            <a:ext cx="2250300" cy="2310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b="1" i="0" lang="en-US" sz="1500" u="none" cap="none" strike="noStrike">
                <a:solidFill>
                  <a:srgbClr val="1E293B"/>
                </a:solidFill>
                <a:latin typeface="Inter"/>
                <a:ea typeface="Inter"/>
                <a:cs typeface="Inter"/>
                <a:sym typeface="Inter"/>
              </a:rPr>
              <a:t>PRÓXIMOS PASOS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4" name="Google Shape;444;p16"/>
          <p:cNvSpPr txBox="1"/>
          <p:nvPr/>
        </p:nvSpPr>
        <p:spPr>
          <a:xfrm>
            <a:off x="6524625" y="2266950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Continuar el desarrollo de las plataformas web y móvil.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5" name="Google Shape;445;p16"/>
          <p:cNvSpPr txBox="1"/>
          <p:nvPr/>
        </p:nvSpPr>
        <p:spPr>
          <a:xfrm>
            <a:off x="6524625" y="2562225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lang="en-US" sz="1125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V</a:t>
            </a: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erificar la integración con la API REST.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6" name="Google Shape;446;p16"/>
          <p:cNvSpPr txBox="1"/>
          <p:nvPr/>
        </p:nvSpPr>
        <p:spPr>
          <a:xfrm>
            <a:off x="6524625" y="2857500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Desarrollar el módulo Carrito (Semana 14).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7" name="Google Shape;447;p16"/>
          <p:cNvSpPr txBox="1"/>
          <p:nvPr/>
        </p:nvSpPr>
        <p:spPr>
          <a:xfrm>
            <a:off x="6524625" y="3152775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Implementar el Checkout en entorno de prueba.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8" name="Google Shape;448;p16"/>
          <p:cNvSpPr txBox="1"/>
          <p:nvPr/>
        </p:nvSpPr>
        <p:spPr>
          <a:xfrm>
            <a:off x="6524625" y="3448050"/>
            <a:ext cx="5667300" cy="5262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Completar el portal de administración y el CRUD de inventario.</a:t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marR="0" rtl="0" algn="l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t/>
            </a:r>
            <a:endParaRPr b="0" i="0" sz="1125" u="none" cap="none" strike="noStrike">
              <a:solidFill>
                <a:srgbClr val="334155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449" name="Google Shape;449;p16"/>
          <p:cNvSpPr txBox="1"/>
          <p:nvPr/>
        </p:nvSpPr>
        <p:spPr>
          <a:xfrm>
            <a:off x="6524625" y="3743325"/>
            <a:ext cx="5667300" cy="1731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219075" spcFirstLastPara="1" rIns="0" wrap="square" tIns="0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25"/>
              <a:buFont typeface="Arial"/>
              <a:buNone/>
            </a:pPr>
            <a:r>
              <a:rPr b="0" i="0" lang="en-US" sz="1125" u="none" cap="none" strike="noStrike">
                <a:solidFill>
                  <a:srgbClr val="334155"/>
                </a:solidFill>
                <a:latin typeface="Inter"/>
                <a:ea typeface="Inter"/>
                <a:cs typeface="Inter"/>
                <a:sym typeface="Inter"/>
              </a:rPr>
              <a:t>Pruebas QA y despliegue final en Render.</a:t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Sp="0">
  <p:cSld>
    <p:spTree>
      <p:nvGrpSpPr>
        <p:cNvPr id="453" name="Shape 4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4" name="Google Shape;454;p17"/>
          <p:cNvSpPr/>
          <p:nvPr/>
        </p:nvSpPr>
        <p:spPr>
          <a:xfrm>
            <a:off x="0" y="0"/>
            <a:ext cx="12192000" cy="6858000"/>
          </a:xfrm>
          <a:custGeom>
            <a:rect b="b" l="l" r="r" t="t"/>
            <a:pathLst>
              <a:path extrusionOk="0" h="6858000" w="12192000">
                <a:moveTo>
                  <a:pt x="12192000" y="0"/>
                </a:moveTo>
                <a:lnTo>
                  <a:pt x="0" y="0"/>
                </a:lnTo>
                <a:lnTo>
                  <a:pt x="0" y="6858000"/>
                </a:lnTo>
                <a:lnTo>
                  <a:pt x="12192000" y="6858000"/>
                </a:lnTo>
                <a:lnTo>
                  <a:pt x="12192000" y="0"/>
                </a:lnTo>
                <a:close/>
              </a:path>
            </a:pathLst>
          </a:custGeom>
          <a:solidFill>
            <a:srgbClr val="1C1817"/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descr="$PPTXTitle" id="455" name="Google Shape;455;p17"/>
          <p:cNvSpPr txBox="1"/>
          <p:nvPr>
            <p:ph type="title"/>
          </p:nvPr>
        </p:nvSpPr>
        <p:spPr>
          <a:xfrm>
            <a:off x="4450461" y="1780539"/>
            <a:ext cx="3291077" cy="66675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3325">
            <a:spAutoFit/>
          </a:bodyPr>
          <a:lstStyle/>
          <a:p>
            <a:pPr indent="0" lvl="0" marL="2286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FerreMundo</a:t>
            </a:r>
            <a:endParaRPr/>
          </a:p>
        </p:txBody>
      </p:sp>
      <p:sp>
        <p:nvSpPr>
          <p:cNvPr id="456" name="Google Shape;456;p17"/>
          <p:cNvSpPr txBox="1"/>
          <p:nvPr/>
        </p:nvSpPr>
        <p:spPr>
          <a:xfrm>
            <a:off x="2382266" y="2553969"/>
            <a:ext cx="7442200" cy="71183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12635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D5D2D1"/>
                </a:solidFill>
                <a:latin typeface="Tahoma"/>
                <a:ea typeface="Tahoma"/>
                <a:cs typeface="Tahoma"/>
                <a:sym typeface="Tahoma"/>
              </a:rPr>
              <a:t>Sistema integrado para la gestión y comercialización de productos de la Ferretería</a:t>
            </a:r>
            <a:endParaRPr sz="1500">
              <a:latin typeface="Tahoma"/>
              <a:ea typeface="Tahoma"/>
              <a:cs typeface="Tahoma"/>
              <a:sym typeface="Tahoma"/>
            </a:endParaRPr>
          </a:p>
          <a:p>
            <a:pPr indent="0" lvl="0" marL="0" rtl="0" algn="ctr">
              <a:lnSpc>
                <a:spcPct val="100000"/>
              </a:lnSpc>
              <a:spcBef>
                <a:spcPts val="905"/>
              </a:spcBef>
              <a:spcAft>
                <a:spcPts val="0"/>
              </a:spcAft>
              <a:buNone/>
            </a:pPr>
            <a:r>
              <a:rPr lang="en-US" sz="1500">
                <a:solidFill>
                  <a:srgbClr val="D5D2D1"/>
                </a:solidFill>
                <a:latin typeface="Tahoma"/>
                <a:ea typeface="Tahoma"/>
                <a:cs typeface="Tahoma"/>
                <a:sym typeface="Tahoma"/>
              </a:rPr>
              <a:t>ConstruMax.</a:t>
            </a:r>
            <a:endParaRPr sz="15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7" name="Google Shape;457;p17"/>
          <p:cNvSpPr txBox="1"/>
          <p:nvPr/>
        </p:nvSpPr>
        <p:spPr>
          <a:xfrm>
            <a:off x="4657471" y="3493868"/>
            <a:ext cx="1189990" cy="456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73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rPr>
              <a:t>Jonatan Gordillo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A8A19E"/>
                </a:solidFill>
                <a:latin typeface="Tahoma"/>
                <a:ea typeface="Tahoma"/>
                <a:cs typeface="Tahoma"/>
                <a:sym typeface="Tahoma"/>
              </a:rPr>
              <a:t>Desarrollo &amp; QA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58" name="Google Shape;458;p17"/>
          <p:cNvSpPr/>
          <p:nvPr/>
        </p:nvSpPr>
        <p:spPr>
          <a:xfrm>
            <a:off x="6124575" y="3562350"/>
            <a:ext cx="9525" cy="381000"/>
          </a:xfrm>
          <a:custGeom>
            <a:rect b="b" l="l" r="r" t="t"/>
            <a:pathLst>
              <a:path extrusionOk="0" h="381000" w="9525">
                <a:moveTo>
                  <a:pt x="9525" y="0"/>
                </a:moveTo>
                <a:lnTo>
                  <a:pt x="0" y="0"/>
                </a:lnTo>
                <a:lnTo>
                  <a:pt x="0" y="381000"/>
                </a:lnTo>
                <a:lnTo>
                  <a:pt x="9525" y="381000"/>
                </a:lnTo>
                <a:lnTo>
                  <a:pt x="9525" y="0"/>
                </a:lnTo>
                <a:close/>
              </a:path>
            </a:pathLst>
          </a:custGeom>
          <a:solidFill>
            <a:srgbClr val="FFFFFF">
              <a:alpha val="2000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459" name="Google Shape;459;p17"/>
          <p:cNvSpPr txBox="1"/>
          <p:nvPr/>
        </p:nvSpPr>
        <p:spPr>
          <a:xfrm>
            <a:off x="6428104" y="3493868"/>
            <a:ext cx="1104900" cy="45656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73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100">
                <a:solidFill>
                  <a:srgbClr val="F9F9F8"/>
                </a:solidFill>
                <a:latin typeface="Arial"/>
                <a:ea typeface="Arial"/>
                <a:cs typeface="Arial"/>
                <a:sym typeface="Arial"/>
              </a:rPr>
              <a:t>Alan Cruz</a:t>
            </a:r>
            <a:endParaRPr sz="1100">
              <a:latin typeface="Arial"/>
              <a:ea typeface="Arial"/>
              <a:cs typeface="Arial"/>
              <a:sym typeface="Arial"/>
            </a:endParaRPr>
          </a:p>
          <a:p>
            <a:pPr indent="0" lvl="0" marL="0" rtl="0" algn="ctr">
              <a:lnSpc>
                <a:spcPct val="100000"/>
              </a:lnSpc>
              <a:spcBef>
                <a:spcPts val="38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A8A19E"/>
                </a:solidFill>
                <a:latin typeface="Tahoma"/>
                <a:ea typeface="Tahoma"/>
                <a:cs typeface="Tahoma"/>
                <a:sym typeface="Tahoma"/>
              </a:rPr>
              <a:t>Jefe de Proyecto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460" name="Google Shape;460;p17"/>
          <p:cNvSpPr txBox="1"/>
          <p:nvPr/>
        </p:nvSpPr>
        <p:spPr>
          <a:xfrm>
            <a:off x="4091051" y="4333749"/>
            <a:ext cx="4012565" cy="719455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63500">
            <a:sp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050">
                <a:solidFill>
                  <a:srgbClr val="78706C"/>
                </a:solidFill>
                <a:latin typeface="Tahoma"/>
                <a:ea typeface="Tahoma"/>
                <a:cs typeface="Tahoma"/>
                <a:sym typeface="Tahoma"/>
              </a:rPr>
              <a:t>CAPSTONE_011V — INGENIERÍA EN INFORMÁTICA • DUOC UC</a:t>
            </a:r>
            <a:endParaRPr sz="1050">
              <a:latin typeface="Tahoma"/>
              <a:ea typeface="Tahoma"/>
              <a:cs typeface="Tahoma"/>
              <a:sym typeface="Tahoma"/>
            </a:endParaRPr>
          </a:p>
          <a:p>
            <a:pPr indent="0" lvl="0" marL="5080" rtl="0" algn="ctr">
              <a:lnSpc>
                <a:spcPct val="100000"/>
              </a:lnSpc>
              <a:spcBef>
                <a:spcPts val="919"/>
              </a:spcBef>
              <a:spcAft>
                <a:spcPts val="0"/>
              </a:spcAft>
              <a:buNone/>
            </a:pPr>
            <a:r>
              <a:rPr b="1" lang="en-US" sz="2400">
                <a:solidFill>
                  <a:srgbClr val="F59E0A"/>
                </a:solidFill>
                <a:latin typeface="Arial"/>
                <a:ea typeface="Arial"/>
                <a:cs typeface="Arial"/>
                <a:sym typeface="Arial"/>
              </a:rPr>
              <a:t>¡Gracias!</a:t>
            </a:r>
            <a:endParaRPr sz="2400"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2026-10-23T19:39:56Z</dcterms:creat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verter">
    <vt:lpwstr>SolidFramework v10.0.20290.1</vt:lpwstr>
  </property>
  <property fmtid="{D5CDD505-2E9C-101B-9397-08002B2CF9AE}" pid="3" name="Created">
    <vt:filetime>2026-10-23T00:00:00Z</vt:filetime>
  </property>
  <property fmtid="{D5CDD505-2E9C-101B-9397-08002B2CF9AE}" pid="4" name="LastSaved">
    <vt:filetime>2026-10-23T00:00:00Z</vt:filetime>
  </property>
</Properties>
</file>