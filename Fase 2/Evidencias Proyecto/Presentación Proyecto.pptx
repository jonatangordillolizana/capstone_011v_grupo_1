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Inter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gK8MZj89UIV33FYT8sO3U8qIKn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B4D55F-FC83-4AD7-ADC1-5E91A3C9331E}">
  <a:tblStyle styleId="{07B4D55F-FC83-4AD7-ADC1-5E91A3C933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regular.fntdata"/><Relationship Id="rId11" Type="http://schemas.openxmlformats.org/officeDocument/2006/relationships/slide" Target="slides/slide5.xml"/><Relationship Id="rId22" Type="http://schemas.openxmlformats.org/officeDocument/2006/relationships/font" Target="fonts/Inter-italic.fntdata"/><Relationship Id="rId10" Type="http://schemas.openxmlformats.org/officeDocument/2006/relationships/slide" Target="slides/slide4.xml"/><Relationship Id="rId21" Type="http://schemas.openxmlformats.org/officeDocument/2006/relationships/font" Target="fonts/Inter-bold.fntdata"/><Relationship Id="rId13" Type="http://schemas.openxmlformats.org/officeDocument/2006/relationships/slide" Target="slides/slide7.xml"/><Relationship Id="rId24" Type="http://customschemas.google.com/relationships/presentationmetadata" Target="metadata"/><Relationship Id="rId12" Type="http://schemas.openxmlformats.org/officeDocument/2006/relationships/slide" Target="slides/slide6.xml"/><Relationship Id="rId23" Type="http://schemas.openxmlformats.org/officeDocument/2006/relationships/font" Target="fonts/Int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1" name="Google Shape;20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1" name="Google Shape;23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6" name="Google Shape;29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6" name="Google Shape;30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6" name="Google Shape;326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2" name="Google Shape;342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2" name="Google Shape;382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0" name="Google Shape;42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31.png"/><Relationship Id="rId6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10" Type="http://schemas.openxmlformats.org/officeDocument/2006/relationships/image" Target="../media/image16.png"/><Relationship Id="rId9" Type="http://schemas.openxmlformats.org/officeDocument/2006/relationships/image" Target="../media/image25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4.png"/><Relationship Id="rId7" Type="http://schemas.openxmlformats.org/officeDocument/2006/relationships/image" Target="../media/image20.png"/><Relationship Id="rId8" Type="http://schemas.openxmlformats.org/officeDocument/2006/relationships/image" Target="../media/image2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19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32.png"/><Relationship Id="rId6" Type="http://schemas.openxmlformats.org/officeDocument/2006/relationships/image" Target="../media/image3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91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62000" y="4002285"/>
            <a:ext cx="10668000" cy="9525"/>
          </a:xfrm>
          <a:prstGeom prst="rect">
            <a:avLst/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762000" y="1917352"/>
            <a:ext cx="114300" cy="1143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3487935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762000" y="2255490"/>
            <a:ext cx="11430000" cy="670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FerreMundo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62000" y="3068835"/>
            <a:ext cx="11430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6D3D1"/>
                </a:solidFill>
                <a:latin typeface="Inter"/>
                <a:ea typeface="Inter"/>
                <a:cs typeface="Inter"/>
                <a:sym typeface="Inter"/>
              </a:rPr>
              <a:t>Seguimiento del Proyecto — Semana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762000" y="3468885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Fecha de presentación: 23 de octubre de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990600" y="1884015"/>
            <a:ext cx="5976937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CAPSTONE_011V — INGENIERÍA EN INFORMÁTICA •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62000" y="4316610"/>
            <a:ext cx="320278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INTEGRANTES DEL EQUIPO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62000" y="4535685"/>
            <a:ext cx="320278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Jonatan Gordillo </a:t>
            </a:r>
            <a:r>
              <a:rPr b="0" i="0" lang="en-US" sz="1125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(Desarrollo &amp; QA)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62000" y="4773810"/>
            <a:ext cx="320278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Alan Cruz </a:t>
            </a:r>
            <a:r>
              <a:rPr b="0" i="0" lang="en-US" sz="1125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(Jefe de Proyecto)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8181975" y="4316610"/>
            <a:ext cx="40100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PROFESOR GUÍA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181975" y="4535685"/>
            <a:ext cx="40100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Fernando Gonzalo Herrera Francesconi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685800" y="1333500"/>
            <a:ext cx="10820400" cy="1043880"/>
          </a:xfrm>
          <a:prstGeom prst="roundRect">
            <a:avLst>
              <a:gd fmla="val 7299" name="adj"/>
            </a:avLst>
          </a:prstGeom>
          <a:solidFill>
            <a:srgbClr val="FFFB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685800" y="2367855"/>
            <a:ext cx="10820400" cy="9525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85800" y="1333500"/>
            <a:ext cx="10820400" cy="9525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85800" y="1333500"/>
            <a:ext cx="47625" cy="1043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11496675" y="1333500"/>
            <a:ext cx="9525" cy="1043880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85800" y="5619750"/>
            <a:ext cx="5295900" cy="742950"/>
          </a:xfrm>
          <a:prstGeom prst="roundRect">
            <a:avLst>
              <a:gd fmla="val 10256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210300" y="5619750"/>
            <a:ext cx="5295900" cy="742950"/>
          </a:xfrm>
          <a:prstGeom prst="roundRect">
            <a:avLst>
              <a:gd fmla="val 10256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296400" y="1541115"/>
            <a:ext cx="1971675" cy="28575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8791575" y="1884015"/>
            <a:ext cx="2476500" cy="2857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85800" y="3034605"/>
            <a:ext cx="1514772" cy="847725"/>
          </a:xfrm>
          <a:prstGeom prst="roundRect">
            <a:avLst>
              <a:gd fmla="val 8988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2486322" y="3115567"/>
            <a:ext cx="1514772" cy="685800"/>
          </a:xfrm>
          <a:prstGeom prst="roundRect">
            <a:avLst>
              <a:gd fmla="val 11111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4286845" y="3082230"/>
            <a:ext cx="1817786" cy="752475"/>
          </a:xfrm>
          <a:prstGeom prst="roundRect">
            <a:avLst>
              <a:gd fmla="val 10126" name="adj"/>
            </a:avLst>
          </a:prstGeom>
          <a:solidFill>
            <a:srgbClr val="FEF3C7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390382" y="3115567"/>
            <a:ext cx="1514772" cy="685800"/>
          </a:xfrm>
          <a:prstGeom prst="roundRect">
            <a:avLst>
              <a:gd fmla="val 11111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8190904" y="3115567"/>
            <a:ext cx="1514772" cy="685800"/>
          </a:xfrm>
          <a:prstGeom prst="roundRect">
            <a:avLst>
              <a:gd fmla="val 11111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9991427" y="3115567"/>
            <a:ext cx="1514772" cy="685800"/>
          </a:xfrm>
          <a:prstGeom prst="roundRect">
            <a:avLst>
              <a:gd fmla="val 11111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5" name="Google Shape;11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95822" y="338226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96345" y="338226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9882" y="338226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00404" y="338226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00927" y="338226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3925" y="5819775"/>
            <a:ext cx="1047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5819775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"/>
          <p:cNvSpPr txBox="1"/>
          <p:nvPr/>
        </p:nvSpPr>
        <p:spPr>
          <a:xfrm>
            <a:off x="685800" y="495300"/>
            <a:ext cx="115062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MARCO DE TRABAJO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685800" y="714375"/>
            <a:ext cx="115062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Metodología Waterfall (Cascada tradicional)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685800" y="2682180"/>
            <a:ext cx="115062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SECUENCIA DE LAS 6 ETAPAS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962025" y="1533525"/>
            <a:ext cx="950118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DEFINICIÓN METODOLÓGICA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962025" y="1724025"/>
            <a:ext cx="7696200" cy="45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“Waterfall es una metodología de desarrollo secuencial, donde cada etapa se planifica y completa antes de avanzar a la siguiente”.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353550" y="1598265"/>
            <a:ext cx="17621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Duración total: 18 semanas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8848725" y="1941165"/>
            <a:ext cx="2267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Fecha actual: 23 de octubre de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923925" y="5800725"/>
            <a:ext cx="6024562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Control Secuencial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923925" y="6019800"/>
            <a:ext cx="602456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Validación documental obligatoria antes de avanzar a la siguiente fase.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6448425" y="5800725"/>
            <a:ext cx="57435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Trazabilidad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6448425" y="6019800"/>
            <a:ext cx="57435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Alineación estricta entre ERS, Modelos UML/BD y Casos de Prueba.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615515" y="3206055"/>
            <a:ext cx="165534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1. Levantamiento y diseño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615515" y="3568005"/>
            <a:ext cx="165534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Completado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2416038" y="3287017"/>
            <a:ext cx="165534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2.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2416038" y="3487042"/>
            <a:ext cx="165534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Completado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4202496" y="3272730"/>
            <a:ext cx="1986483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3. Integración 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4202496" y="3501330"/>
            <a:ext cx="1986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Semana 11 (Actual)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6320097" y="3287017"/>
            <a:ext cx="165534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4. QA y 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6320097" y="3487042"/>
            <a:ext cx="165534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Planificado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"/>
          <p:cNvSpPr txBox="1"/>
          <p:nvPr/>
        </p:nvSpPr>
        <p:spPr>
          <a:xfrm>
            <a:off x="8120620" y="3287017"/>
            <a:ext cx="165534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5. Despliegue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"/>
          <p:cNvSpPr txBox="1"/>
          <p:nvPr/>
        </p:nvSpPr>
        <p:spPr>
          <a:xfrm>
            <a:off x="8120620" y="3487042"/>
            <a:ext cx="165534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Planificado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"/>
          <p:cNvSpPr txBox="1"/>
          <p:nvPr/>
        </p:nvSpPr>
        <p:spPr>
          <a:xfrm>
            <a:off x="9921143" y="3287017"/>
            <a:ext cx="165534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6. Cierre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"/>
          <p:cNvSpPr txBox="1"/>
          <p:nvPr/>
        </p:nvSpPr>
        <p:spPr>
          <a:xfrm>
            <a:off x="9921143" y="3487042"/>
            <a:ext cx="165534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Planificado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"/>
          <p:cNvSpPr/>
          <p:nvPr/>
        </p:nvSpPr>
        <p:spPr>
          <a:xfrm>
            <a:off x="2228850" y="2767012"/>
            <a:ext cx="9525" cy="228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3818334" y="2767012"/>
            <a:ext cx="9525" cy="228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937646" y="2767012"/>
            <a:ext cx="9525" cy="228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8586787" y="2767012"/>
            <a:ext cx="9525" cy="228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10706100" y="2767012"/>
            <a:ext cx="9525" cy="228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/>
          <p:nvPr/>
        </p:nvSpPr>
        <p:spPr>
          <a:xfrm>
            <a:off x="2228850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2758678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3288506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3818334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4348162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4877990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5407818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5937646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6467475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6997303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7527131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8056959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8586787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9116615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9646443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10176271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10706100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11235928" y="2995612"/>
            <a:ext cx="9525" cy="266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419100" y="6381750"/>
            <a:ext cx="3548062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COMPLETADO:</a:t>
            </a: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S1 a S8 (F1 Levantamiento + F2 Backend)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 txBox="1"/>
          <p:nvPr/>
        </p:nvSpPr>
        <p:spPr>
          <a:xfrm>
            <a:off x="3686175" y="6381750"/>
            <a:ext cx="4452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SEMANA ACTUAL:</a:t>
            </a: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S11 — 23 de octubre de 2026 (Diseño UI/UX y Figma)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677150" y="6381750"/>
            <a:ext cx="4515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PLANIFICADO:</a:t>
            </a: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S12 a S18 (F3 Desarrollo Web/Móvil, F4 Checkout, F5 QA y Deploy)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419100" y="342900"/>
            <a:ext cx="52149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PLANIFICACIÓN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419100" y="514350"/>
            <a:ext cx="54756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Planificación general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"/>
          <p:cNvSpPr txBox="1"/>
          <p:nvPr/>
        </p:nvSpPr>
        <p:spPr>
          <a:xfrm>
            <a:off x="7553325" y="666750"/>
            <a:ext cx="1452562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1A1A1A"/>
                </a:solidFill>
                <a:latin typeface="Inter"/>
                <a:ea typeface="Inter"/>
                <a:cs typeface="Inter"/>
                <a:sym typeface="Inter"/>
              </a:rPr>
              <a:t> S1–S8 Completadas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8848725" y="666750"/>
            <a:ext cx="19764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1A1A1A"/>
                </a:solidFill>
                <a:latin typeface="Inter"/>
                <a:ea typeface="Inter"/>
                <a:cs typeface="Inter"/>
                <a:sym typeface="Inter"/>
              </a:rPr>
              <a:t> ★ S11 Semana Actual (23 Oct)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 txBox="1"/>
          <p:nvPr/>
        </p:nvSpPr>
        <p:spPr>
          <a:xfrm>
            <a:off x="10563225" y="666750"/>
            <a:ext cx="1512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1A1A1A"/>
                </a:solidFill>
                <a:latin typeface="Inter"/>
                <a:ea typeface="Inter"/>
                <a:cs typeface="Inter"/>
                <a:sym typeface="Inter"/>
              </a:rPr>
              <a:t> S12–S18 Planificadas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3" title="Hoja de ruta Gantt con S11 destacado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00" y="953350"/>
            <a:ext cx="11656223" cy="456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"/>
          <p:cNvSpPr/>
          <p:nvPr/>
        </p:nvSpPr>
        <p:spPr>
          <a:xfrm>
            <a:off x="571500" y="1289438"/>
            <a:ext cx="11049000" cy="4362600"/>
          </a:xfrm>
          <a:prstGeom prst="roundRect">
            <a:avLst>
              <a:gd fmla="val 2620" name="adj"/>
            </a:avLst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571500" y="5923350"/>
            <a:ext cx="11049000" cy="695400"/>
          </a:xfrm>
          <a:prstGeom prst="roundRect">
            <a:avLst>
              <a:gd fmla="val 10958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"/>
          <p:cNvSpPr/>
          <p:nvPr/>
        </p:nvSpPr>
        <p:spPr>
          <a:xfrm>
            <a:off x="6491733" y="5847150"/>
            <a:ext cx="492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8" name="Google Shape;18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10262" y="2927737"/>
            <a:ext cx="371475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4"/>
          <p:cNvSpPr txBox="1"/>
          <p:nvPr/>
        </p:nvSpPr>
        <p:spPr>
          <a:xfrm>
            <a:off x="571500" y="398850"/>
            <a:ext cx="116205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ARQUITECTURA DE PERSISTENCIA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571500" y="570300"/>
            <a:ext cx="11620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Modelo Entidad-Relación (MER)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 txBox="1"/>
          <p:nvPr/>
        </p:nvSpPr>
        <p:spPr>
          <a:xfrm>
            <a:off x="571500" y="932250"/>
            <a:ext cx="11620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“El MER representa las entidades, atributos y relaciones que estructuran la base de datos de FerreMundo”.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/>
        </p:nvSpPr>
        <p:spPr>
          <a:xfrm>
            <a:off x="3565921" y="3442087"/>
            <a:ext cx="506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INSERTAR AQUÍ CAPTURA REAL DEL MER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3774281" y="3708787"/>
            <a:ext cx="4643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Modelo Entidad-Relación Normalizado — FerreMundo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/>
          <p:cNvSpPr txBox="1"/>
          <p:nvPr/>
        </p:nvSpPr>
        <p:spPr>
          <a:xfrm>
            <a:off x="771525" y="6118612"/>
            <a:ext cx="7150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Entidades Principales: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 txBox="1"/>
          <p:nvPr/>
        </p:nvSpPr>
        <p:spPr>
          <a:xfrm>
            <a:off x="771525" y="6280537"/>
            <a:ext cx="7150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CLIENTE | CARRITO | ITEM_CARRITO | PRODUCTO | CATEGORIA | BOLETA | DETALLE_BOLETA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/>
          <p:cNvSpPr txBox="1"/>
          <p:nvPr/>
        </p:nvSpPr>
        <p:spPr>
          <a:xfrm>
            <a:off x="6653658" y="5847150"/>
            <a:ext cx="553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"/>
          <p:cNvSpPr txBox="1"/>
          <p:nvPr/>
        </p:nvSpPr>
        <p:spPr>
          <a:xfrm>
            <a:off x="6653658" y="6009075"/>
            <a:ext cx="4862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7700" y="1193175"/>
            <a:ext cx="11155899" cy="4653976"/>
          </a:xfrm>
          <a:prstGeom prst="rect">
            <a:avLst/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571500" y="1247775"/>
            <a:ext cx="11049000" cy="4400550"/>
          </a:xfrm>
          <a:prstGeom prst="roundRect">
            <a:avLst>
              <a:gd fmla="val 2597" name="adj"/>
            </a:avLst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622150" y="6076925"/>
            <a:ext cx="5448300" cy="657300"/>
          </a:xfrm>
          <a:prstGeom prst="roundRect">
            <a:avLst>
              <a:gd fmla="val 11594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222850" y="6076925"/>
            <a:ext cx="5448300" cy="657300"/>
          </a:xfrm>
          <a:prstGeom prst="roundRect">
            <a:avLst>
              <a:gd fmla="val 11594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6" name="Google Shape;2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57875" y="2967037"/>
            <a:ext cx="47625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4075" y="6200750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4775" y="6200750"/>
            <a:ext cx="1428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"/>
          <p:cNvSpPr txBox="1"/>
          <p:nvPr/>
        </p:nvSpPr>
        <p:spPr>
          <a:xfrm>
            <a:off x="571500" y="419100"/>
            <a:ext cx="116205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ESPECIFICACIÓN FUNCIONAL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571500" y="590550"/>
            <a:ext cx="11620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Casos de uso del sistema FerreMundo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571500" y="952500"/>
            <a:ext cx="116205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“El diagrama representa las principales funciones del sistema para los actores Cliente y Administrador”.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5"/>
          <p:cNvSpPr txBox="1"/>
          <p:nvPr/>
        </p:nvSpPr>
        <p:spPr>
          <a:xfrm>
            <a:off x="2089546" y="3481387"/>
            <a:ext cx="801290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INSERTAR AQUÍ CAPTURA REAL DEL DIAGRAMA DE CASOS DE USO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 txBox="1"/>
          <p:nvPr/>
        </p:nvSpPr>
        <p:spPr>
          <a:xfrm>
            <a:off x="3899296" y="3748087"/>
            <a:ext cx="4393406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Diagrama General de Casos de Uso — FerreMundo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784075" y="6181700"/>
            <a:ext cx="6405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619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Actor CLIENTE: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784075" y="6343625"/>
            <a:ext cx="521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Registrar cuenta, Iniciar sesión, Consultar productos, Gestionar carrito, Realizar compra, Historial de compras, Recuperar contraseña.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6384775" y="6181700"/>
            <a:ext cx="585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Actor ADMINISTRADOR: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5"/>
          <p:cNvSpPr txBox="1"/>
          <p:nvPr/>
        </p:nvSpPr>
        <p:spPr>
          <a:xfrm>
            <a:off x="6384775" y="6343625"/>
            <a:ext cx="585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Gestionar productos, Gestionar categorías, Gestionar stock de inventario.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4150" y="1247775"/>
            <a:ext cx="11103725" cy="4671149"/>
          </a:xfrm>
          <a:prstGeom prst="rect">
            <a:avLst/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"/>
          <p:cNvSpPr/>
          <p:nvPr/>
        </p:nvSpPr>
        <p:spPr>
          <a:xfrm>
            <a:off x="533400" y="6126509"/>
            <a:ext cx="11125200" cy="35049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533400" y="6126509"/>
            <a:ext cx="38100" cy="35049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5" name="Google Shape;225;p6"/>
          <p:cNvGraphicFramePr/>
          <p:nvPr/>
        </p:nvGraphicFramePr>
        <p:xfrm>
          <a:off x="533400" y="962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{07B4D55F-FC83-4AD7-ADC1-5E91A3C9331E}</a:tableStyleId>
              </a:tblPr>
              <a:tblGrid>
                <a:gridCol w="666750"/>
                <a:gridCol w="2095500"/>
                <a:gridCol w="8362950"/>
              </a:tblGrid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Código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Caso de prueba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Requisitos asociados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CP-01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Registro de usuario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RF-01: Registro de usuario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CP-02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Inicio de sesión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RF-02: Inicio de sesión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CP-03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Consulta y búsqueda de productos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RF-04: Consulta de productos; RF-05: Búsqueda; RF-06: Filtrado por categoría; RF-07: Detalle del producto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CP-04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Gestión del carrito y cálculo del total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RF-08: Agregar productos al carrito; RF-09: Modificar cantidades; RF-10: Eliminar productos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CP-05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Realización de compra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RF-11: Realizar compra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CP-06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Consulta del historial de compras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RF-12: Consultar historial de compras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CP-07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Gestión de productos por administrador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RF-13: Crear productos; RF-14: Consultar y modificar; RF-15: Eliminar productos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2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D9770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CP-08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1" i="0" lang="en-US" sz="787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Recuperación de contraseña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87"/>
                        <a:buFont typeface="Arial"/>
                        <a:buNone/>
                      </a:pPr>
                      <a:r>
                        <a:rPr b="0" i="0" lang="en-US" sz="787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RF-17: Recuperación de contraseña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6" name="Google Shape;226;p6"/>
          <p:cNvSpPr txBox="1"/>
          <p:nvPr/>
        </p:nvSpPr>
        <p:spPr>
          <a:xfrm>
            <a:off x="533400" y="381000"/>
            <a:ext cx="116586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ASEGURAMIENTO DE CALIDAD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533400" y="552450"/>
            <a:ext cx="116586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Plan de pruebas funcionales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6"/>
          <p:cNvSpPr txBox="1"/>
          <p:nvPr/>
        </p:nvSpPr>
        <p:spPr>
          <a:xfrm>
            <a:off x="723900" y="6221759"/>
            <a:ext cx="1146810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Nota: “Los casos de prueba están documentados. Su ejecución y registro de resultados se realizarán durante la etapa de QA, según la planificación del proyecto”.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7"/>
          <p:cNvSpPr/>
          <p:nvPr/>
        </p:nvSpPr>
        <p:spPr>
          <a:xfrm>
            <a:off x="533400" y="2300287"/>
            <a:ext cx="6538019" cy="847725"/>
          </a:xfrm>
          <a:prstGeom prst="roundRect">
            <a:avLst>
              <a:gd fmla="val 8988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533400" y="3424237"/>
            <a:ext cx="6538019" cy="847725"/>
          </a:xfrm>
          <a:prstGeom prst="roundRect">
            <a:avLst>
              <a:gd fmla="val 8988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533400" y="4548187"/>
            <a:ext cx="6538019" cy="847725"/>
          </a:xfrm>
          <a:prstGeom prst="roundRect">
            <a:avLst>
              <a:gd fmla="val 8988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7300100" y="2876631"/>
            <a:ext cx="4358700" cy="742800"/>
          </a:xfrm>
          <a:prstGeom prst="roundRect">
            <a:avLst>
              <a:gd fmla="val 14814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7300082" y="3849400"/>
            <a:ext cx="4358700" cy="514500"/>
          </a:xfrm>
          <a:prstGeom prst="roundRect">
            <a:avLst>
              <a:gd fmla="val 14814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7300019" y="4681537"/>
            <a:ext cx="4358580" cy="514350"/>
          </a:xfrm>
          <a:prstGeom prst="roundRect">
            <a:avLst>
              <a:gd fmla="val 14814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7300019" y="5962650"/>
            <a:ext cx="4358580" cy="514350"/>
          </a:xfrm>
          <a:prstGeom prst="roundRect">
            <a:avLst>
              <a:gd fmla="val 14814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0" name="Google Shape;2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18994" y="2609850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50022" y="3224212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04694" y="373380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50022" y="4348162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90419" y="485775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306175" y="6134100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443032" y="3028900"/>
            <a:ext cx="15240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442957" y="3973225"/>
            <a:ext cx="11430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442894" y="4805362"/>
            <a:ext cx="14287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"/>
          <p:cNvSpPr txBox="1"/>
          <p:nvPr/>
        </p:nvSpPr>
        <p:spPr>
          <a:xfrm>
            <a:off x="533400" y="381000"/>
            <a:ext cx="116586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ARQUITECTURA DE SOFTWARE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533400" y="552450"/>
            <a:ext cx="116586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Arquitectura del sistema y tecnologías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7"/>
          <p:cNvSpPr txBox="1"/>
          <p:nvPr/>
        </p:nvSpPr>
        <p:spPr>
          <a:xfrm>
            <a:off x="533400" y="914400"/>
            <a:ext cx="116586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El Modelo 4+1 describe el sistema desde múltiples perspectivas arquitectónicas (Lógica, Desarrollo, Procesos, Física y Escenarios).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7"/>
          <p:cNvSpPr txBox="1"/>
          <p:nvPr/>
        </p:nvSpPr>
        <p:spPr>
          <a:xfrm>
            <a:off x="7264375" y="2351784"/>
            <a:ext cx="4892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SERVICIOS EXTERNOS INTEGRADOS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7"/>
          <p:cNvSpPr txBox="1"/>
          <p:nvPr/>
        </p:nvSpPr>
        <p:spPr>
          <a:xfrm>
            <a:off x="714375" y="2443162"/>
            <a:ext cx="245745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CAPA DE PRESENTACIÓN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714375" y="3567112"/>
            <a:ext cx="2047875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BACKEND &amp; API REST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7"/>
          <p:cNvSpPr txBox="1"/>
          <p:nvPr/>
        </p:nvSpPr>
        <p:spPr>
          <a:xfrm>
            <a:off x="714375" y="4691062"/>
            <a:ext cx="1914525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BASE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7443032" y="3009850"/>
            <a:ext cx="4749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Cloudinary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7"/>
          <p:cNvSpPr txBox="1"/>
          <p:nvPr/>
        </p:nvSpPr>
        <p:spPr>
          <a:xfrm>
            <a:off x="7443032" y="3181300"/>
            <a:ext cx="4749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Almacenamiento de imágenes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7"/>
          <p:cNvSpPr txBox="1"/>
          <p:nvPr/>
        </p:nvSpPr>
        <p:spPr>
          <a:xfrm>
            <a:off x="7442957" y="3954175"/>
            <a:ext cx="4749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Google Cloud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7"/>
          <p:cNvSpPr txBox="1"/>
          <p:nvPr/>
        </p:nvSpPr>
        <p:spPr>
          <a:xfrm>
            <a:off x="7442957" y="4125625"/>
            <a:ext cx="4749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Recuperación de contraseña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7"/>
          <p:cNvSpPr txBox="1"/>
          <p:nvPr/>
        </p:nvSpPr>
        <p:spPr>
          <a:xfrm>
            <a:off x="7442894" y="4786312"/>
            <a:ext cx="474910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Mercado Pago Sandbox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7442894" y="4957762"/>
            <a:ext cx="474910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Simulación de pagos en prueba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714375" y="2652712"/>
            <a:ext cx="2952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Sitio Web + App Móvil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714375" y="2862262"/>
            <a:ext cx="29527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Ionic • Angular • Capacitor • HTML/CSS/JS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7"/>
          <p:cNvSpPr txBox="1"/>
          <p:nvPr/>
        </p:nvSpPr>
        <p:spPr>
          <a:xfrm>
            <a:off x="714375" y="3776662"/>
            <a:ext cx="2440781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Python + Django + DRF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7"/>
          <p:cNvSpPr txBox="1"/>
          <p:nvPr/>
        </p:nvSpPr>
        <p:spPr>
          <a:xfrm>
            <a:off x="714375" y="3986212"/>
            <a:ext cx="244078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Lógica de negocio y endpoints REST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7"/>
          <p:cNvSpPr txBox="1"/>
          <p:nvPr/>
        </p:nvSpPr>
        <p:spPr>
          <a:xfrm>
            <a:off x="714375" y="4900612"/>
            <a:ext cx="2274093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PostgreSQL en Neon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7"/>
          <p:cNvSpPr txBox="1"/>
          <p:nvPr/>
        </p:nvSpPr>
        <p:spPr>
          <a:xfrm>
            <a:off x="714375" y="5110162"/>
            <a:ext cx="2274093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Persistencia relacional serverless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 txBox="1"/>
          <p:nvPr/>
        </p:nvSpPr>
        <p:spPr>
          <a:xfrm>
            <a:off x="7433369" y="6076950"/>
            <a:ext cx="16192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DESPLIEGUE PLANIFICADO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7"/>
          <p:cNvSpPr txBox="1"/>
          <p:nvPr/>
        </p:nvSpPr>
        <p:spPr>
          <a:xfrm>
            <a:off x="7433369" y="6210300"/>
            <a:ext cx="16192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Render (Cloud)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7"/>
          <p:cNvSpPr/>
          <p:nvPr/>
        </p:nvSpPr>
        <p:spPr>
          <a:xfrm>
            <a:off x="486600" y="1231138"/>
            <a:ext cx="2103000" cy="714300"/>
          </a:xfrm>
          <a:prstGeom prst="roundRect">
            <a:avLst>
              <a:gd fmla="val 10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2703990" y="1231138"/>
            <a:ext cx="2103000" cy="714300"/>
          </a:xfrm>
          <a:prstGeom prst="roundRect">
            <a:avLst>
              <a:gd fmla="val 10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4921380" y="1231138"/>
            <a:ext cx="2103000" cy="714300"/>
          </a:xfrm>
          <a:prstGeom prst="roundRect">
            <a:avLst>
              <a:gd fmla="val 10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7138770" y="1231138"/>
            <a:ext cx="2103000" cy="714300"/>
          </a:xfrm>
          <a:prstGeom prst="roundRect">
            <a:avLst>
              <a:gd fmla="val 10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9356160" y="1231138"/>
            <a:ext cx="2103000" cy="714300"/>
          </a:xfrm>
          <a:prstGeom prst="roundRect">
            <a:avLst>
              <a:gd fmla="val 10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486600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2580165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2703990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4797555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4921380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7014945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7138770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9232335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9356160" y="1231138"/>
            <a:ext cx="9600" cy="7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610425" y="1374013"/>
            <a:ext cx="231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Vista Lógica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7"/>
          <p:cNvSpPr txBox="1"/>
          <p:nvPr/>
        </p:nvSpPr>
        <p:spPr>
          <a:xfrm>
            <a:off x="610425" y="1554988"/>
            <a:ext cx="19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Usuarios, Productos, Categorías, Stock, Carrito y Compras.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7"/>
          <p:cNvSpPr txBox="1"/>
          <p:nvPr/>
        </p:nvSpPr>
        <p:spPr>
          <a:xfrm>
            <a:off x="2827815" y="1374013"/>
            <a:ext cx="231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Vista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"/>
          <p:cNvSpPr txBox="1"/>
          <p:nvPr/>
        </p:nvSpPr>
        <p:spPr>
          <a:xfrm>
            <a:off x="2827815" y="1554988"/>
            <a:ext cx="19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Presentación → Lógica → Datos → Servicios externos.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7"/>
          <p:cNvSpPr txBox="1"/>
          <p:nvPr/>
        </p:nvSpPr>
        <p:spPr>
          <a:xfrm>
            <a:off x="5045205" y="1374013"/>
            <a:ext cx="231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Vista Procesos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7"/>
          <p:cNvSpPr txBox="1"/>
          <p:nvPr/>
        </p:nvSpPr>
        <p:spPr>
          <a:xfrm>
            <a:off x="5045205" y="1554988"/>
            <a:ext cx="19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Web/Móvil → API REST → Lógica de negocio → Datos.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7"/>
          <p:cNvSpPr txBox="1"/>
          <p:nvPr/>
        </p:nvSpPr>
        <p:spPr>
          <a:xfrm>
            <a:off x="7262595" y="1374013"/>
            <a:ext cx="231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9333EA"/>
                </a:solidFill>
                <a:latin typeface="Inter"/>
                <a:ea typeface="Inter"/>
                <a:cs typeface="Inter"/>
                <a:sym typeface="Inter"/>
              </a:rPr>
              <a:t>Vista Física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7"/>
          <p:cNvSpPr txBox="1"/>
          <p:nvPr/>
        </p:nvSpPr>
        <p:spPr>
          <a:xfrm>
            <a:off x="7262595" y="1554988"/>
            <a:ext cx="19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Dispositivos → Infraestructura cloud → BD Neon.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9479985" y="1374013"/>
            <a:ext cx="231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Escenarios (+1)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7"/>
          <p:cNvSpPr txBox="1"/>
          <p:nvPr/>
        </p:nvSpPr>
        <p:spPr>
          <a:xfrm>
            <a:off x="9479985" y="1554988"/>
            <a:ext cx="19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Registro, consulta productos, carrito y compras.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8"/>
          <p:cNvSpPr/>
          <p:nvPr/>
        </p:nvSpPr>
        <p:spPr>
          <a:xfrm>
            <a:off x="533400" y="6143625"/>
            <a:ext cx="11125200" cy="33337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533400" y="6143625"/>
            <a:ext cx="38100" cy="33337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00" name="Google Shape;300;p8"/>
          <p:cNvGraphicFramePr/>
          <p:nvPr/>
        </p:nvGraphicFramePr>
        <p:xfrm>
          <a:off x="533400" y="962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{07B4D55F-FC83-4AD7-ADC1-5E91A3C9331E}</a:tableStyleId>
              </a:tblPr>
              <a:tblGrid>
                <a:gridCol w="2000250"/>
                <a:gridCol w="904875"/>
                <a:gridCol w="762000"/>
                <a:gridCol w="7458075"/>
              </a:tblGrid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Riesgo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Probabilidad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Impacto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Mitigación o respuesta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Retrasos en integración Web, Móvil y API REST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Probar endpoints e integración por etapas secuenciales.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6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Problemas de integración con la API REST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0" i="0"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Verificar contratos de API y realizar pruebas de integración continuas.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Errores en el cálculo del carrito y checkout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Realizar pruebas con datos controlados y verificar totales.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Inconsistencias en la base de datos PostgreSQL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50"/>
                        <a:buFont typeface="Arial"/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Validar relaciones, restricciones y operaciones de persistencia.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Problemas con los pagos de prueba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0" i="0"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Validar las respuestas de Mercado Pago Sandbox antes de la integración final.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Ausencia de un integrante del equipo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16A34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Baja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0" i="0"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Mantener documentación compartida y distribuir la información del proyecto.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Conflictos o pérdida de cambios en GitHub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DC262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50"/>
                        <a:buFont typeface="Arial"/>
                        <a:buNone/>
                      </a:pPr>
                      <a:r>
                        <a:rPr b="0" i="0" lang="en-US" sz="750" u="none" cap="none" strike="noStrike">
                          <a:solidFill>
                            <a:srgbClr val="4755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Realizar commits frecuentes y revisar cambios antes de integrarlos.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01" name="Google Shape;301;p8"/>
          <p:cNvSpPr txBox="1"/>
          <p:nvPr/>
        </p:nvSpPr>
        <p:spPr>
          <a:xfrm>
            <a:off x="533400" y="381000"/>
            <a:ext cx="116586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CONTROL DE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533400" y="552450"/>
            <a:ext cx="116586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Gestión de riesgos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8"/>
          <p:cNvSpPr txBox="1"/>
          <p:nvPr/>
        </p:nvSpPr>
        <p:spPr>
          <a:xfrm>
            <a:off x="723900" y="6238875"/>
            <a:ext cx="114681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Nota: Estos riesgos potenciales han sido identificados para su prevención y control continuo durante la ejecución del proyecto.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9"/>
          <p:cNvSpPr/>
          <p:nvPr/>
        </p:nvSpPr>
        <p:spPr>
          <a:xfrm>
            <a:off x="571400" y="6380725"/>
            <a:ext cx="11049000" cy="400200"/>
          </a:xfrm>
          <a:prstGeom prst="roundRect">
            <a:avLst>
              <a:gd fmla="val 1904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9" name="Google Shape;30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20813" y="3071812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81538" y="307181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47187" y="3071812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9"/>
          <p:cNvSpPr txBox="1"/>
          <p:nvPr/>
        </p:nvSpPr>
        <p:spPr>
          <a:xfrm>
            <a:off x="571500" y="419100"/>
            <a:ext cx="116205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EVIDENCIA VISUAL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9"/>
          <p:cNvSpPr txBox="1"/>
          <p:nvPr/>
        </p:nvSpPr>
        <p:spPr>
          <a:xfrm>
            <a:off x="571500" y="590550"/>
            <a:ext cx="11620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Avances de la aplicación móvil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-279896" y="6504550"/>
            <a:ext cx="127515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Interfaces desarrolladas con Ionic, Angular y Capacitor para la plataforma móvil de FerreMundo.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1730275" y="3509962"/>
            <a:ext cx="12382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CAPTURA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1696938" y="3738562"/>
            <a:ext cx="13049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Inicio de sesión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5476726" y="3683911"/>
            <a:ext cx="123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CAPTURA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5161210" y="3928374"/>
            <a:ext cx="1869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Catálogo de productos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9"/>
          <p:cNvSpPr txBox="1"/>
          <p:nvPr/>
        </p:nvSpPr>
        <p:spPr>
          <a:xfrm>
            <a:off x="9223325" y="3509962"/>
            <a:ext cx="12382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CAPTURA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9"/>
          <p:cNvSpPr txBox="1"/>
          <p:nvPr/>
        </p:nvSpPr>
        <p:spPr>
          <a:xfrm>
            <a:off x="8764934" y="3738562"/>
            <a:ext cx="215503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Gestión de carrito / Detalle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1" name="Google Shape;321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7750" y="1003175"/>
            <a:ext cx="3343275" cy="537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81750" y="1003175"/>
            <a:ext cx="3723400" cy="537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258350" y="1003175"/>
            <a:ext cx="3786075" cy="50871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0"/>
          <p:cNvSpPr/>
          <p:nvPr/>
        </p:nvSpPr>
        <p:spPr>
          <a:xfrm>
            <a:off x="571400" y="6380725"/>
            <a:ext cx="11049000" cy="400200"/>
          </a:xfrm>
          <a:prstGeom prst="roundRect">
            <a:avLst>
              <a:gd fmla="val 1904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9" name="Google Shape;32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20813" y="3071812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7187" y="3071812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0"/>
          <p:cNvSpPr txBox="1"/>
          <p:nvPr/>
        </p:nvSpPr>
        <p:spPr>
          <a:xfrm>
            <a:off x="571500" y="419100"/>
            <a:ext cx="116205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EVIDENCIA VISUAL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0"/>
          <p:cNvSpPr txBox="1"/>
          <p:nvPr/>
        </p:nvSpPr>
        <p:spPr>
          <a:xfrm>
            <a:off x="571500" y="590550"/>
            <a:ext cx="11620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Avances del Sitio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0"/>
          <p:cNvSpPr txBox="1"/>
          <p:nvPr/>
        </p:nvSpPr>
        <p:spPr>
          <a:xfrm>
            <a:off x="-279896" y="6504550"/>
            <a:ext cx="127515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Interfaces desarrolladas con Ionic, Angular y Capacitor para la plataforma móvil de FerreMundo.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0"/>
          <p:cNvSpPr txBox="1"/>
          <p:nvPr/>
        </p:nvSpPr>
        <p:spPr>
          <a:xfrm>
            <a:off x="1730275" y="3509962"/>
            <a:ext cx="123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CAPTURA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0"/>
          <p:cNvSpPr txBox="1"/>
          <p:nvPr/>
        </p:nvSpPr>
        <p:spPr>
          <a:xfrm>
            <a:off x="1696938" y="3738562"/>
            <a:ext cx="1305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Inicio de sesión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9223325" y="3509962"/>
            <a:ext cx="123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[ CAPTURA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8764934" y="3738562"/>
            <a:ext cx="2154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Gestión de carrito / Detalle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8" name="Google Shape;33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4150" y="1531350"/>
            <a:ext cx="5508376" cy="369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85500" y="1531350"/>
            <a:ext cx="5311876" cy="369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1"/>
          <p:cNvSpPr/>
          <p:nvPr/>
        </p:nvSpPr>
        <p:spPr>
          <a:xfrm>
            <a:off x="609600" y="6419850"/>
            <a:ext cx="109728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9468575" y="126150"/>
            <a:ext cx="1971600" cy="238200"/>
          </a:xfrm>
          <a:prstGeom prst="roundRect">
            <a:avLst>
              <a:gd fmla="val 24000" name="adj"/>
            </a:avLst>
          </a:prstGeom>
          <a:solidFill>
            <a:srgbClr val="FEF3C7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609600" y="6419850"/>
            <a:ext cx="10972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295850" y="447700"/>
            <a:ext cx="5881200" cy="838200"/>
          </a:xfrm>
          <a:prstGeom prst="roundRect">
            <a:avLst>
              <a:gd fmla="val 11363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5520716" y="1401638"/>
            <a:ext cx="4901100" cy="1147800"/>
          </a:xfrm>
          <a:prstGeom prst="roundRect">
            <a:avLst>
              <a:gd fmla="val 663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295841" y="1407337"/>
            <a:ext cx="4901100" cy="1147800"/>
          </a:xfrm>
          <a:prstGeom prst="roundRect">
            <a:avLst>
              <a:gd fmla="val 663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295850" y="447700"/>
            <a:ext cx="57300" cy="838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5643966" y="2763975"/>
            <a:ext cx="4901100" cy="9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5520716" y="1401638"/>
            <a:ext cx="4901100" cy="9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5535966" y="1401638"/>
            <a:ext cx="38100" cy="11478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419091" y="2769675"/>
            <a:ext cx="4901100" cy="9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295841" y="1407337"/>
            <a:ext cx="38100" cy="1147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 txBox="1"/>
          <p:nvPr/>
        </p:nvSpPr>
        <p:spPr>
          <a:xfrm>
            <a:off x="9601775" y="175950"/>
            <a:ext cx="1838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ESTADO DE AVANCE &amp; GITHUB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1"/>
          <p:cNvSpPr txBox="1"/>
          <p:nvPr/>
        </p:nvSpPr>
        <p:spPr>
          <a:xfrm>
            <a:off x="609600" y="6524625"/>
            <a:ext cx="2131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FerreMundo • CAPSTONE_011V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1"/>
          <p:cNvSpPr txBox="1"/>
          <p:nvPr/>
        </p:nvSpPr>
        <p:spPr>
          <a:xfrm>
            <a:off x="9496425" y="6524625"/>
            <a:ext cx="260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Diapositiva 10 — Seguimiento y Equipo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1"/>
          <p:cNvSpPr txBox="1"/>
          <p:nvPr/>
        </p:nvSpPr>
        <p:spPr>
          <a:xfrm>
            <a:off x="486350" y="118800"/>
            <a:ext cx="5819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Seguimiento del Proyecto — Semana 11</a:t>
            </a:r>
            <a:endParaRPr b="1" i="0" sz="1500" u="none" cap="none" strike="noStrike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0" name="Google Shape;360;p11"/>
          <p:cNvSpPr txBox="1"/>
          <p:nvPr/>
        </p:nvSpPr>
        <p:spPr>
          <a:xfrm>
            <a:off x="6279566" y="1074825"/>
            <a:ext cx="55107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APORTES Y RESPONSABILIDADES DEL EQUIPO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1"/>
          <p:cNvSpPr txBox="1"/>
          <p:nvPr/>
        </p:nvSpPr>
        <p:spPr>
          <a:xfrm>
            <a:off x="543500" y="704875"/>
            <a:ext cx="1866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Estado Global Estimado </a:t>
            </a:r>
            <a:r>
              <a:rPr b="1" i="0" lang="en-US" sz="9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Meta de presentación Semana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1"/>
          <p:cNvSpPr txBox="1"/>
          <p:nvPr/>
        </p:nvSpPr>
        <p:spPr>
          <a:xfrm>
            <a:off x="5005516" y="600100"/>
            <a:ext cx="9810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68 % </a:t>
            </a:r>
            <a:r>
              <a:rPr b="1" i="0" lang="en-US" sz="7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Avance Solicitado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1"/>
          <p:cNvSpPr txBox="1"/>
          <p:nvPr/>
        </p:nvSpPr>
        <p:spPr>
          <a:xfrm>
            <a:off x="5692166" y="1544513"/>
            <a:ext cx="533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Jonatan Gordillo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1"/>
          <p:cNvSpPr txBox="1"/>
          <p:nvPr/>
        </p:nvSpPr>
        <p:spPr>
          <a:xfrm>
            <a:off x="5692166" y="1725488"/>
            <a:ext cx="5339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Desarrollo y QA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1"/>
          <p:cNvSpPr txBox="1"/>
          <p:nvPr/>
        </p:nvSpPr>
        <p:spPr>
          <a:xfrm>
            <a:off x="428466" y="1388237"/>
            <a:ext cx="533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Alan Cruz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1"/>
          <p:cNvSpPr txBox="1"/>
          <p:nvPr/>
        </p:nvSpPr>
        <p:spPr>
          <a:xfrm>
            <a:off x="428466" y="1569212"/>
            <a:ext cx="5339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Jefe de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1"/>
          <p:cNvSpPr txBox="1"/>
          <p:nvPr/>
        </p:nvSpPr>
        <p:spPr>
          <a:xfrm>
            <a:off x="5787416" y="1932656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1"/>
          <p:cNvSpPr txBox="1"/>
          <p:nvPr/>
        </p:nvSpPr>
        <p:spPr>
          <a:xfrm>
            <a:off x="5844566" y="1935038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Desarrollo de funcionalidades backend y componentes frontend.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1"/>
          <p:cNvSpPr txBox="1"/>
          <p:nvPr/>
        </p:nvSpPr>
        <p:spPr>
          <a:xfrm>
            <a:off x="5787416" y="2089819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1"/>
          <p:cNvSpPr txBox="1"/>
          <p:nvPr/>
        </p:nvSpPr>
        <p:spPr>
          <a:xfrm>
            <a:off x="5844566" y="2092200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Apoyo en diseño de casos de prueba y verificación QA.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1"/>
          <p:cNvSpPr txBox="1"/>
          <p:nvPr/>
        </p:nvSpPr>
        <p:spPr>
          <a:xfrm>
            <a:off x="5787416" y="2246981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1"/>
          <p:cNvSpPr txBox="1"/>
          <p:nvPr/>
        </p:nvSpPr>
        <p:spPr>
          <a:xfrm>
            <a:off x="5844566" y="2249363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Evidencias de código y avances registrados en commits.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1"/>
          <p:cNvSpPr txBox="1"/>
          <p:nvPr/>
        </p:nvSpPr>
        <p:spPr>
          <a:xfrm>
            <a:off x="562541" y="1938356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1"/>
          <p:cNvSpPr txBox="1"/>
          <p:nvPr/>
        </p:nvSpPr>
        <p:spPr>
          <a:xfrm>
            <a:off x="580866" y="1778762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Coordinación general y seguimiento de la Carta Gantt.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1"/>
          <p:cNvSpPr txBox="1"/>
          <p:nvPr/>
        </p:nvSpPr>
        <p:spPr>
          <a:xfrm>
            <a:off x="562541" y="2095518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1"/>
          <p:cNvSpPr txBox="1"/>
          <p:nvPr/>
        </p:nvSpPr>
        <p:spPr>
          <a:xfrm>
            <a:off x="580866" y="1935925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Planificación de entregables y organización de tareas.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1"/>
          <p:cNvSpPr txBox="1"/>
          <p:nvPr/>
        </p:nvSpPr>
        <p:spPr>
          <a:xfrm>
            <a:off x="562541" y="2252681"/>
            <a:ext cx="57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1"/>
          <p:cNvSpPr txBox="1"/>
          <p:nvPr/>
        </p:nvSpPr>
        <p:spPr>
          <a:xfrm>
            <a:off x="580866" y="2093087"/>
            <a:ext cx="5186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Gestión de documentación y evidencias del proyecto.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9" name="Google Shape;379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875" y="2567000"/>
            <a:ext cx="11690652" cy="395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2"/>
          <p:cNvSpPr/>
          <p:nvPr/>
        </p:nvSpPr>
        <p:spPr>
          <a:xfrm>
            <a:off x="966125" y="1225350"/>
            <a:ext cx="5181600" cy="4886400"/>
          </a:xfrm>
          <a:prstGeom prst="roundRect">
            <a:avLst>
              <a:gd fmla="val 2339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6248475" y="1167975"/>
            <a:ext cx="5181600" cy="5156700"/>
          </a:xfrm>
          <a:prstGeom prst="roundRect">
            <a:avLst>
              <a:gd fmla="val 2339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1038225" y="1714500"/>
            <a:ext cx="46293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6524625" y="1714500"/>
            <a:ext cx="46293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1038225" y="2057400"/>
            <a:ext cx="46293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6524625" y="2057400"/>
            <a:ext cx="46293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90" name="Google Shape;39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82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1" name="Google Shape;39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46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2" name="Google Shape;392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2860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3" name="Google Shape;393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60032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4" name="Google Shape;39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91465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5" name="Google Shape;39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322897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6" name="Google Shape;396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35433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7" name="Google Shape;397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2860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8" name="Google Shape;398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58127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9" name="Google Shape;399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87655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0" name="Google Shape;400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17182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1" name="Google Shape;401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4671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2" name="Google Shape;40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762375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12"/>
          <p:cNvSpPr txBox="1"/>
          <p:nvPr/>
        </p:nvSpPr>
        <p:spPr>
          <a:xfrm>
            <a:off x="762000" y="533400"/>
            <a:ext cx="1143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rPr>
              <a:t>SEGUIMIENTO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2"/>
          <p:cNvSpPr txBox="1"/>
          <p:nvPr/>
        </p:nvSpPr>
        <p:spPr>
          <a:xfrm>
            <a:off x="762000" y="752475"/>
            <a:ext cx="1143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Estado Actual — Semana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2"/>
          <p:cNvSpPr txBox="1"/>
          <p:nvPr/>
        </p:nvSpPr>
        <p:spPr>
          <a:xfrm>
            <a:off x="1343025" y="1714500"/>
            <a:ext cx="31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COMPLETADO / DEFINIDO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2"/>
          <p:cNvSpPr txBox="1"/>
          <p:nvPr/>
        </p:nvSpPr>
        <p:spPr>
          <a:xfrm>
            <a:off x="1038225" y="2266950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Modelo de datos y modelo entidad-relación definidos.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12"/>
          <p:cNvSpPr txBox="1"/>
          <p:nvPr/>
        </p:nvSpPr>
        <p:spPr>
          <a:xfrm>
            <a:off x="1038225" y="2581275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Casos de uso y arquitectura del sistema documentados.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12"/>
          <p:cNvSpPr txBox="1"/>
          <p:nvPr/>
        </p:nvSpPr>
        <p:spPr>
          <a:xfrm>
            <a:off x="1038225" y="2895600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Backend Django y API REST desarrollados.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12"/>
          <p:cNvSpPr txBox="1"/>
          <p:nvPr/>
        </p:nvSpPr>
        <p:spPr>
          <a:xfrm>
            <a:off x="1038225" y="3209925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Casos de prueba documentados.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0" name="Google Shape;410;p12"/>
          <p:cNvSpPr txBox="1"/>
          <p:nvPr/>
        </p:nvSpPr>
        <p:spPr>
          <a:xfrm>
            <a:off x="1038225" y="3524250"/>
            <a:ext cx="578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Avances en el web y móvil.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1" name="Google Shape;411;p12"/>
          <p:cNvSpPr txBox="1"/>
          <p:nvPr/>
        </p:nvSpPr>
        <p:spPr>
          <a:xfrm>
            <a:off x="6829425" y="1714500"/>
            <a:ext cx="22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2"/>
          <p:cNvSpPr txBox="1"/>
          <p:nvPr/>
        </p:nvSpPr>
        <p:spPr>
          <a:xfrm>
            <a:off x="6524625" y="226695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Continuar el desarrollo de las plataformas web y móvil.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3" name="Google Shape;413;p12"/>
          <p:cNvSpPr txBox="1"/>
          <p:nvPr/>
        </p:nvSpPr>
        <p:spPr>
          <a:xfrm>
            <a:off x="6524625" y="2562225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Completar y verificar la integración con la API REST.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12"/>
          <p:cNvSpPr txBox="1"/>
          <p:nvPr/>
        </p:nvSpPr>
        <p:spPr>
          <a:xfrm>
            <a:off x="6524625" y="285750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Desarrollar el módulo Carrito (Semana 14).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5" name="Google Shape;415;p12"/>
          <p:cNvSpPr txBox="1"/>
          <p:nvPr/>
        </p:nvSpPr>
        <p:spPr>
          <a:xfrm>
            <a:off x="6524625" y="3152775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Implementar el Checkout en entorno de prueba.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6" name="Google Shape;416;p12"/>
          <p:cNvSpPr txBox="1"/>
          <p:nvPr/>
        </p:nvSpPr>
        <p:spPr>
          <a:xfrm>
            <a:off x="6524625" y="344805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Completar el portal de administración y el CRUD de inventario.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7" name="Google Shape;417;p12"/>
          <p:cNvSpPr txBox="1"/>
          <p:nvPr/>
        </p:nvSpPr>
        <p:spPr>
          <a:xfrm>
            <a:off x="6524625" y="3743325"/>
            <a:ext cx="5667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Pruebas QA y despliegue final en Render.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917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3"/>
          <p:cNvSpPr/>
          <p:nvPr/>
        </p:nvSpPr>
        <p:spPr>
          <a:xfrm>
            <a:off x="6124575" y="3562350"/>
            <a:ext cx="9525" cy="381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 txBox="1"/>
          <p:nvPr/>
        </p:nvSpPr>
        <p:spPr>
          <a:xfrm>
            <a:off x="3958232" y="1809750"/>
            <a:ext cx="4275534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FerreMundo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3"/>
          <p:cNvSpPr txBox="1"/>
          <p:nvPr/>
        </p:nvSpPr>
        <p:spPr>
          <a:xfrm>
            <a:off x="1928812" y="2609850"/>
            <a:ext cx="8334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D3D1"/>
                </a:solidFill>
                <a:latin typeface="Inter"/>
                <a:ea typeface="Inter"/>
                <a:cs typeface="Inter"/>
                <a:sym typeface="Inter"/>
              </a:rPr>
              <a:t>Sistema integrado para la gestión y comercialización de productos de la Ferretería ConstruMax.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3"/>
          <p:cNvSpPr txBox="1"/>
          <p:nvPr/>
        </p:nvSpPr>
        <p:spPr>
          <a:xfrm>
            <a:off x="3140273" y="4400550"/>
            <a:ext cx="591145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78716C"/>
                </a:solidFill>
                <a:latin typeface="Inter"/>
                <a:ea typeface="Inter"/>
                <a:cs typeface="Inter"/>
                <a:sym typeface="Inter"/>
              </a:rPr>
              <a:t>CAPSTONE_011V — INGENIERÍA EN INFORMÁTICA •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3"/>
          <p:cNvSpPr txBox="1"/>
          <p:nvPr/>
        </p:nvSpPr>
        <p:spPr>
          <a:xfrm>
            <a:off x="5202138" y="4676775"/>
            <a:ext cx="1787723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¡Gracias!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3"/>
          <p:cNvSpPr txBox="1"/>
          <p:nvPr/>
        </p:nvSpPr>
        <p:spPr>
          <a:xfrm>
            <a:off x="4533900" y="3562350"/>
            <a:ext cx="14287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Jonatan Gordillo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3"/>
          <p:cNvSpPr txBox="1"/>
          <p:nvPr/>
        </p:nvSpPr>
        <p:spPr>
          <a:xfrm>
            <a:off x="4533900" y="3781425"/>
            <a:ext cx="14287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Desarrollo &amp; QA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3"/>
          <p:cNvSpPr txBox="1"/>
          <p:nvPr/>
        </p:nvSpPr>
        <p:spPr>
          <a:xfrm>
            <a:off x="6296025" y="3562350"/>
            <a:ext cx="13620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AFAF9"/>
                </a:solidFill>
                <a:latin typeface="Inter"/>
                <a:ea typeface="Inter"/>
                <a:cs typeface="Inter"/>
                <a:sym typeface="Inter"/>
              </a:rPr>
              <a:t>Alan Cruz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3"/>
          <p:cNvSpPr txBox="1"/>
          <p:nvPr/>
        </p:nvSpPr>
        <p:spPr>
          <a:xfrm>
            <a:off x="6296025" y="3781425"/>
            <a:ext cx="13620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A8A29E"/>
                </a:solidFill>
                <a:latin typeface="Inter"/>
                <a:ea typeface="Inter"/>
                <a:cs typeface="Inter"/>
                <a:sym typeface="Inter"/>
              </a:rPr>
              <a:t>Jefe de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