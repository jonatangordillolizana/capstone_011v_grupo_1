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y="6858000" cx="12192000"/>
  <p:notesSz cx="6858000" cy="9144000"/>
  <p:embeddedFontLst>
    <p:embeddedFont>
      <p:font typeface="Inter"/>
      <p:regular r:id="rId16"/>
      <p:bold r:id="rId17"/>
      <p:italic r:id="rId18"/>
      <p:boldItalic r:id="rId19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F769D09F-3651-450B-A40E-085665F207FF}">
  <a:tblStyle styleId="{F769D09F-3651-450B-A40E-085665F207FF}" styleName="Table_0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font" Target="fonts/Inter-bold.fntdata"/><Relationship Id="rId16" Type="http://schemas.openxmlformats.org/officeDocument/2006/relationships/font" Target="fonts/Inter-regular.fntdata"/><Relationship Id="rId5" Type="http://schemas.openxmlformats.org/officeDocument/2006/relationships/slideMaster" Target="slideMasters/slideMaster1.xml"/><Relationship Id="rId19" Type="http://schemas.openxmlformats.org/officeDocument/2006/relationships/font" Target="fonts/Inter-boldItalic.fntdata"/><Relationship Id="rId6" Type="http://schemas.openxmlformats.org/officeDocument/2006/relationships/notesMaster" Target="notesMasters/notesMaster1.xml"/><Relationship Id="rId18" Type="http://schemas.openxmlformats.org/officeDocument/2006/relationships/font" Target="fonts/Inter-italic.fntdata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6" name="Google Shape;96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3" name="Google Shape;143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2" name="Google Shape;182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8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0" name="Google Shape;200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7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9" name="Google Shape;219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2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4" name="Google Shape;234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7" name="Shape 3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8" name="Google Shape;308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9" name="Google Shape;309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7" name="Shape 3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" name="Google Shape;348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9" name="Google Shape;349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5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6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6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7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7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7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7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9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9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0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1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2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3.png"/><Relationship Id="rId4" Type="http://schemas.openxmlformats.org/officeDocument/2006/relationships/image" Target="../media/image8.png"/><Relationship Id="rId5" Type="http://schemas.openxmlformats.org/officeDocument/2006/relationships/image" Target="../media/image1.png"/><Relationship Id="rId6" Type="http://schemas.openxmlformats.org/officeDocument/2006/relationships/image" Target="../media/image2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6.png"/><Relationship Id="rId4" Type="http://schemas.openxmlformats.org/officeDocument/2006/relationships/image" Target="../media/image17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1.png"/><Relationship Id="rId4" Type="http://schemas.openxmlformats.org/officeDocument/2006/relationships/image" Target="../media/image5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5.png"/><Relationship Id="rId4" Type="http://schemas.openxmlformats.org/officeDocument/2006/relationships/image" Target="../media/image12.png"/><Relationship Id="rId5" Type="http://schemas.openxmlformats.org/officeDocument/2006/relationships/image" Target="../media/image10.png"/><Relationship Id="rId6" Type="http://schemas.openxmlformats.org/officeDocument/2006/relationships/image" Target="../media/image13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1" Type="http://schemas.openxmlformats.org/officeDocument/2006/relationships/image" Target="../media/image28.png"/><Relationship Id="rId10" Type="http://schemas.openxmlformats.org/officeDocument/2006/relationships/image" Target="../media/image18.png"/><Relationship Id="rId13" Type="http://schemas.openxmlformats.org/officeDocument/2006/relationships/image" Target="../media/image23.png"/><Relationship Id="rId12" Type="http://schemas.openxmlformats.org/officeDocument/2006/relationships/image" Target="../media/image25.png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4.png"/><Relationship Id="rId4" Type="http://schemas.openxmlformats.org/officeDocument/2006/relationships/image" Target="../media/image4.png"/><Relationship Id="rId9" Type="http://schemas.openxmlformats.org/officeDocument/2006/relationships/image" Target="../media/image26.png"/><Relationship Id="rId15" Type="http://schemas.openxmlformats.org/officeDocument/2006/relationships/image" Target="../media/image29.png"/><Relationship Id="rId14" Type="http://schemas.openxmlformats.org/officeDocument/2006/relationships/image" Target="../media/image21.png"/><Relationship Id="rId5" Type="http://schemas.openxmlformats.org/officeDocument/2006/relationships/image" Target="../media/image9.png"/><Relationship Id="rId6" Type="http://schemas.openxmlformats.org/officeDocument/2006/relationships/image" Target="../media/image16.png"/><Relationship Id="rId7" Type="http://schemas.openxmlformats.org/officeDocument/2006/relationships/image" Target="../media/image22.png"/><Relationship Id="rId8" Type="http://schemas.openxmlformats.org/officeDocument/2006/relationships/image" Target="../media/image20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27.png"/><Relationship Id="rId4" Type="http://schemas.openxmlformats.org/officeDocument/2006/relationships/image" Target="../media/image19.png"/><Relationship Id="rId5" Type="http://schemas.openxmlformats.org/officeDocument/2006/relationships/image" Target="../media/image24.png"/><Relationship Id="rId6" Type="http://schemas.openxmlformats.org/officeDocument/2006/relationships/image" Target="../media/image30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C1917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3"/>
          <p:cNvSpPr/>
          <p:nvPr/>
        </p:nvSpPr>
        <p:spPr>
          <a:xfrm>
            <a:off x="762000" y="3868935"/>
            <a:ext cx="10668000" cy="9525"/>
          </a:xfrm>
          <a:prstGeom prst="rect">
            <a:avLst/>
          </a:prstGeom>
          <a:solidFill>
            <a:srgbClr val="FFFFFF">
              <a:alpha val="14902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" name="Google Shape;85;p13"/>
          <p:cNvSpPr/>
          <p:nvPr/>
        </p:nvSpPr>
        <p:spPr>
          <a:xfrm>
            <a:off x="762000" y="2050702"/>
            <a:ext cx="114300" cy="114300"/>
          </a:xfrm>
          <a:prstGeom prst="roundRect">
            <a:avLst>
              <a:gd fmla="val 16666" name="adj"/>
            </a:avLst>
          </a:prstGeom>
          <a:solidFill>
            <a:srgbClr val="F59E0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" name="Google Shape;86;p13"/>
          <p:cNvSpPr txBox="1"/>
          <p:nvPr/>
        </p:nvSpPr>
        <p:spPr>
          <a:xfrm>
            <a:off x="762000" y="2388840"/>
            <a:ext cx="11430000" cy="6704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800" u="none" cap="none" strike="noStrike">
                <a:solidFill>
                  <a:srgbClr val="FAFAF9"/>
                </a:solidFill>
                <a:latin typeface="Inter"/>
                <a:ea typeface="Inter"/>
                <a:cs typeface="Inter"/>
                <a:sym typeface="Inter"/>
              </a:rPr>
              <a:t>FerreMundo</a:t>
            </a:r>
            <a:endParaRPr/>
          </a:p>
        </p:txBody>
      </p:sp>
      <p:sp>
        <p:nvSpPr>
          <p:cNvPr id="87" name="Google Shape;87;p13"/>
          <p:cNvSpPr txBox="1"/>
          <p:nvPr/>
        </p:nvSpPr>
        <p:spPr>
          <a:xfrm>
            <a:off x="762000" y="3211710"/>
            <a:ext cx="11430000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D6D3D1"/>
                </a:solidFill>
                <a:latin typeface="Inter"/>
                <a:ea typeface="Inter"/>
                <a:cs typeface="Inter"/>
                <a:sym typeface="Inter"/>
              </a:rPr>
              <a:t>Seguimiento Semana 8 — Proyecto Ferretería ConstruMax</a:t>
            </a:r>
            <a:endParaRPr/>
          </a:p>
        </p:txBody>
      </p:sp>
      <p:sp>
        <p:nvSpPr>
          <p:cNvPr id="88" name="Google Shape;88;p13"/>
          <p:cNvSpPr txBox="1"/>
          <p:nvPr/>
        </p:nvSpPr>
        <p:spPr>
          <a:xfrm>
            <a:off x="990600" y="2017365"/>
            <a:ext cx="5976937" cy="1809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25" u="none" cap="none" strike="noStrike">
                <a:solidFill>
                  <a:srgbClr val="F59E0B"/>
                </a:solidFill>
                <a:latin typeface="Inter"/>
                <a:ea typeface="Inter"/>
                <a:cs typeface="Inter"/>
                <a:sym typeface="Inter"/>
              </a:rPr>
              <a:t>CAPSTONE_011V — INGENIERÍA EN INFORMÁTICA • DUOC UC</a:t>
            </a:r>
            <a:endParaRPr/>
          </a:p>
        </p:txBody>
      </p:sp>
      <p:sp>
        <p:nvSpPr>
          <p:cNvPr id="89" name="Google Shape;89;p13"/>
          <p:cNvSpPr txBox="1"/>
          <p:nvPr/>
        </p:nvSpPr>
        <p:spPr>
          <a:xfrm>
            <a:off x="762000" y="4183260"/>
            <a:ext cx="3202781" cy="161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A8A29E"/>
                </a:solidFill>
                <a:latin typeface="Inter"/>
                <a:ea typeface="Inter"/>
                <a:cs typeface="Inter"/>
                <a:sym typeface="Inter"/>
              </a:rPr>
              <a:t>INTEGRANTES DEL EQUIPO</a:t>
            </a:r>
            <a:endParaRPr/>
          </a:p>
        </p:txBody>
      </p:sp>
      <p:sp>
        <p:nvSpPr>
          <p:cNvPr id="90" name="Google Shape;90;p13"/>
          <p:cNvSpPr txBox="1"/>
          <p:nvPr/>
        </p:nvSpPr>
        <p:spPr>
          <a:xfrm>
            <a:off x="762000" y="4402335"/>
            <a:ext cx="32028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b="1" lang="en-US" sz="1350">
                <a:solidFill>
                  <a:srgbClr val="FAFAF9"/>
                </a:solidFill>
                <a:latin typeface="Inter"/>
                <a:ea typeface="Inter"/>
                <a:cs typeface="Inter"/>
                <a:sym typeface="Inter"/>
              </a:rPr>
              <a:t>Alan Cruz </a:t>
            </a:r>
            <a:r>
              <a:rPr lang="en-US" sz="1125">
                <a:solidFill>
                  <a:srgbClr val="A8A29E"/>
                </a:solidFill>
                <a:latin typeface="Inter"/>
                <a:ea typeface="Inter"/>
                <a:cs typeface="Inter"/>
                <a:sym typeface="Inter"/>
              </a:rPr>
              <a:t>(Jefe de Proyecto)</a:t>
            </a:r>
            <a:endParaRPr>
              <a:solidFill>
                <a:schemeClr val="dk1"/>
              </a:solidFill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350">
              <a:solidFill>
                <a:srgbClr val="FAFAF9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91" name="Google Shape;91;p13"/>
          <p:cNvSpPr txBox="1"/>
          <p:nvPr/>
        </p:nvSpPr>
        <p:spPr>
          <a:xfrm>
            <a:off x="762000" y="4640460"/>
            <a:ext cx="32028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350">
                <a:solidFill>
                  <a:srgbClr val="FAFAF9"/>
                </a:solidFill>
                <a:latin typeface="Inter"/>
                <a:ea typeface="Inter"/>
                <a:cs typeface="Inter"/>
                <a:sym typeface="Inter"/>
              </a:rPr>
              <a:t>Jonatan Gordillo </a:t>
            </a:r>
            <a:r>
              <a:rPr b="0" i="0" lang="en-US" sz="1125" u="none" cap="none" strike="noStrike">
                <a:solidFill>
                  <a:srgbClr val="A8A29E"/>
                </a:solidFill>
                <a:latin typeface="Inter"/>
                <a:ea typeface="Inter"/>
                <a:cs typeface="Inter"/>
                <a:sym typeface="Inter"/>
              </a:rPr>
              <a:t>(</a:t>
            </a:r>
            <a:r>
              <a:rPr lang="en-US" sz="1125">
                <a:solidFill>
                  <a:srgbClr val="A8A29E"/>
                </a:solidFill>
                <a:latin typeface="Inter"/>
                <a:ea typeface="Inter"/>
                <a:cs typeface="Inter"/>
                <a:sym typeface="Inter"/>
              </a:rPr>
              <a:t>Desarrollo  &amp; QA</a:t>
            </a:r>
            <a:r>
              <a:rPr b="0" i="0" lang="en-US" sz="1125" u="none" cap="none" strike="noStrike">
                <a:solidFill>
                  <a:srgbClr val="A8A29E"/>
                </a:solidFill>
                <a:latin typeface="Inter"/>
                <a:ea typeface="Inter"/>
                <a:cs typeface="Inter"/>
                <a:sym typeface="Inter"/>
              </a:rPr>
              <a:t>)</a:t>
            </a:r>
            <a:endParaRPr/>
          </a:p>
        </p:txBody>
      </p:sp>
      <p:sp>
        <p:nvSpPr>
          <p:cNvPr id="92" name="Google Shape;92;p13"/>
          <p:cNvSpPr txBox="1"/>
          <p:nvPr/>
        </p:nvSpPr>
        <p:spPr>
          <a:xfrm>
            <a:off x="8181975" y="4183260"/>
            <a:ext cx="4010025" cy="161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A8A29E"/>
                </a:solidFill>
                <a:latin typeface="Inter"/>
                <a:ea typeface="Inter"/>
                <a:cs typeface="Inter"/>
                <a:sym typeface="Inter"/>
              </a:rPr>
              <a:t>PROFESOR GUÍA</a:t>
            </a:r>
            <a:endParaRPr/>
          </a:p>
        </p:txBody>
      </p:sp>
      <p:sp>
        <p:nvSpPr>
          <p:cNvPr id="93" name="Google Shape;93;p13"/>
          <p:cNvSpPr txBox="1"/>
          <p:nvPr/>
        </p:nvSpPr>
        <p:spPr>
          <a:xfrm>
            <a:off x="8181975" y="4402335"/>
            <a:ext cx="4010025" cy="200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FAFAF9"/>
                </a:solidFill>
                <a:latin typeface="Inter"/>
                <a:ea typeface="Inter"/>
                <a:cs typeface="Inter"/>
                <a:sym typeface="Inter"/>
              </a:rPr>
              <a:t>Fernando Gonzalo Herrera Francesconi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14"/>
          <p:cNvSpPr/>
          <p:nvPr/>
        </p:nvSpPr>
        <p:spPr>
          <a:xfrm>
            <a:off x="685800" y="1333500"/>
            <a:ext cx="10820400" cy="1043880"/>
          </a:xfrm>
          <a:prstGeom prst="roundRect">
            <a:avLst>
              <a:gd fmla="val 7299" name="adj"/>
            </a:avLst>
          </a:prstGeom>
          <a:solidFill>
            <a:srgbClr val="FFFBE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" name="Google Shape;99;p14"/>
          <p:cNvSpPr/>
          <p:nvPr/>
        </p:nvSpPr>
        <p:spPr>
          <a:xfrm>
            <a:off x="685800" y="2367855"/>
            <a:ext cx="10820400" cy="9525"/>
          </a:xfrm>
          <a:prstGeom prst="rect">
            <a:avLst/>
          </a:prstGeom>
          <a:solidFill>
            <a:srgbClr val="FDE68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" name="Google Shape;100;p14"/>
          <p:cNvSpPr/>
          <p:nvPr/>
        </p:nvSpPr>
        <p:spPr>
          <a:xfrm>
            <a:off x="685800" y="1333500"/>
            <a:ext cx="10820400" cy="9525"/>
          </a:xfrm>
          <a:prstGeom prst="rect">
            <a:avLst/>
          </a:prstGeom>
          <a:solidFill>
            <a:srgbClr val="FDE68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" name="Google Shape;101;p14"/>
          <p:cNvSpPr/>
          <p:nvPr/>
        </p:nvSpPr>
        <p:spPr>
          <a:xfrm>
            <a:off x="685800" y="1333500"/>
            <a:ext cx="47625" cy="104388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" name="Google Shape;102;p14"/>
          <p:cNvSpPr/>
          <p:nvPr/>
        </p:nvSpPr>
        <p:spPr>
          <a:xfrm>
            <a:off x="11496675" y="1333500"/>
            <a:ext cx="9525" cy="1043880"/>
          </a:xfrm>
          <a:prstGeom prst="rect">
            <a:avLst/>
          </a:prstGeom>
          <a:solidFill>
            <a:srgbClr val="FDE68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" name="Google Shape;103;p14"/>
          <p:cNvSpPr/>
          <p:nvPr/>
        </p:nvSpPr>
        <p:spPr>
          <a:xfrm>
            <a:off x="685800" y="5457825"/>
            <a:ext cx="5295900" cy="904875"/>
          </a:xfrm>
          <a:prstGeom prst="roundRect">
            <a:avLst>
              <a:gd fmla="val 8421" name="adj"/>
            </a:avLst>
          </a:prstGeom>
          <a:solidFill>
            <a:srgbClr val="F8FAFC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" name="Google Shape;104;p14"/>
          <p:cNvSpPr/>
          <p:nvPr/>
        </p:nvSpPr>
        <p:spPr>
          <a:xfrm>
            <a:off x="6210300" y="5457825"/>
            <a:ext cx="5295900" cy="904875"/>
          </a:xfrm>
          <a:prstGeom prst="roundRect">
            <a:avLst>
              <a:gd fmla="val 8421" name="adj"/>
            </a:avLst>
          </a:prstGeom>
          <a:solidFill>
            <a:srgbClr val="F8FAFC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" name="Google Shape;105;p14"/>
          <p:cNvSpPr/>
          <p:nvPr/>
        </p:nvSpPr>
        <p:spPr>
          <a:xfrm>
            <a:off x="9144000" y="1693515"/>
            <a:ext cx="2124075" cy="333375"/>
          </a:xfrm>
          <a:prstGeom prst="roundRect">
            <a:avLst>
              <a:gd fmla="val 50000" name="adj"/>
            </a:avLst>
          </a:prstGeom>
          <a:solidFill>
            <a:srgbClr val="FEF3C7"/>
          </a:solidFill>
          <a:ln cap="flat" cmpd="sng" w="9525">
            <a:solidFill>
              <a:srgbClr val="F59E0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6" name="Google Shape;106;p14"/>
          <p:cNvSpPr/>
          <p:nvPr/>
        </p:nvSpPr>
        <p:spPr>
          <a:xfrm>
            <a:off x="685800" y="3034605"/>
            <a:ext cx="1514772" cy="847725"/>
          </a:xfrm>
          <a:prstGeom prst="roundRect">
            <a:avLst>
              <a:gd fmla="val 8988" name="adj"/>
            </a:avLst>
          </a:prstGeom>
          <a:solidFill>
            <a:srgbClr val="F1F5F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" name="Google Shape;107;p14"/>
          <p:cNvSpPr/>
          <p:nvPr/>
        </p:nvSpPr>
        <p:spPr>
          <a:xfrm>
            <a:off x="2486322" y="3082230"/>
            <a:ext cx="1817786" cy="752475"/>
          </a:xfrm>
          <a:prstGeom prst="roundRect">
            <a:avLst>
              <a:gd fmla="val 10126" name="adj"/>
            </a:avLst>
          </a:prstGeom>
          <a:solidFill>
            <a:srgbClr val="FEF3C7"/>
          </a:solidFill>
          <a:ln cap="flat" cmpd="sng" w="19050">
            <a:solidFill>
              <a:srgbClr val="F59E0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8" name="Google Shape;108;p14"/>
          <p:cNvSpPr/>
          <p:nvPr/>
        </p:nvSpPr>
        <p:spPr>
          <a:xfrm>
            <a:off x="4589859" y="3115567"/>
            <a:ext cx="1514772" cy="685800"/>
          </a:xfrm>
          <a:prstGeom prst="roundRect">
            <a:avLst>
              <a:gd fmla="val 11111" name="adj"/>
            </a:avLst>
          </a:prstGeom>
          <a:solidFill>
            <a:srgbClr val="F1F5F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9" name="Google Shape;109;p14"/>
          <p:cNvSpPr/>
          <p:nvPr/>
        </p:nvSpPr>
        <p:spPr>
          <a:xfrm>
            <a:off x="6390382" y="3115567"/>
            <a:ext cx="1514772" cy="685800"/>
          </a:xfrm>
          <a:prstGeom prst="roundRect">
            <a:avLst>
              <a:gd fmla="val 11111" name="adj"/>
            </a:avLst>
          </a:prstGeom>
          <a:solidFill>
            <a:srgbClr val="F1F5F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0" name="Google Shape;110;p14"/>
          <p:cNvSpPr/>
          <p:nvPr/>
        </p:nvSpPr>
        <p:spPr>
          <a:xfrm>
            <a:off x="8190904" y="3115567"/>
            <a:ext cx="1514772" cy="685800"/>
          </a:xfrm>
          <a:prstGeom prst="roundRect">
            <a:avLst>
              <a:gd fmla="val 11111" name="adj"/>
            </a:avLst>
          </a:prstGeom>
          <a:solidFill>
            <a:srgbClr val="F1F5F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" name="Google Shape;111;p14"/>
          <p:cNvSpPr/>
          <p:nvPr/>
        </p:nvSpPr>
        <p:spPr>
          <a:xfrm>
            <a:off x="9991427" y="3115567"/>
            <a:ext cx="1514772" cy="685800"/>
          </a:xfrm>
          <a:prstGeom prst="roundRect">
            <a:avLst>
              <a:gd fmla="val 11111" name="adj"/>
            </a:avLst>
          </a:prstGeom>
          <a:solidFill>
            <a:srgbClr val="F1F5F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112" name="Google Shape;112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295822" y="3382267"/>
            <a:ext cx="95250" cy="1524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3" name="Google Shape;113;p1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399359" y="3382267"/>
            <a:ext cx="95250" cy="1524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4" name="Google Shape;114;p1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199882" y="3382267"/>
            <a:ext cx="95250" cy="1524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5" name="Google Shape;115;p1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000404" y="3382267"/>
            <a:ext cx="95250" cy="1524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6" name="Google Shape;116;p1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9800927" y="3382267"/>
            <a:ext cx="95250" cy="1524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7" name="Google Shape;117;p1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923925" y="5657850"/>
            <a:ext cx="104775" cy="1428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8" name="Google Shape;118;p14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448425" y="5657850"/>
            <a:ext cx="142875" cy="142875"/>
          </a:xfrm>
          <a:prstGeom prst="rect">
            <a:avLst/>
          </a:prstGeom>
          <a:noFill/>
          <a:ln>
            <a:noFill/>
          </a:ln>
        </p:spPr>
      </p:pic>
      <p:sp>
        <p:nvSpPr>
          <p:cNvPr id="119" name="Google Shape;119;p14"/>
          <p:cNvSpPr txBox="1"/>
          <p:nvPr/>
        </p:nvSpPr>
        <p:spPr>
          <a:xfrm>
            <a:off x="685800" y="495300"/>
            <a:ext cx="11506200" cy="161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D97706"/>
                </a:solidFill>
                <a:latin typeface="Inter"/>
                <a:ea typeface="Inter"/>
                <a:cs typeface="Inter"/>
                <a:sym typeface="Inter"/>
              </a:rPr>
              <a:t>MARCO DE TRABAJO</a:t>
            </a:r>
            <a:endParaRPr/>
          </a:p>
        </p:txBody>
      </p:sp>
      <p:sp>
        <p:nvSpPr>
          <p:cNvPr id="120" name="Google Shape;120;p14"/>
          <p:cNvSpPr txBox="1"/>
          <p:nvPr/>
        </p:nvSpPr>
        <p:spPr>
          <a:xfrm>
            <a:off x="685800" y="714375"/>
            <a:ext cx="11506200" cy="3905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550" u="none" cap="none" strike="noStrike">
                <a:solidFill>
                  <a:srgbClr val="1C1917"/>
                </a:solidFill>
                <a:latin typeface="Inter"/>
                <a:ea typeface="Inter"/>
                <a:cs typeface="Inter"/>
                <a:sym typeface="Inter"/>
              </a:rPr>
              <a:t>Metodología del Proyecto</a:t>
            </a:r>
            <a:endParaRPr/>
          </a:p>
        </p:txBody>
      </p:sp>
      <p:sp>
        <p:nvSpPr>
          <p:cNvPr id="121" name="Google Shape;121;p14"/>
          <p:cNvSpPr txBox="1"/>
          <p:nvPr/>
        </p:nvSpPr>
        <p:spPr>
          <a:xfrm>
            <a:off x="685800" y="2682180"/>
            <a:ext cx="11506200" cy="1809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25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SECUENCIA DE LAS 6 ETAPAS DEL PROYECTO</a:t>
            </a:r>
            <a:endParaRPr/>
          </a:p>
        </p:txBody>
      </p:sp>
      <p:sp>
        <p:nvSpPr>
          <p:cNvPr id="122" name="Google Shape;122;p14"/>
          <p:cNvSpPr txBox="1"/>
          <p:nvPr/>
        </p:nvSpPr>
        <p:spPr>
          <a:xfrm>
            <a:off x="962025" y="1533525"/>
            <a:ext cx="9941718" cy="1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75" u="none" cap="none" strike="noStrike">
                <a:solidFill>
                  <a:srgbClr val="D97706"/>
                </a:solidFill>
                <a:latin typeface="Inter"/>
                <a:ea typeface="Inter"/>
                <a:cs typeface="Inter"/>
                <a:sym typeface="Inter"/>
              </a:rPr>
              <a:t>MODELO SELECCIONADO: METODOLOGÍA WATERFALL</a:t>
            </a:r>
            <a:endParaRPr/>
          </a:p>
        </p:txBody>
      </p:sp>
      <p:sp>
        <p:nvSpPr>
          <p:cNvPr id="123" name="Google Shape;123;p14"/>
          <p:cNvSpPr txBox="1"/>
          <p:nvPr/>
        </p:nvSpPr>
        <p:spPr>
          <a:xfrm>
            <a:off x="962025" y="1724025"/>
            <a:ext cx="8048625" cy="4533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75" u="none" cap="none" strike="noStrike">
                <a:solidFill>
                  <a:srgbClr val="78350F"/>
                </a:solidFill>
                <a:latin typeface="Inter"/>
                <a:ea typeface="Inter"/>
                <a:cs typeface="Inter"/>
                <a:sym typeface="Inter"/>
              </a:rPr>
              <a:t>“Waterfall es una metodología de desarrollo secuencial, donde cada etapa se planifica y completa antes de avanzar a la siguiente.”</a:t>
            </a:r>
            <a:endParaRPr/>
          </a:p>
        </p:txBody>
      </p:sp>
      <p:sp>
        <p:nvSpPr>
          <p:cNvPr id="124" name="Google Shape;124;p14"/>
          <p:cNvSpPr txBox="1"/>
          <p:nvPr/>
        </p:nvSpPr>
        <p:spPr>
          <a:xfrm>
            <a:off x="9220200" y="1769715"/>
            <a:ext cx="1876425" cy="1809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92400E"/>
                </a:solidFill>
                <a:latin typeface="Inter"/>
                <a:ea typeface="Inter"/>
                <a:cs typeface="Inter"/>
                <a:sym typeface="Inter"/>
              </a:rPr>
              <a:t>Duración total: 18 semanas</a:t>
            </a:r>
            <a:endParaRPr/>
          </a:p>
        </p:txBody>
      </p:sp>
      <p:sp>
        <p:nvSpPr>
          <p:cNvPr id="125" name="Google Shape;125;p14"/>
          <p:cNvSpPr txBox="1"/>
          <p:nvPr/>
        </p:nvSpPr>
        <p:spPr>
          <a:xfrm>
            <a:off x="923925" y="5638800"/>
            <a:ext cx="6024562" cy="1809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80975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25" u="none" cap="none" strike="noStrike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rPr>
              <a:t>Control Secuencial de Calidad</a:t>
            </a:r>
            <a:endParaRPr/>
          </a:p>
        </p:txBody>
      </p:sp>
      <p:sp>
        <p:nvSpPr>
          <p:cNvPr id="126" name="Google Shape;126;p14"/>
          <p:cNvSpPr txBox="1"/>
          <p:nvPr/>
        </p:nvSpPr>
        <p:spPr>
          <a:xfrm>
            <a:off x="923925" y="5857875"/>
            <a:ext cx="4914900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Validación documental obligatoria y revisión formal previa al paso a la siguiente fase.</a:t>
            </a:r>
            <a:endParaRPr/>
          </a:p>
        </p:txBody>
      </p:sp>
      <p:sp>
        <p:nvSpPr>
          <p:cNvPr id="127" name="Google Shape;127;p14"/>
          <p:cNvSpPr txBox="1"/>
          <p:nvPr/>
        </p:nvSpPr>
        <p:spPr>
          <a:xfrm>
            <a:off x="6448425" y="5638800"/>
            <a:ext cx="5743575" cy="1809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219075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25" u="none" cap="none" strike="noStrike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rPr>
              <a:t>Trazabilidad del Proyecto</a:t>
            </a:r>
            <a:endParaRPr/>
          </a:p>
        </p:txBody>
      </p:sp>
      <p:sp>
        <p:nvSpPr>
          <p:cNvPr id="128" name="Google Shape;128;p14"/>
          <p:cNvSpPr txBox="1"/>
          <p:nvPr/>
        </p:nvSpPr>
        <p:spPr>
          <a:xfrm>
            <a:off x="6448425" y="5857875"/>
            <a:ext cx="4914900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Alineación directa entre Especificación de Requisitos (ERS), Modelos UML/BD y Casos de Prueba.</a:t>
            </a:r>
            <a:endParaRPr/>
          </a:p>
        </p:txBody>
      </p:sp>
      <p:sp>
        <p:nvSpPr>
          <p:cNvPr id="129" name="Google Shape;129;p14"/>
          <p:cNvSpPr txBox="1"/>
          <p:nvPr/>
        </p:nvSpPr>
        <p:spPr>
          <a:xfrm>
            <a:off x="615515" y="3206055"/>
            <a:ext cx="1655340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1. Levantamiento y Diseño</a:t>
            </a:r>
            <a:endParaRPr/>
          </a:p>
        </p:txBody>
      </p:sp>
      <p:sp>
        <p:nvSpPr>
          <p:cNvPr id="130" name="Google Shape;130;p14"/>
          <p:cNvSpPr txBox="1"/>
          <p:nvPr/>
        </p:nvSpPr>
        <p:spPr>
          <a:xfrm>
            <a:off x="615515" y="3568005"/>
            <a:ext cx="1655340" cy="1428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Completado</a:t>
            </a:r>
            <a:endParaRPr/>
          </a:p>
        </p:txBody>
      </p:sp>
      <p:sp>
        <p:nvSpPr>
          <p:cNvPr id="131" name="Google Shape;131;p14"/>
          <p:cNvSpPr txBox="1"/>
          <p:nvPr/>
        </p:nvSpPr>
        <p:spPr>
          <a:xfrm>
            <a:off x="2401974" y="3272730"/>
            <a:ext cx="1986483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25" u="none" cap="none" strike="noStrike">
                <a:solidFill>
                  <a:srgbClr val="92400E"/>
                </a:solidFill>
                <a:latin typeface="Inter"/>
                <a:ea typeface="Inter"/>
                <a:cs typeface="Inter"/>
                <a:sym typeface="Inter"/>
              </a:rPr>
              <a:t>2. Desarrollo ★</a:t>
            </a:r>
            <a:endParaRPr/>
          </a:p>
        </p:txBody>
      </p:sp>
      <p:sp>
        <p:nvSpPr>
          <p:cNvPr id="132" name="Google Shape;132;p14"/>
          <p:cNvSpPr txBox="1"/>
          <p:nvPr/>
        </p:nvSpPr>
        <p:spPr>
          <a:xfrm>
            <a:off x="2401974" y="3501330"/>
            <a:ext cx="1986483" cy="1428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B45309"/>
                </a:solidFill>
                <a:latin typeface="Inter"/>
                <a:ea typeface="Inter"/>
                <a:cs typeface="Inter"/>
                <a:sym typeface="Inter"/>
              </a:rPr>
              <a:t>Semana 8 (Actual)</a:t>
            </a:r>
            <a:endParaRPr/>
          </a:p>
        </p:txBody>
      </p:sp>
      <p:sp>
        <p:nvSpPr>
          <p:cNvPr id="133" name="Google Shape;133;p14"/>
          <p:cNvSpPr txBox="1"/>
          <p:nvPr/>
        </p:nvSpPr>
        <p:spPr>
          <a:xfrm>
            <a:off x="4519575" y="3287017"/>
            <a:ext cx="1655340" cy="161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3. Integración</a:t>
            </a:r>
            <a:endParaRPr/>
          </a:p>
        </p:txBody>
      </p:sp>
      <p:sp>
        <p:nvSpPr>
          <p:cNvPr id="134" name="Google Shape;134;p14"/>
          <p:cNvSpPr txBox="1"/>
          <p:nvPr/>
        </p:nvSpPr>
        <p:spPr>
          <a:xfrm>
            <a:off x="4519575" y="3487042"/>
            <a:ext cx="1655340" cy="1428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Planificado</a:t>
            </a:r>
            <a:endParaRPr/>
          </a:p>
        </p:txBody>
      </p:sp>
      <p:sp>
        <p:nvSpPr>
          <p:cNvPr id="135" name="Google Shape;135;p14"/>
          <p:cNvSpPr txBox="1"/>
          <p:nvPr/>
        </p:nvSpPr>
        <p:spPr>
          <a:xfrm>
            <a:off x="6320097" y="3287017"/>
            <a:ext cx="1655340" cy="161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4. QA</a:t>
            </a:r>
            <a:endParaRPr/>
          </a:p>
        </p:txBody>
      </p:sp>
      <p:sp>
        <p:nvSpPr>
          <p:cNvPr id="136" name="Google Shape;136;p14"/>
          <p:cNvSpPr txBox="1"/>
          <p:nvPr/>
        </p:nvSpPr>
        <p:spPr>
          <a:xfrm>
            <a:off x="6320097" y="3487042"/>
            <a:ext cx="1655340" cy="1428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Planificado</a:t>
            </a:r>
            <a:endParaRPr/>
          </a:p>
        </p:txBody>
      </p:sp>
      <p:sp>
        <p:nvSpPr>
          <p:cNvPr id="137" name="Google Shape;137;p14"/>
          <p:cNvSpPr txBox="1"/>
          <p:nvPr/>
        </p:nvSpPr>
        <p:spPr>
          <a:xfrm>
            <a:off x="8120620" y="3287017"/>
            <a:ext cx="1655340" cy="161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5. Despliegue</a:t>
            </a:r>
            <a:endParaRPr/>
          </a:p>
        </p:txBody>
      </p:sp>
      <p:sp>
        <p:nvSpPr>
          <p:cNvPr id="138" name="Google Shape;138;p14"/>
          <p:cNvSpPr txBox="1"/>
          <p:nvPr/>
        </p:nvSpPr>
        <p:spPr>
          <a:xfrm>
            <a:off x="8120620" y="3487042"/>
            <a:ext cx="1655340" cy="1428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Planificado</a:t>
            </a:r>
            <a:endParaRPr/>
          </a:p>
        </p:txBody>
      </p:sp>
      <p:sp>
        <p:nvSpPr>
          <p:cNvPr id="139" name="Google Shape;139;p14"/>
          <p:cNvSpPr txBox="1"/>
          <p:nvPr/>
        </p:nvSpPr>
        <p:spPr>
          <a:xfrm>
            <a:off x="9921143" y="3287017"/>
            <a:ext cx="1655340" cy="161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6. Cierre</a:t>
            </a:r>
            <a:endParaRPr/>
          </a:p>
        </p:txBody>
      </p:sp>
      <p:sp>
        <p:nvSpPr>
          <p:cNvPr id="140" name="Google Shape;140;p14"/>
          <p:cNvSpPr txBox="1"/>
          <p:nvPr/>
        </p:nvSpPr>
        <p:spPr>
          <a:xfrm>
            <a:off x="9921143" y="3487042"/>
            <a:ext cx="1655340" cy="1428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Planificado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15"/>
          <p:cNvSpPr/>
          <p:nvPr/>
        </p:nvSpPr>
        <p:spPr>
          <a:xfrm>
            <a:off x="2457450" y="2643187"/>
            <a:ext cx="9525" cy="228600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6" name="Google Shape;146;p15"/>
          <p:cNvSpPr/>
          <p:nvPr/>
        </p:nvSpPr>
        <p:spPr>
          <a:xfrm>
            <a:off x="4517826" y="2643187"/>
            <a:ext cx="9525" cy="228600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7" name="Google Shape;147;p15"/>
          <p:cNvSpPr/>
          <p:nvPr/>
        </p:nvSpPr>
        <p:spPr>
          <a:xfrm>
            <a:off x="6578203" y="2643187"/>
            <a:ext cx="9525" cy="228600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8" name="Google Shape;148;p15"/>
          <p:cNvSpPr/>
          <p:nvPr/>
        </p:nvSpPr>
        <p:spPr>
          <a:xfrm>
            <a:off x="8638579" y="2643187"/>
            <a:ext cx="9525" cy="228600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9" name="Google Shape;149;p15"/>
          <p:cNvSpPr/>
          <p:nvPr/>
        </p:nvSpPr>
        <p:spPr>
          <a:xfrm>
            <a:off x="10698956" y="2643187"/>
            <a:ext cx="9525" cy="228600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0" name="Google Shape;150;p15"/>
          <p:cNvSpPr/>
          <p:nvPr/>
        </p:nvSpPr>
        <p:spPr>
          <a:xfrm>
            <a:off x="2457450" y="2871787"/>
            <a:ext cx="9525" cy="2000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1" name="Google Shape;151;p15"/>
          <p:cNvSpPr/>
          <p:nvPr/>
        </p:nvSpPr>
        <p:spPr>
          <a:xfrm>
            <a:off x="2972544" y="2871787"/>
            <a:ext cx="9525" cy="2000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2" name="Google Shape;152;p15"/>
          <p:cNvSpPr/>
          <p:nvPr/>
        </p:nvSpPr>
        <p:spPr>
          <a:xfrm>
            <a:off x="3487638" y="2871787"/>
            <a:ext cx="9525" cy="2000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3" name="Google Shape;153;p15"/>
          <p:cNvSpPr/>
          <p:nvPr/>
        </p:nvSpPr>
        <p:spPr>
          <a:xfrm>
            <a:off x="4002732" y="2871787"/>
            <a:ext cx="9525" cy="2000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4" name="Google Shape;154;p15"/>
          <p:cNvSpPr/>
          <p:nvPr/>
        </p:nvSpPr>
        <p:spPr>
          <a:xfrm>
            <a:off x="4517826" y="2871787"/>
            <a:ext cx="9525" cy="2000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5" name="Google Shape;155;p15"/>
          <p:cNvSpPr/>
          <p:nvPr/>
        </p:nvSpPr>
        <p:spPr>
          <a:xfrm>
            <a:off x="5032920" y="2871787"/>
            <a:ext cx="9525" cy="2000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6" name="Google Shape;156;p15"/>
          <p:cNvSpPr/>
          <p:nvPr/>
        </p:nvSpPr>
        <p:spPr>
          <a:xfrm>
            <a:off x="5548014" y="2871787"/>
            <a:ext cx="9525" cy="2000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7" name="Google Shape;157;p15"/>
          <p:cNvSpPr/>
          <p:nvPr/>
        </p:nvSpPr>
        <p:spPr>
          <a:xfrm>
            <a:off x="6063108" y="2871787"/>
            <a:ext cx="9525" cy="2000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8" name="Google Shape;158;p15"/>
          <p:cNvSpPr/>
          <p:nvPr/>
        </p:nvSpPr>
        <p:spPr>
          <a:xfrm>
            <a:off x="6578203" y="2871787"/>
            <a:ext cx="9525" cy="2000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9" name="Google Shape;159;p15"/>
          <p:cNvSpPr/>
          <p:nvPr/>
        </p:nvSpPr>
        <p:spPr>
          <a:xfrm>
            <a:off x="7093297" y="2871787"/>
            <a:ext cx="9525" cy="2000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0" name="Google Shape;160;p15"/>
          <p:cNvSpPr/>
          <p:nvPr/>
        </p:nvSpPr>
        <p:spPr>
          <a:xfrm>
            <a:off x="7608391" y="2871787"/>
            <a:ext cx="9525" cy="2000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1" name="Google Shape;161;p15"/>
          <p:cNvSpPr/>
          <p:nvPr/>
        </p:nvSpPr>
        <p:spPr>
          <a:xfrm>
            <a:off x="8123485" y="2871787"/>
            <a:ext cx="9525" cy="2000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2" name="Google Shape;162;p15"/>
          <p:cNvSpPr/>
          <p:nvPr/>
        </p:nvSpPr>
        <p:spPr>
          <a:xfrm>
            <a:off x="8638579" y="2871787"/>
            <a:ext cx="9525" cy="2000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3" name="Google Shape;163;p15"/>
          <p:cNvSpPr/>
          <p:nvPr/>
        </p:nvSpPr>
        <p:spPr>
          <a:xfrm>
            <a:off x="9153673" y="2871787"/>
            <a:ext cx="9525" cy="2000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4" name="Google Shape;164;p15"/>
          <p:cNvSpPr/>
          <p:nvPr/>
        </p:nvSpPr>
        <p:spPr>
          <a:xfrm>
            <a:off x="9668767" y="2871787"/>
            <a:ext cx="9525" cy="2000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5" name="Google Shape;165;p15"/>
          <p:cNvSpPr/>
          <p:nvPr/>
        </p:nvSpPr>
        <p:spPr>
          <a:xfrm>
            <a:off x="10183862" y="2871787"/>
            <a:ext cx="9525" cy="2000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6" name="Google Shape;166;p15"/>
          <p:cNvSpPr/>
          <p:nvPr/>
        </p:nvSpPr>
        <p:spPr>
          <a:xfrm>
            <a:off x="10698956" y="2871787"/>
            <a:ext cx="9525" cy="2000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7" name="Google Shape;167;p15"/>
          <p:cNvSpPr/>
          <p:nvPr/>
        </p:nvSpPr>
        <p:spPr>
          <a:xfrm>
            <a:off x="11214050" y="2871787"/>
            <a:ext cx="9525" cy="2000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168" name="Google Shape;168;p15"/>
          <p:cNvGraphicFramePr/>
          <p:nvPr/>
        </p:nvGraphicFramePr>
        <p:xfrm>
          <a:off x="457200" y="2643187"/>
          <a:ext cx="3000000" cy="3000000"/>
        </p:xfrm>
        <a:graphic>
          <a:graphicData uri="http://schemas.openxmlformats.org/drawingml/2006/table">
            <a:tbl>
              <a:tblPr>
                <a:noFill/>
                <a:tableStyleId>{F769D09F-3651-450B-A40E-085665F207FF}</a:tableStyleId>
              </a:tblPr>
              <a:tblGrid>
                <a:gridCol w="2000250"/>
                <a:gridCol w="2060375"/>
                <a:gridCol w="2060375"/>
                <a:gridCol w="2060375"/>
                <a:gridCol w="2060375"/>
                <a:gridCol w="1031075"/>
              </a:tblGrid>
              <a:tr h="2748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750" u="none" cap="none" strike="noStrike">
                          <a:solidFill>
                            <a:srgbClr val="FFFFFF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Fases Oficiales (18 Semanas)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750" u="none" cap="none" strike="noStrike">
                          <a:solidFill>
                            <a:srgbClr val="FFFFFF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SEPTIEMBRE (S1–S4)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750" u="none" cap="none" strike="noStrike">
                          <a:solidFill>
                            <a:srgbClr val="FFFFFF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OCTUBRE (S5–S8)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770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750" u="none" cap="none" strike="noStrike">
                          <a:solidFill>
                            <a:srgbClr val="FFFFFF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NOVIEMBRE (S9–S12)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750" u="none" cap="none" strike="noStrike">
                          <a:solidFill>
                            <a:srgbClr val="FFFFFF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DICIEMBRE (S13–S16)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750" u="none" cap="none" strike="noStrike">
                          <a:solidFill>
                            <a:srgbClr val="FFFFFF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ENERO (S17–S18)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E293B"/>
                    </a:solidFill>
                  </a:tcPr>
                </a:tc>
              </a:tr>
              <a:tr h="2748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675" u="none" cap="none" strike="noStrike">
                          <a:solidFill>
                            <a:srgbClr val="CBD5E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Fase / Etapa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675" u="none" cap="none" strike="noStrike">
                          <a:solidFill>
                            <a:srgbClr val="CBD5E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S1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675" u="none" cap="none" strike="noStrike">
                          <a:solidFill>
                            <a:srgbClr val="CBD5E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S2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675" u="none" cap="none" strike="noStrike">
                          <a:solidFill>
                            <a:srgbClr val="CBD5E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S3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675" u="none" cap="none" strike="noStrike">
                          <a:solidFill>
                            <a:srgbClr val="CBD5E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S4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675" u="none" cap="none" strike="noStrike">
                          <a:solidFill>
                            <a:srgbClr val="CBD5E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S5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E293B"/>
                    </a:solidFill>
                  </a:tcPr>
                </a:tc>
              </a:tr>
              <a:tr h="2748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748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748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748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748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169" name="Google Shape;169;p15"/>
          <p:cNvSpPr txBox="1"/>
          <p:nvPr/>
        </p:nvSpPr>
        <p:spPr>
          <a:xfrm>
            <a:off x="457200" y="6381750"/>
            <a:ext cx="4024312" cy="133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25" u="none" cap="none" strike="noStrik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COMPLETADO:</a:t>
            </a:r>
            <a:r>
              <a:rPr b="0" i="0" lang="en-US" sz="825" u="none" cap="none" strike="noStrik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 S1 a S7 (F1 Levantamiento + Avance F2 Backend)</a:t>
            </a:r>
            <a:endParaRPr/>
          </a:p>
        </p:txBody>
      </p:sp>
      <p:sp>
        <p:nvSpPr>
          <p:cNvPr id="170" name="Google Shape;170;p15"/>
          <p:cNvSpPr txBox="1"/>
          <p:nvPr/>
        </p:nvSpPr>
        <p:spPr>
          <a:xfrm>
            <a:off x="4319587" y="6381750"/>
            <a:ext cx="3548062" cy="133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25" u="none" cap="none" strike="noStrik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SEMANA ACTUAL:</a:t>
            </a:r>
            <a:r>
              <a:rPr b="0" i="0" lang="en-US" sz="825" u="none" cap="none" strike="noStrik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 S8 (Autenticación y Cierre de Fase 2)</a:t>
            </a:r>
            <a:endParaRPr/>
          </a:p>
        </p:txBody>
      </p:sp>
      <p:sp>
        <p:nvSpPr>
          <p:cNvPr id="171" name="Google Shape;171;p15"/>
          <p:cNvSpPr txBox="1"/>
          <p:nvPr/>
        </p:nvSpPr>
        <p:spPr>
          <a:xfrm>
            <a:off x="7800975" y="6381750"/>
            <a:ext cx="4391025" cy="133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25" u="none" cap="none" strike="noStrik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PLANIFICADO:</a:t>
            </a:r>
            <a:r>
              <a:rPr b="0" i="0" lang="en-US" sz="825" u="none" cap="none" strike="noStrik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 S9 a S18 (F3 Frontend Web/Móvil, F4 Checkout, F5 QA y Cierre)</a:t>
            </a:r>
            <a:endParaRPr/>
          </a:p>
        </p:txBody>
      </p:sp>
      <p:sp>
        <p:nvSpPr>
          <p:cNvPr id="172" name="Google Shape;172;p15"/>
          <p:cNvSpPr txBox="1"/>
          <p:nvPr/>
        </p:nvSpPr>
        <p:spPr>
          <a:xfrm>
            <a:off x="457200" y="342900"/>
            <a:ext cx="7358062" cy="1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75" u="none" cap="none" strike="noStrike">
                <a:solidFill>
                  <a:srgbClr val="D97706"/>
                </a:solidFill>
                <a:latin typeface="Inter"/>
                <a:ea typeface="Inter"/>
                <a:cs typeface="Inter"/>
                <a:sym typeface="Inter"/>
              </a:rPr>
              <a:t>PLANIFICACIÓN GENERAL</a:t>
            </a:r>
            <a:endParaRPr/>
          </a:p>
        </p:txBody>
      </p:sp>
      <p:sp>
        <p:nvSpPr>
          <p:cNvPr id="173" name="Google Shape;173;p15"/>
          <p:cNvSpPr txBox="1"/>
          <p:nvPr/>
        </p:nvSpPr>
        <p:spPr>
          <a:xfrm>
            <a:off x="457200" y="514350"/>
            <a:ext cx="7725965" cy="2952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950" u="none" cap="none" strike="noStrike">
                <a:solidFill>
                  <a:srgbClr val="1C1917"/>
                </a:solidFill>
                <a:latin typeface="Inter"/>
                <a:ea typeface="Inter"/>
                <a:cs typeface="Inter"/>
                <a:sym typeface="Inter"/>
              </a:rPr>
              <a:t>Roadmap — Planificación y Avance del Proyecto</a:t>
            </a:r>
            <a:endParaRPr/>
          </a:p>
        </p:txBody>
      </p:sp>
      <p:sp>
        <p:nvSpPr>
          <p:cNvPr id="174" name="Google Shape;174;p15"/>
          <p:cNvSpPr txBox="1"/>
          <p:nvPr/>
        </p:nvSpPr>
        <p:spPr>
          <a:xfrm>
            <a:off x="7236618" y="647700"/>
            <a:ext cx="1750218" cy="16192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1A1A1A"/>
                </a:solidFill>
                <a:latin typeface="Inter"/>
                <a:ea typeface="Inter"/>
                <a:cs typeface="Inter"/>
                <a:sym typeface="Inter"/>
              </a:rPr>
              <a:t> ✓ Completado (S1–S7)</a:t>
            </a:r>
            <a:endParaRPr/>
          </a:p>
        </p:txBody>
      </p:sp>
      <p:sp>
        <p:nvSpPr>
          <p:cNvPr id="175" name="Google Shape;175;p15"/>
          <p:cNvSpPr txBox="1"/>
          <p:nvPr/>
        </p:nvSpPr>
        <p:spPr>
          <a:xfrm>
            <a:off x="8789193" y="647700"/>
            <a:ext cx="1750218" cy="16192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1A1A1A"/>
                </a:solidFill>
                <a:latin typeface="Inter"/>
                <a:ea typeface="Inter"/>
                <a:cs typeface="Inter"/>
                <a:sym typeface="Inter"/>
              </a:rPr>
              <a:t> ★ Semana Actual (S8)</a:t>
            </a:r>
            <a:endParaRPr/>
          </a:p>
        </p:txBody>
      </p:sp>
      <p:sp>
        <p:nvSpPr>
          <p:cNvPr id="176" name="Google Shape;176;p15"/>
          <p:cNvSpPr txBox="1"/>
          <p:nvPr/>
        </p:nvSpPr>
        <p:spPr>
          <a:xfrm>
            <a:off x="10341768" y="647700"/>
            <a:ext cx="1741289" cy="16192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1A1A1A"/>
                </a:solidFill>
                <a:latin typeface="Inter"/>
                <a:ea typeface="Inter"/>
                <a:cs typeface="Inter"/>
                <a:sym typeface="Inter"/>
              </a:rPr>
              <a:t> ○ Planificado (S9–S18)</a:t>
            </a:r>
            <a:endParaRPr/>
          </a:p>
        </p:txBody>
      </p:sp>
      <p:pic>
        <p:nvPicPr>
          <p:cNvPr id="177" name="Google Shape;177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50350"/>
            <a:ext cx="11774125" cy="32425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8" name="Google Shape;178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51525" y="1236600"/>
            <a:ext cx="11632675" cy="34703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79" name="Google Shape;179;p15" title="ChatGPT Image 2 oct 2026, 07_37_11 p.m..png"/>
          <p:cNvPicPr preferRelativeResize="0"/>
          <p:nvPr/>
        </p:nvPicPr>
        <p:blipFill rotWithShape="1">
          <a:blip r:embed="rId4">
            <a:alphaModFix/>
          </a:blip>
          <a:srcRect b="5994" l="0" r="0" t="5994"/>
          <a:stretch/>
        </p:blipFill>
        <p:spPr>
          <a:xfrm>
            <a:off x="208937" y="1043700"/>
            <a:ext cx="11774126" cy="36122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16"/>
          <p:cNvSpPr/>
          <p:nvPr/>
        </p:nvSpPr>
        <p:spPr>
          <a:xfrm>
            <a:off x="571500" y="1047750"/>
            <a:ext cx="11049000" cy="4562475"/>
          </a:xfrm>
          <a:prstGeom prst="roundRect">
            <a:avLst>
              <a:gd fmla="val 2505" name="adj"/>
            </a:avLst>
          </a:prstGeom>
          <a:solidFill>
            <a:srgbClr val="FFFBEB"/>
          </a:solidFill>
          <a:ln cap="flat" cmpd="sng" w="19050">
            <a:solidFill>
              <a:srgbClr val="D9770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5" name="Google Shape;185;p16"/>
          <p:cNvSpPr/>
          <p:nvPr/>
        </p:nvSpPr>
        <p:spPr>
          <a:xfrm>
            <a:off x="571500" y="5743575"/>
            <a:ext cx="11049000" cy="695325"/>
          </a:xfrm>
          <a:prstGeom prst="roundRect">
            <a:avLst>
              <a:gd fmla="val 10958" name="adj"/>
            </a:avLst>
          </a:prstGeom>
          <a:solidFill>
            <a:srgbClr val="F8FAFC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6" name="Google Shape;186;p16"/>
          <p:cNvSpPr/>
          <p:nvPr/>
        </p:nvSpPr>
        <p:spPr>
          <a:xfrm>
            <a:off x="6491733" y="5867400"/>
            <a:ext cx="4928741" cy="44767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7" name="Google Shape;187;p16"/>
          <p:cNvSpPr/>
          <p:nvPr/>
        </p:nvSpPr>
        <p:spPr>
          <a:xfrm>
            <a:off x="6491733" y="5867400"/>
            <a:ext cx="9525" cy="447675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188" name="Google Shape;188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910262" y="2847975"/>
            <a:ext cx="371475" cy="419100"/>
          </a:xfrm>
          <a:prstGeom prst="rect">
            <a:avLst/>
          </a:prstGeom>
          <a:noFill/>
          <a:ln>
            <a:noFill/>
          </a:ln>
        </p:spPr>
      </p:pic>
      <p:sp>
        <p:nvSpPr>
          <p:cNvPr id="189" name="Google Shape;189;p16"/>
          <p:cNvSpPr txBox="1"/>
          <p:nvPr/>
        </p:nvSpPr>
        <p:spPr>
          <a:xfrm>
            <a:off x="571500" y="419100"/>
            <a:ext cx="11620500" cy="1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75" u="none" cap="none" strike="noStrike">
                <a:solidFill>
                  <a:srgbClr val="D97706"/>
                </a:solidFill>
                <a:latin typeface="Inter"/>
                <a:ea typeface="Inter"/>
                <a:cs typeface="Inter"/>
                <a:sym typeface="Inter"/>
              </a:rPr>
              <a:t>ARQUITECTURA DE PERSISTENCIA</a:t>
            </a:r>
            <a:endParaRPr/>
          </a:p>
        </p:txBody>
      </p:sp>
      <p:sp>
        <p:nvSpPr>
          <p:cNvPr id="190" name="Google Shape;190;p16"/>
          <p:cNvSpPr txBox="1"/>
          <p:nvPr/>
        </p:nvSpPr>
        <p:spPr>
          <a:xfrm>
            <a:off x="571500" y="590550"/>
            <a:ext cx="11620500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1C1917"/>
                </a:solidFill>
                <a:latin typeface="Inter"/>
                <a:ea typeface="Inter"/>
                <a:cs typeface="Inter"/>
                <a:sym typeface="Inter"/>
              </a:rPr>
              <a:t>Modelo de Datos</a:t>
            </a:r>
            <a:endParaRPr/>
          </a:p>
        </p:txBody>
      </p:sp>
      <p:sp>
        <p:nvSpPr>
          <p:cNvPr id="191" name="Google Shape;191;p16"/>
          <p:cNvSpPr txBox="1"/>
          <p:nvPr/>
        </p:nvSpPr>
        <p:spPr>
          <a:xfrm>
            <a:off x="2547937" y="3362325"/>
            <a:ext cx="7096125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92400E"/>
                </a:solidFill>
                <a:latin typeface="Inter"/>
                <a:ea typeface="Inter"/>
                <a:cs typeface="Inter"/>
                <a:sym typeface="Inter"/>
              </a:rPr>
              <a:t>[ INSERTAR AQUÍ IMAGEN DEL MODELO ENTIDAD-RELACIÓN ]</a:t>
            </a:r>
            <a:endParaRPr/>
          </a:p>
        </p:txBody>
      </p:sp>
      <p:sp>
        <p:nvSpPr>
          <p:cNvPr id="192" name="Google Shape;192;p16"/>
          <p:cNvSpPr txBox="1"/>
          <p:nvPr/>
        </p:nvSpPr>
        <p:spPr>
          <a:xfrm>
            <a:off x="3774281" y="3629025"/>
            <a:ext cx="4643437" cy="1809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25" u="none" cap="none" strike="noStrike">
                <a:solidFill>
                  <a:srgbClr val="B45309"/>
                </a:solidFill>
                <a:latin typeface="Inter"/>
                <a:ea typeface="Inter"/>
                <a:cs typeface="Inter"/>
                <a:sym typeface="Inter"/>
              </a:rPr>
              <a:t>Modelo Entidad-Relación Normalizado — FerreMundo</a:t>
            </a:r>
            <a:endParaRPr/>
          </a:p>
        </p:txBody>
      </p:sp>
      <p:sp>
        <p:nvSpPr>
          <p:cNvPr id="193" name="Google Shape;193;p16"/>
          <p:cNvSpPr txBox="1"/>
          <p:nvPr/>
        </p:nvSpPr>
        <p:spPr>
          <a:xfrm>
            <a:off x="771525" y="5867400"/>
            <a:ext cx="7150261" cy="1428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rPr>
              <a:t>Entidades de Persistencia Conceptual:</a:t>
            </a:r>
            <a:endParaRPr/>
          </a:p>
        </p:txBody>
      </p:sp>
      <p:sp>
        <p:nvSpPr>
          <p:cNvPr id="194" name="Google Shape;194;p16"/>
          <p:cNvSpPr txBox="1"/>
          <p:nvPr/>
        </p:nvSpPr>
        <p:spPr>
          <a:xfrm>
            <a:off x="771525" y="6029325"/>
            <a:ext cx="5815458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CLIENTE | CARRITO | ITEM_CARRITO | PRODUCTO | CATEGORIA | BOLETA | DETALLE_BOLETA | CODIGO_RECUPERACION</a:t>
            </a:r>
            <a:endParaRPr/>
          </a:p>
        </p:txBody>
      </p:sp>
      <p:sp>
        <p:nvSpPr>
          <p:cNvPr id="195" name="Google Shape;195;p16"/>
          <p:cNvSpPr txBox="1"/>
          <p:nvPr/>
        </p:nvSpPr>
        <p:spPr>
          <a:xfrm>
            <a:off x="6653650" y="5867400"/>
            <a:ext cx="55383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6" name="Google Shape;196;p16"/>
          <p:cNvSpPr txBox="1"/>
          <p:nvPr/>
        </p:nvSpPr>
        <p:spPr>
          <a:xfrm>
            <a:off x="6653658" y="6029325"/>
            <a:ext cx="48621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97" name="Google Shape;197;p1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85850" y="1029275"/>
            <a:ext cx="11364451" cy="4599424"/>
          </a:xfrm>
          <a:prstGeom prst="rect">
            <a:avLst/>
          </a:prstGeom>
          <a:solidFill>
            <a:srgbClr val="FFFBEB"/>
          </a:solidFill>
          <a:ln cap="flat" cmpd="sng" w="19050">
            <a:solidFill>
              <a:srgbClr val="D97706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0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p17"/>
          <p:cNvSpPr/>
          <p:nvPr/>
        </p:nvSpPr>
        <p:spPr>
          <a:xfrm>
            <a:off x="571500" y="1047750"/>
            <a:ext cx="11049000" cy="4600575"/>
          </a:xfrm>
          <a:prstGeom prst="roundRect">
            <a:avLst>
              <a:gd fmla="val 2484" name="adj"/>
            </a:avLst>
          </a:prstGeom>
          <a:solidFill>
            <a:srgbClr val="FFFBEB"/>
          </a:solidFill>
          <a:ln cap="flat" cmpd="sng" w="19050">
            <a:solidFill>
              <a:srgbClr val="D9770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3" name="Google Shape;203;p17"/>
          <p:cNvSpPr/>
          <p:nvPr/>
        </p:nvSpPr>
        <p:spPr>
          <a:xfrm>
            <a:off x="571500" y="5781675"/>
            <a:ext cx="5448300" cy="657225"/>
          </a:xfrm>
          <a:prstGeom prst="roundRect">
            <a:avLst>
              <a:gd fmla="val 11594" name="adj"/>
            </a:avLst>
          </a:prstGeom>
          <a:solidFill>
            <a:srgbClr val="F8FAFC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4" name="Google Shape;204;p17"/>
          <p:cNvSpPr/>
          <p:nvPr/>
        </p:nvSpPr>
        <p:spPr>
          <a:xfrm>
            <a:off x="6172200" y="5781675"/>
            <a:ext cx="5448300" cy="657225"/>
          </a:xfrm>
          <a:prstGeom prst="roundRect">
            <a:avLst>
              <a:gd fmla="val 11594" name="adj"/>
            </a:avLst>
          </a:prstGeom>
          <a:solidFill>
            <a:schemeClr val="lt1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205" name="Google Shape;205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857875" y="2867025"/>
            <a:ext cx="476250" cy="4191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06" name="Google Shape;206;p1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33425" y="5905500"/>
            <a:ext cx="104775" cy="1143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07" name="Google Shape;207;p1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334125" y="5905500"/>
            <a:ext cx="142875" cy="114300"/>
          </a:xfrm>
          <a:prstGeom prst="rect">
            <a:avLst/>
          </a:prstGeom>
          <a:noFill/>
          <a:ln>
            <a:noFill/>
          </a:ln>
        </p:spPr>
      </p:pic>
      <p:sp>
        <p:nvSpPr>
          <p:cNvPr id="208" name="Google Shape;208;p17"/>
          <p:cNvSpPr txBox="1"/>
          <p:nvPr/>
        </p:nvSpPr>
        <p:spPr>
          <a:xfrm>
            <a:off x="571500" y="419100"/>
            <a:ext cx="11620500" cy="1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75" u="none" cap="none" strike="noStrike">
                <a:solidFill>
                  <a:srgbClr val="D97706"/>
                </a:solidFill>
                <a:latin typeface="Inter"/>
                <a:ea typeface="Inter"/>
                <a:cs typeface="Inter"/>
                <a:sym typeface="Inter"/>
              </a:rPr>
              <a:t>ESPECIFICACIÓN FUNCIONAL</a:t>
            </a:r>
            <a:endParaRPr/>
          </a:p>
        </p:txBody>
      </p:sp>
      <p:sp>
        <p:nvSpPr>
          <p:cNvPr id="209" name="Google Shape;209;p17"/>
          <p:cNvSpPr txBox="1"/>
          <p:nvPr/>
        </p:nvSpPr>
        <p:spPr>
          <a:xfrm>
            <a:off x="571500" y="590550"/>
            <a:ext cx="11620500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1C1917"/>
                </a:solidFill>
                <a:latin typeface="Inter"/>
                <a:ea typeface="Inter"/>
                <a:cs typeface="Inter"/>
                <a:sym typeface="Inter"/>
              </a:rPr>
              <a:t>Casos de Uso</a:t>
            </a:r>
            <a:endParaRPr/>
          </a:p>
        </p:txBody>
      </p:sp>
      <p:sp>
        <p:nvSpPr>
          <p:cNvPr id="210" name="Google Shape;210;p17"/>
          <p:cNvSpPr txBox="1"/>
          <p:nvPr/>
        </p:nvSpPr>
        <p:spPr>
          <a:xfrm>
            <a:off x="2524125" y="3381375"/>
            <a:ext cx="714375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92400E"/>
                </a:solidFill>
                <a:latin typeface="Inter"/>
                <a:ea typeface="Inter"/>
                <a:cs typeface="Inter"/>
                <a:sym typeface="Inter"/>
              </a:rPr>
              <a:t>[ INSERTAR AQUÍ IMAGEN DEL DIAGRAMA DE CASOS DE USO ]</a:t>
            </a:r>
            <a:endParaRPr/>
          </a:p>
        </p:txBody>
      </p:sp>
      <p:sp>
        <p:nvSpPr>
          <p:cNvPr id="211" name="Google Shape;211;p17"/>
          <p:cNvSpPr txBox="1"/>
          <p:nvPr/>
        </p:nvSpPr>
        <p:spPr>
          <a:xfrm>
            <a:off x="3899296" y="3648075"/>
            <a:ext cx="4393406" cy="1809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25" u="none" cap="none" strike="noStrike">
                <a:solidFill>
                  <a:srgbClr val="B45309"/>
                </a:solidFill>
                <a:latin typeface="Inter"/>
                <a:ea typeface="Inter"/>
                <a:cs typeface="Inter"/>
                <a:sym typeface="Inter"/>
              </a:rPr>
              <a:t>Diagrama General de Casos de Uso — FerreMundo</a:t>
            </a:r>
            <a:endParaRPr/>
          </a:p>
        </p:txBody>
      </p:sp>
      <p:sp>
        <p:nvSpPr>
          <p:cNvPr id="212" name="Google Shape;212;p17"/>
          <p:cNvSpPr txBox="1"/>
          <p:nvPr/>
        </p:nvSpPr>
        <p:spPr>
          <a:xfrm>
            <a:off x="733425" y="5886450"/>
            <a:ext cx="6405562" cy="1428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61925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rPr>
              <a:t>Actor CLIENTE:</a:t>
            </a:r>
            <a:endParaRPr/>
          </a:p>
        </p:txBody>
      </p:sp>
      <p:sp>
        <p:nvSpPr>
          <p:cNvPr id="213" name="Google Shape;213;p17"/>
          <p:cNvSpPr txBox="1"/>
          <p:nvPr/>
        </p:nvSpPr>
        <p:spPr>
          <a:xfrm>
            <a:off x="733425" y="6048375"/>
            <a:ext cx="5219700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Registrar cuenta, Iniciar sesión, Consultar productos, Gestionar carrito, Realizar compra, Consultar historial, Actualizar perfil, Recuperar contraseña.</a:t>
            </a:r>
            <a:endParaRPr/>
          </a:p>
        </p:txBody>
      </p:sp>
      <p:sp>
        <p:nvSpPr>
          <p:cNvPr id="214" name="Google Shape;214;p17"/>
          <p:cNvSpPr txBox="1"/>
          <p:nvPr/>
        </p:nvSpPr>
        <p:spPr>
          <a:xfrm>
            <a:off x="6117400" y="5726700"/>
            <a:ext cx="6120300" cy="2154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0" lIns="200025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5" name="Google Shape;215;p17"/>
          <p:cNvSpPr txBox="1"/>
          <p:nvPr/>
        </p:nvSpPr>
        <p:spPr>
          <a:xfrm>
            <a:off x="6091925" y="5831975"/>
            <a:ext cx="5755800" cy="6573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16" name="Google Shape;216;p17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571500" y="1047750"/>
            <a:ext cx="11049001" cy="4600576"/>
          </a:xfrm>
          <a:prstGeom prst="rect">
            <a:avLst/>
          </a:prstGeom>
          <a:solidFill>
            <a:srgbClr val="FFFBEB"/>
          </a:solidFill>
          <a:ln cap="flat" cmpd="sng" w="19050">
            <a:solidFill>
              <a:srgbClr val="D97706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20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p18"/>
          <p:cNvSpPr/>
          <p:nvPr/>
        </p:nvSpPr>
        <p:spPr>
          <a:xfrm>
            <a:off x="571500" y="5934075"/>
            <a:ext cx="5438775" cy="504825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2" name="Google Shape;222;p18"/>
          <p:cNvSpPr/>
          <p:nvPr/>
        </p:nvSpPr>
        <p:spPr>
          <a:xfrm>
            <a:off x="6181725" y="5934075"/>
            <a:ext cx="5438775" cy="504825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3" name="Google Shape;223;p18"/>
          <p:cNvSpPr/>
          <p:nvPr/>
        </p:nvSpPr>
        <p:spPr>
          <a:xfrm>
            <a:off x="571500" y="5934075"/>
            <a:ext cx="38100" cy="504825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4" name="Google Shape;224;p18"/>
          <p:cNvSpPr/>
          <p:nvPr/>
        </p:nvSpPr>
        <p:spPr>
          <a:xfrm>
            <a:off x="6181725" y="5934075"/>
            <a:ext cx="38100" cy="504825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225" name="Google Shape;225;p18"/>
          <p:cNvGraphicFramePr/>
          <p:nvPr/>
        </p:nvGraphicFramePr>
        <p:xfrm>
          <a:off x="571500" y="10477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{F769D09F-3651-450B-A40E-085665F207FF}</a:tableStyleId>
              </a:tblPr>
              <a:tblGrid>
                <a:gridCol w="857250"/>
                <a:gridCol w="2571750"/>
                <a:gridCol w="7620000"/>
              </a:tblGrid>
              <a:tr h="4924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825" u="none">
                          <a:solidFill>
                            <a:srgbClr val="FFFFFF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ID Caso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825" u="none">
                          <a:solidFill>
                            <a:srgbClr val="FFFFFF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Nombre del Caso de Prueba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825" u="none">
                          <a:solidFill>
                            <a:srgbClr val="FFFFFF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Requisito Funcional Relacionado (Código y Nombre)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E293B"/>
                    </a:solidFill>
                  </a:tcPr>
                </a:tc>
              </a:tr>
              <a:tr h="4924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825" u="none">
                          <a:solidFill>
                            <a:srgbClr val="D97706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CP-01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825" u="none">
                          <a:solidFill>
                            <a:srgbClr val="33415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Registro de usuario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825" u="none">
                          <a:solidFill>
                            <a:srgbClr val="475569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RF-01 — Registro de Usuarios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</a:tr>
              <a:tr h="4924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825" u="none">
                          <a:solidFill>
                            <a:srgbClr val="D97706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CP-02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825" u="none">
                          <a:solidFill>
                            <a:srgbClr val="33415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Inicio de sesión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825" u="none">
                          <a:solidFill>
                            <a:srgbClr val="475569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RF-02 — Inicio de Sesión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4924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825" u="none">
                          <a:solidFill>
                            <a:srgbClr val="D97706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CP-03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825" u="none">
                          <a:solidFill>
                            <a:srgbClr val="33415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Consulta y búsqueda de productos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825" u="none">
                          <a:solidFill>
                            <a:srgbClr val="475569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RF-04 — Visualización del Catálogo; RF-05 — Detalle de Producto; RF-06 — Búsqueda de Productos; RF-07 — Filtrado por Categorías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</a:tr>
              <a:tr h="4924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825" u="none">
                          <a:solidFill>
                            <a:srgbClr val="D97706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CP-04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825" u="none">
                          <a:solidFill>
                            <a:srgbClr val="33415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Gestión del carrito y cálculo del total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825" u="none">
                          <a:solidFill>
                            <a:srgbClr val="475569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RF-08 — Agregar al Carrito; RF-09 — Gestión del Carrito; RF-10 — Cálculo de Totales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4924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825" u="none">
                          <a:solidFill>
                            <a:srgbClr val="D97706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CP-05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825" u="none">
                          <a:solidFill>
                            <a:srgbClr val="33415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Realización de compra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825" u="none">
                          <a:solidFill>
                            <a:srgbClr val="475569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RF-11 — Checkout (Entorno de Prueba)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</a:tr>
              <a:tr h="4924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825" u="none">
                          <a:solidFill>
                            <a:srgbClr val="D97706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CP-06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825" u="none">
                          <a:solidFill>
                            <a:srgbClr val="33415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Consulta historial de compras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825" u="none">
                          <a:solidFill>
                            <a:srgbClr val="475569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RF-12 — Historial de Compras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4924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825" u="none">
                          <a:solidFill>
                            <a:srgbClr val="D97706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CP-07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825" u="none">
                          <a:solidFill>
                            <a:srgbClr val="33415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Gestión de productos por administrador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825" u="none">
                          <a:solidFill>
                            <a:srgbClr val="475569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RF-13 — Gestión de Inventario (Crear); RF-14 — Gestión de Inventario (Editar); RF-15 — Gestión de Inventario (Eliminar)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</a:tr>
              <a:tr h="4924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825" u="none">
                          <a:solidFill>
                            <a:srgbClr val="D97706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CP-08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825" u="none">
                          <a:solidFill>
                            <a:srgbClr val="33415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Recuperación de contraseña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825" u="none">
                          <a:solidFill>
                            <a:srgbClr val="475569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RF-17 — Recuperación de contraseña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26" name="Google Shape;226;p18"/>
          <p:cNvSpPr txBox="1"/>
          <p:nvPr/>
        </p:nvSpPr>
        <p:spPr>
          <a:xfrm>
            <a:off x="571500" y="419100"/>
            <a:ext cx="11620500" cy="1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75" u="none" cap="none" strike="noStrike">
                <a:solidFill>
                  <a:srgbClr val="D97706"/>
                </a:solidFill>
                <a:latin typeface="Inter"/>
                <a:ea typeface="Inter"/>
                <a:cs typeface="Inter"/>
                <a:sym typeface="Inter"/>
              </a:rPr>
              <a:t>ASEGURAMIENTO DE CALIDAD</a:t>
            </a:r>
            <a:endParaRPr/>
          </a:p>
        </p:txBody>
      </p:sp>
      <p:sp>
        <p:nvSpPr>
          <p:cNvPr id="227" name="Google Shape;227;p18"/>
          <p:cNvSpPr txBox="1"/>
          <p:nvPr/>
        </p:nvSpPr>
        <p:spPr>
          <a:xfrm>
            <a:off x="571500" y="590550"/>
            <a:ext cx="11620500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1C1917"/>
                </a:solidFill>
                <a:latin typeface="Inter"/>
                <a:ea typeface="Inter"/>
                <a:cs typeface="Inter"/>
                <a:sym typeface="Inter"/>
              </a:rPr>
              <a:t>Casos de Prueba</a:t>
            </a:r>
            <a:endParaRPr/>
          </a:p>
        </p:txBody>
      </p:sp>
      <p:sp>
        <p:nvSpPr>
          <p:cNvPr id="228" name="Google Shape;228;p18"/>
          <p:cNvSpPr txBox="1"/>
          <p:nvPr/>
        </p:nvSpPr>
        <p:spPr>
          <a:xfrm>
            <a:off x="762000" y="6029325"/>
            <a:ext cx="6369843" cy="1428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ESTADO ACTUAL</a:t>
            </a:r>
            <a:endParaRPr/>
          </a:p>
        </p:txBody>
      </p:sp>
      <p:sp>
        <p:nvSpPr>
          <p:cNvPr id="229" name="Google Shape;229;p18"/>
          <p:cNvSpPr txBox="1"/>
          <p:nvPr/>
        </p:nvSpPr>
        <p:spPr>
          <a:xfrm>
            <a:off x="762000" y="6191250"/>
            <a:ext cx="6369843" cy="1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75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Definidos y documentados (Aún no ejecutados).</a:t>
            </a:r>
            <a:endParaRPr/>
          </a:p>
        </p:txBody>
      </p:sp>
      <p:sp>
        <p:nvSpPr>
          <p:cNvPr id="230" name="Google Shape;230;p18"/>
          <p:cNvSpPr txBox="1"/>
          <p:nvPr/>
        </p:nvSpPr>
        <p:spPr>
          <a:xfrm>
            <a:off x="6372225" y="6029325"/>
            <a:ext cx="5819775" cy="1428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PRÓXIMA ETAPA</a:t>
            </a:r>
            <a:endParaRPr/>
          </a:p>
        </p:txBody>
      </p:sp>
      <p:sp>
        <p:nvSpPr>
          <p:cNvPr id="231" name="Google Shape;231;p18"/>
          <p:cNvSpPr txBox="1"/>
          <p:nvPr/>
        </p:nvSpPr>
        <p:spPr>
          <a:xfrm>
            <a:off x="6372225" y="6191250"/>
            <a:ext cx="5819775" cy="1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75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Ejecución formal → QA / Semana 16.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35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p19"/>
          <p:cNvSpPr/>
          <p:nvPr/>
        </p:nvSpPr>
        <p:spPr>
          <a:xfrm>
            <a:off x="609600" y="6010275"/>
            <a:ext cx="10972800" cy="390525"/>
          </a:xfrm>
          <a:prstGeom prst="roundRect">
            <a:avLst>
              <a:gd fmla="val 19512" name="adj"/>
            </a:avLst>
          </a:prstGeom>
          <a:solidFill>
            <a:srgbClr val="F1F5F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7" name="Google Shape;237;p19"/>
          <p:cNvSpPr/>
          <p:nvPr/>
        </p:nvSpPr>
        <p:spPr>
          <a:xfrm>
            <a:off x="609600" y="1800225"/>
            <a:ext cx="6882556" cy="904875"/>
          </a:xfrm>
          <a:prstGeom prst="roundRect">
            <a:avLst>
              <a:gd fmla="val 10526" name="adj"/>
            </a:avLst>
          </a:prstGeom>
          <a:solidFill>
            <a:srgbClr val="F8FAFC"/>
          </a:solidFill>
          <a:ln cap="flat" cmpd="sng" w="95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8" name="Google Shape;238;p19"/>
          <p:cNvSpPr/>
          <p:nvPr/>
        </p:nvSpPr>
        <p:spPr>
          <a:xfrm>
            <a:off x="609600" y="3057525"/>
            <a:ext cx="6882556" cy="904875"/>
          </a:xfrm>
          <a:prstGeom prst="roundRect">
            <a:avLst>
              <a:gd fmla="val 10526" name="adj"/>
            </a:avLst>
          </a:prstGeom>
          <a:solidFill>
            <a:srgbClr val="F8FAFC"/>
          </a:solidFill>
          <a:ln cap="flat" cmpd="sng" w="95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9" name="Google Shape;239;p19"/>
          <p:cNvSpPr/>
          <p:nvPr/>
        </p:nvSpPr>
        <p:spPr>
          <a:xfrm>
            <a:off x="609600" y="4314825"/>
            <a:ext cx="6882556" cy="904875"/>
          </a:xfrm>
          <a:prstGeom prst="roundRect">
            <a:avLst>
              <a:gd fmla="val 10526" name="adj"/>
            </a:avLst>
          </a:prstGeom>
          <a:solidFill>
            <a:srgbClr val="F8FAFC"/>
          </a:solidFill>
          <a:ln cap="flat" cmpd="sng" w="95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0" name="Google Shape;240;p19"/>
          <p:cNvSpPr/>
          <p:nvPr/>
        </p:nvSpPr>
        <p:spPr>
          <a:xfrm>
            <a:off x="7796956" y="2667000"/>
            <a:ext cx="3785443" cy="571500"/>
          </a:xfrm>
          <a:prstGeom prst="roundRect">
            <a:avLst>
              <a:gd fmla="val 13333" name="adj"/>
            </a:avLst>
          </a:prstGeom>
          <a:solidFill>
            <a:srgbClr val="F8FAFC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1" name="Google Shape;241;p19"/>
          <p:cNvSpPr/>
          <p:nvPr/>
        </p:nvSpPr>
        <p:spPr>
          <a:xfrm>
            <a:off x="7796956" y="3352800"/>
            <a:ext cx="3785443" cy="571500"/>
          </a:xfrm>
          <a:prstGeom prst="roundRect">
            <a:avLst>
              <a:gd fmla="val 13333" name="adj"/>
            </a:avLst>
          </a:prstGeom>
          <a:solidFill>
            <a:srgbClr val="F8FAFC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2" name="Google Shape;242;p19"/>
          <p:cNvSpPr/>
          <p:nvPr/>
        </p:nvSpPr>
        <p:spPr>
          <a:xfrm>
            <a:off x="7796956" y="4038600"/>
            <a:ext cx="3785443" cy="571500"/>
          </a:xfrm>
          <a:prstGeom prst="roundRect">
            <a:avLst>
              <a:gd fmla="val 13333" name="adj"/>
            </a:avLst>
          </a:prstGeom>
          <a:solidFill>
            <a:srgbClr val="FFFBEB"/>
          </a:solidFill>
          <a:ln cap="flat" cmpd="sng" w="9525">
            <a:solidFill>
              <a:srgbClr val="FDE68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243" name="Google Shape;243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00100" y="6148387"/>
            <a:ext cx="152400" cy="1238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44" name="Google Shape;244;p1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092106" y="2119312"/>
            <a:ext cx="200025" cy="2667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45" name="Google Shape;245;p1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3984128" y="2800350"/>
            <a:ext cx="133350" cy="1714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46" name="Google Shape;246;p19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7025431" y="3376612"/>
            <a:ext cx="266700" cy="2667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47" name="Google Shape;247;p1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3984128" y="4057650"/>
            <a:ext cx="133350" cy="1714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48" name="Google Shape;248;p19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7054006" y="4633912"/>
            <a:ext cx="238125" cy="2667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49" name="Google Shape;249;p19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7939831" y="2809875"/>
            <a:ext cx="171450" cy="1333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50" name="Google Shape;250;p19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7939831" y="3495675"/>
            <a:ext cx="123825" cy="1333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51" name="Google Shape;251;p19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7939831" y="4181475"/>
            <a:ext cx="152400" cy="133350"/>
          </a:xfrm>
          <a:prstGeom prst="rect">
            <a:avLst/>
          </a:prstGeom>
          <a:noFill/>
          <a:ln>
            <a:noFill/>
          </a:ln>
        </p:spPr>
      </p:pic>
      <p:sp>
        <p:nvSpPr>
          <p:cNvPr id="252" name="Google Shape;252;p19"/>
          <p:cNvSpPr txBox="1"/>
          <p:nvPr/>
        </p:nvSpPr>
        <p:spPr>
          <a:xfrm>
            <a:off x="609600" y="457200"/>
            <a:ext cx="11582400" cy="1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75" u="none" cap="none" strike="noStrike">
                <a:solidFill>
                  <a:srgbClr val="D97706"/>
                </a:solidFill>
                <a:latin typeface="Inter"/>
                <a:ea typeface="Inter"/>
                <a:cs typeface="Inter"/>
                <a:sym typeface="Inter"/>
              </a:rPr>
              <a:t>STACK TECNOLÓGICO</a:t>
            </a:r>
            <a:endParaRPr/>
          </a:p>
        </p:txBody>
      </p:sp>
      <p:sp>
        <p:nvSpPr>
          <p:cNvPr id="253" name="Google Shape;253;p19"/>
          <p:cNvSpPr txBox="1"/>
          <p:nvPr/>
        </p:nvSpPr>
        <p:spPr>
          <a:xfrm>
            <a:off x="609600" y="628650"/>
            <a:ext cx="11582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250" u="none" cap="none" strike="noStrike">
                <a:solidFill>
                  <a:srgbClr val="1C1917"/>
                </a:solidFill>
                <a:latin typeface="Inter"/>
                <a:ea typeface="Inter"/>
                <a:cs typeface="Inter"/>
                <a:sym typeface="Inter"/>
              </a:rPr>
              <a:t>Arquitectura y Tecnologías</a:t>
            </a:r>
            <a:endParaRPr/>
          </a:p>
        </p:txBody>
      </p:sp>
      <p:sp>
        <p:nvSpPr>
          <p:cNvPr id="254" name="Google Shape;254;p19"/>
          <p:cNvSpPr txBox="1"/>
          <p:nvPr/>
        </p:nvSpPr>
        <p:spPr>
          <a:xfrm>
            <a:off x="800100" y="6129337"/>
            <a:ext cx="3059906" cy="1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22860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75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DESPLIEGUE FINAL (DEPLOYMENT):</a:t>
            </a:r>
            <a:endParaRPr/>
          </a:p>
        </p:txBody>
      </p:sp>
      <p:sp>
        <p:nvSpPr>
          <p:cNvPr id="255" name="Google Shape;255;p19"/>
          <p:cNvSpPr txBox="1"/>
          <p:nvPr/>
        </p:nvSpPr>
        <p:spPr>
          <a:xfrm>
            <a:off x="9382125" y="6124575"/>
            <a:ext cx="2512218" cy="161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Render (Infraestructura Cloud)</a:t>
            </a:r>
            <a:endParaRPr/>
          </a:p>
        </p:txBody>
      </p:sp>
      <p:sp>
        <p:nvSpPr>
          <p:cNvPr id="256" name="Google Shape;256;p19"/>
          <p:cNvSpPr txBox="1"/>
          <p:nvPr/>
        </p:nvSpPr>
        <p:spPr>
          <a:xfrm>
            <a:off x="7796956" y="2409825"/>
            <a:ext cx="4395043" cy="1428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SERVICIOS INTEGRADOS</a:t>
            </a:r>
            <a:endParaRPr/>
          </a:p>
        </p:txBody>
      </p:sp>
      <p:sp>
        <p:nvSpPr>
          <p:cNvPr id="257" name="Google Shape;257;p19"/>
          <p:cNvSpPr txBox="1"/>
          <p:nvPr/>
        </p:nvSpPr>
        <p:spPr>
          <a:xfrm>
            <a:off x="809625" y="1962150"/>
            <a:ext cx="3305175" cy="581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25" u="none" cap="none" strike="noStrike">
                <a:solidFill>
                  <a:srgbClr val="D97706"/>
                </a:solidFill>
                <a:latin typeface="Inter"/>
                <a:ea typeface="Inter"/>
                <a:cs typeface="Inter"/>
                <a:sym typeface="Inter"/>
              </a:rPr>
              <a:t>1. PLATAFORMAS DE USUARIO</a:t>
            </a:r>
            <a:endParaRPr/>
          </a:p>
        </p:txBody>
      </p:sp>
      <p:sp>
        <p:nvSpPr>
          <p:cNvPr id="258" name="Google Shape;258;p19"/>
          <p:cNvSpPr txBox="1"/>
          <p:nvPr/>
        </p:nvSpPr>
        <p:spPr>
          <a:xfrm>
            <a:off x="809625" y="3219450"/>
            <a:ext cx="3000375" cy="581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25" u="none" cap="none" strike="noStrike">
                <a:solidFill>
                  <a:srgbClr val="D97706"/>
                </a:solidFill>
                <a:latin typeface="Inter"/>
                <a:ea typeface="Inter"/>
                <a:cs typeface="Inter"/>
                <a:sym typeface="Inter"/>
              </a:rPr>
              <a:t>2. CAPA DE NEGOCIO &amp; API</a:t>
            </a:r>
            <a:endParaRPr/>
          </a:p>
        </p:txBody>
      </p:sp>
      <p:sp>
        <p:nvSpPr>
          <p:cNvPr id="259" name="Google Shape;259;p19"/>
          <p:cNvSpPr txBox="1"/>
          <p:nvPr/>
        </p:nvSpPr>
        <p:spPr>
          <a:xfrm>
            <a:off x="809625" y="4476750"/>
            <a:ext cx="2066925" cy="581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25" u="none" cap="none" strike="noStrike">
                <a:solidFill>
                  <a:srgbClr val="D97706"/>
                </a:solidFill>
                <a:latin typeface="Inter"/>
                <a:ea typeface="Inter"/>
                <a:cs typeface="Inter"/>
                <a:sym typeface="Inter"/>
              </a:rPr>
              <a:t>3. BASE DE DATOS CENTRALIZADA</a:t>
            </a:r>
            <a:endParaRPr/>
          </a:p>
        </p:txBody>
      </p:sp>
      <p:sp>
        <p:nvSpPr>
          <p:cNvPr id="260" name="Google Shape;260;p19"/>
          <p:cNvSpPr txBox="1"/>
          <p:nvPr/>
        </p:nvSpPr>
        <p:spPr>
          <a:xfrm>
            <a:off x="7939831" y="2790825"/>
            <a:ext cx="4252168" cy="161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22860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rPr>
              <a:t>Cloudinary</a:t>
            </a:r>
            <a:endParaRPr/>
          </a:p>
        </p:txBody>
      </p:sp>
      <p:sp>
        <p:nvSpPr>
          <p:cNvPr id="261" name="Google Shape;261;p19"/>
          <p:cNvSpPr txBox="1"/>
          <p:nvPr/>
        </p:nvSpPr>
        <p:spPr>
          <a:xfrm>
            <a:off x="7939831" y="2971800"/>
            <a:ext cx="4252168" cy="1428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Almacenamiento de imágenes</a:t>
            </a:r>
            <a:endParaRPr/>
          </a:p>
        </p:txBody>
      </p:sp>
      <p:sp>
        <p:nvSpPr>
          <p:cNvPr id="262" name="Google Shape;262;p19"/>
          <p:cNvSpPr txBox="1"/>
          <p:nvPr/>
        </p:nvSpPr>
        <p:spPr>
          <a:xfrm>
            <a:off x="7939831" y="3476625"/>
            <a:ext cx="4252168" cy="161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80975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rPr>
              <a:t> Google Cloud</a:t>
            </a:r>
            <a:endParaRPr/>
          </a:p>
        </p:txBody>
      </p:sp>
      <p:sp>
        <p:nvSpPr>
          <p:cNvPr id="263" name="Google Shape;263;p19"/>
          <p:cNvSpPr txBox="1"/>
          <p:nvPr/>
        </p:nvSpPr>
        <p:spPr>
          <a:xfrm>
            <a:off x="7939831" y="3657600"/>
            <a:ext cx="4252168" cy="1428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Recuperación de contraseña</a:t>
            </a:r>
            <a:endParaRPr/>
          </a:p>
        </p:txBody>
      </p:sp>
      <p:sp>
        <p:nvSpPr>
          <p:cNvPr id="264" name="Google Shape;264;p19"/>
          <p:cNvSpPr txBox="1"/>
          <p:nvPr/>
        </p:nvSpPr>
        <p:spPr>
          <a:xfrm>
            <a:off x="7939831" y="4162425"/>
            <a:ext cx="4252168" cy="161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20955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92400E"/>
                </a:solidFill>
                <a:latin typeface="Inter"/>
                <a:ea typeface="Inter"/>
                <a:cs typeface="Inter"/>
                <a:sym typeface="Inter"/>
              </a:rPr>
              <a:t>Mercado Pago Sandbox</a:t>
            </a:r>
            <a:endParaRPr/>
          </a:p>
        </p:txBody>
      </p:sp>
      <p:sp>
        <p:nvSpPr>
          <p:cNvPr id="265" name="Google Shape;265;p19"/>
          <p:cNvSpPr txBox="1"/>
          <p:nvPr/>
        </p:nvSpPr>
        <p:spPr>
          <a:xfrm>
            <a:off x="7939831" y="4343400"/>
            <a:ext cx="4252168" cy="1428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B45309"/>
                </a:solidFill>
                <a:latin typeface="Inter"/>
                <a:ea typeface="Inter"/>
                <a:cs typeface="Inter"/>
                <a:sym typeface="Inter"/>
              </a:rPr>
              <a:t>Simulación de pago en entorno de prueba</a:t>
            </a:r>
            <a:endParaRPr/>
          </a:p>
        </p:txBody>
      </p:sp>
      <p:sp>
        <p:nvSpPr>
          <p:cNvPr id="266" name="Google Shape;266;p19"/>
          <p:cNvSpPr txBox="1"/>
          <p:nvPr/>
        </p:nvSpPr>
        <p:spPr>
          <a:xfrm>
            <a:off x="809625" y="2171700"/>
            <a:ext cx="4012406" cy="200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Web + Aplicación Móvil</a:t>
            </a:r>
            <a:endParaRPr/>
          </a:p>
        </p:txBody>
      </p:sp>
      <p:sp>
        <p:nvSpPr>
          <p:cNvPr id="267" name="Google Shape;267;p19"/>
          <p:cNvSpPr txBox="1"/>
          <p:nvPr/>
        </p:nvSpPr>
        <p:spPr>
          <a:xfrm>
            <a:off x="809625" y="2390775"/>
            <a:ext cx="4012406" cy="1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HTML • CSS • JavaScript • Ionic • Angular • Capacitor</a:t>
            </a:r>
            <a:endParaRPr/>
          </a:p>
        </p:txBody>
      </p:sp>
      <p:sp>
        <p:nvSpPr>
          <p:cNvPr id="268" name="Google Shape;268;p19"/>
          <p:cNvSpPr txBox="1"/>
          <p:nvPr/>
        </p:nvSpPr>
        <p:spPr>
          <a:xfrm>
            <a:off x="809625" y="3429000"/>
            <a:ext cx="3631406" cy="200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Django + Django REST Framework</a:t>
            </a:r>
            <a:endParaRPr/>
          </a:p>
        </p:txBody>
      </p:sp>
      <p:sp>
        <p:nvSpPr>
          <p:cNvPr id="269" name="Google Shape;269;p19"/>
          <p:cNvSpPr txBox="1"/>
          <p:nvPr/>
        </p:nvSpPr>
        <p:spPr>
          <a:xfrm>
            <a:off x="809625" y="3648075"/>
            <a:ext cx="3631406" cy="1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Lógica de backend en Python</a:t>
            </a:r>
            <a:endParaRPr/>
          </a:p>
        </p:txBody>
      </p:sp>
      <p:sp>
        <p:nvSpPr>
          <p:cNvPr id="270" name="Google Shape;270;p19"/>
          <p:cNvSpPr txBox="1"/>
          <p:nvPr/>
        </p:nvSpPr>
        <p:spPr>
          <a:xfrm>
            <a:off x="809625" y="4686300"/>
            <a:ext cx="2464593" cy="200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PostgreSQL — Neon</a:t>
            </a:r>
            <a:endParaRPr/>
          </a:p>
        </p:txBody>
      </p:sp>
      <p:sp>
        <p:nvSpPr>
          <p:cNvPr id="271" name="Google Shape;271;p19"/>
          <p:cNvSpPr txBox="1"/>
          <p:nvPr/>
        </p:nvSpPr>
        <p:spPr>
          <a:xfrm>
            <a:off x="809625" y="4905375"/>
            <a:ext cx="2464593" cy="1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Persistencia relacional serverless</a:t>
            </a:r>
            <a:endParaRPr/>
          </a:p>
        </p:txBody>
      </p:sp>
      <p:sp>
        <p:nvSpPr>
          <p:cNvPr id="272" name="Google Shape;272;p19"/>
          <p:cNvSpPr/>
          <p:nvPr/>
        </p:nvSpPr>
        <p:spPr>
          <a:xfrm>
            <a:off x="533400" y="1028700"/>
            <a:ext cx="2148900" cy="681900"/>
          </a:xfrm>
          <a:prstGeom prst="roundRect">
            <a:avLst>
              <a:gd fmla="val 8380" name="adj"/>
            </a:avLst>
          </a:prstGeom>
          <a:solidFill>
            <a:srgbClr val="F8FAF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3" name="Google Shape;273;p19"/>
          <p:cNvSpPr/>
          <p:nvPr/>
        </p:nvSpPr>
        <p:spPr>
          <a:xfrm>
            <a:off x="2777430" y="1028700"/>
            <a:ext cx="2148900" cy="681900"/>
          </a:xfrm>
          <a:prstGeom prst="roundRect">
            <a:avLst>
              <a:gd fmla="val 8380" name="adj"/>
            </a:avLst>
          </a:prstGeom>
          <a:solidFill>
            <a:srgbClr val="F8FAF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4" name="Google Shape;274;p19"/>
          <p:cNvSpPr/>
          <p:nvPr/>
        </p:nvSpPr>
        <p:spPr>
          <a:xfrm>
            <a:off x="5021460" y="1028700"/>
            <a:ext cx="2148900" cy="681900"/>
          </a:xfrm>
          <a:prstGeom prst="roundRect">
            <a:avLst>
              <a:gd fmla="val 8380" name="adj"/>
            </a:avLst>
          </a:prstGeom>
          <a:solidFill>
            <a:srgbClr val="F8FAF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5" name="Google Shape;275;p19"/>
          <p:cNvSpPr/>
          <p:nvPr/>
        </p:nvSpPr>
        <p:spPr>
          <a:xfrm>
            <a:off x="7265640" y="1028700"/>
            <a:ext cx="2148900" cy="681900"/>
          </a:xfrm>
          <a:prstGeom prst="roundRect">
            <a:avLst>
              <a:gd fmla="val 8380" name="adj"/>
            </a:avLst>
          </a:prstGeom>
          <a:solidFill>
            <a:srgbClr val="F8FAF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6" name="Google Shape;276;p19"/>
          <p:cNvSpPr/>
          <p:nvPr/>
        </p:nvSpPr>
        <p:spPr>
          <a:xfrm>
            <a:off x="9509670" y="1028700"/>
            <a:ext cx="2148900" cy="681900"/>
          </a:xfrm>
          <a:prstGeom prst="roundRect">
            <a:avLst>
              <a:gd fmla="val 8380" name="adj"/>
            </a:avLst>
          </a:prstGeom>
          <a:solidFill>
            <a:srgbClr val="FFFBE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7" name="Google Shape;277;p19"/>
          <p:cNvSpPr/>
          <p:nvPr/>
        </p:nvSpPr>
        <p:spPr>
          <a:xfrm>
            <a:off x="533400" y="1028700"/>
            <a:ext cx="2148900" cy="2850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8" name="Google Shape;278;p19"/>
          <p:cNvSpPr/>
          <p:nvPr/>
        </p:nvSpPr>
        <p:spPr>
          <a:xfrm>
            <a:off x="533400" y="1028700"/>
            <a:ext cx="9600" cy="681900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9" name="Google Shape;279;p19"/>
          <p:cNvSpPr/>
          <p:nvPr/>
        </p:nvSpPr>
        <p:spPr>
          <a:xfrm>
            <a:off x="2672655" y="1028700"/>
            <a:ext cx="9600" cy="681900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0" name="Google Shape;280;p19"/>
          <p:cNvSpPr/>
          <p:nvPr/>
        </p:nvSpPr>
        <p:spPr>
          <a:xfrm>
            <a:off x="2777430" y="1028700"/>
            <a:ext cx="2148900" cy="2850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1" name="Google Shape;281;p19"/>
          <p:cNvSpPr/>
          <p:nvPr/>
        </p:nvSpPr>
        <p:spPr>
          <a:xfrm>
            <a:off x="2777430" y="1028700"/>
            <a:ext cx="9600" cy="681900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2" name="Google Shape;282;p19"/>
          <p:cNvSpPr/>
          <p:nvPr/>
        </p:nvSpPr>
        <p:spPr>
          <a:xfrm>
            <a:off x="4916685" y="1028700"/>
            <a:ext cx="9600" cy="681900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3" name="Google Shape;283;p19"/>
          <p:cNvSpPr/>
          <p:nvPr/>
        </p:nvSpPr>
        <p:spPr>
          <a:xfrm>
            <a:off x="5021460" y="1028700"/>
            <a:ext cx="2148900" cy="2850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4" name="Google Shape;284;p19"/>
          <p:cNvSpPr/>
          <p:nvPr/>
        </p:nvSpPr>
        <p:spPr>
          <a:xfrm>
            <a:off x="5021460" y="1028700"/>
            <a:ext cx="9600" cy="681900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5" name="Google Shape;285;p19"/>
          <p:cNvSpPr/>
          <p:nvPr/>
        </p:nvSpPr>
        <p:spPr>
          <a:xfrm>
            <a:off x="7160865" y="1028700"/>
            <a:ext cx="9600" cy="681900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6" name="Google Shape;286;p19"/>
          <p:cNvSpPr/>
          <p:nvPr/>
        </p:nvSpPr>
        <p:spPr>
          <a:xfrm>
            <a:off x="7265640" y="1028700"/>
            <a:ext cx="2148900" cy="2850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7" name="Google Shape;287;p19"/>
          <p:cNvSpPr/>
          <p:nvPr/>
        </p:nvSpPr>
        <p:spPr>
          <a:xfrm>
            <a:off x="7265640" y="1028700"/>
            <a:ext cx="9600" cy="681900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8" name="Google Shape;288;p19"/>
          <p:cNvSpPr/>
          <p:nvPr/>
        </p:nvSpPr>
        <p:spPr>
          <a:xfrm>
            <a:off x="9404895" y="1028700"/>
            <a:ext cx="9600" cy="681900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9" name="Google Shape;289;p19"/>
          <p:cNvSpPr/>
          <p:nvPr/>
        </p:nvSpPr>
        <p:spPr>
          <a:xfrm>
            <a:off x="9509670" y="1028700"/>
            <a:ext cx="2148900" cy="285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0" name="Google Shape;290;p19"/>
          <p:cNvSpPr/>
          <p:nvPr/>
        </p:nvSpPr>
        <p:spPr>
          <a:xfrm>
            <a:off x="9509670" y="1028700"/>
            <a:ext cx="9600" cy="681900"/>
          </a:xfrm>
          <a:prstGeom prst="rect">
            <a:avLst/>
          </a:prstGeom>
          <a:solidFill>
            <a:srgbClr val="FDE68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1" name="Google Shape;291;p19"/>
          <p:cNvSpPr/>
          <p:nvPr/>
        </p:nvSpPr>
        <p:spPr>
          <a:xfrm>
            <a:off x="11649075" y="1028700"/>
            <a:ext cx="9600" cy="681900"/>
          </a:xfrm>
          <a:prstGeom prst="rect">
            <a:avLst/>
          </a:prstGeom>
          <a:solidFill>
            <a:srgbClr val="FDE68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292" name="Google Shape;292;p19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657225" y="1171575"/>
            <a:ext cx="133350" cy="1143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93" name="Google Shape;293;p19"/>
          <p:cNvPicPr preferRelativeResize="0"/>
          <p:nvPr/>
        </p:nvPicPr>
        <p:blipFill rotWithShape="1">
          <a:blip r:embed="rId12">
            <a:alphaModFix/>
          </a:blip>
          <a:srcRect b="0" l="0" r="0" t="0"/>
          <a:stretch/>
        </p:blipFill>
        <p:spPr>
          <a:xfrm>
            <a:off x="2901255" y="1171575"/>
            <a:ext cx="142875" cy="1143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94" name="Google Shape;294;p19"/>
          <p:cNvPicPr preferRelativeResize="0"/>
          <p:nvPr/>
        </p:nvPicPr>
        <p:blipFill rotWithShape="1">
          <a:blip r:embed="rId13">
            <a:alphaModFix/>
          </a:blip>
          <a:srcRect b="0" l="0" r="0" t="0"/>
          <a:stretch/>
        </p:blipFill>
        <p:spPr>
          <a:xfrm>
            <a:off x="5145285" y="1171575"/>
            <a:ext cx="142875" cy="1143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95" name="Google Shape;295;p19"/>
          <p:cNvPicPr preferRelativeResize="0"/>
          <p:nvPr/>
        </p:nvPicPr>
        <p:blipFill rotWithShape="1">
          <a:blip r:embed="rId14">
            <a:alphaModFix/>
          </a:blip>
          <a:srcRect b="0" l="0" r="0" t="0"/>
          <a:stretch/>
        </p:blipFill>
        <p:spPr>
          <a:xfrm>
            <a:off x="7389465" y="1171575"/>
            <a:ext cx="114300" cy="1143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96" name="Google Shape;296;p19"/>
          <p:cNvPicPr preferRelativeResize="0"/>
          <p:nvPr/>
        </p:nvPicPr>
        <p:blipFill rotWithShape="1">
          <a:blip r:embed="rId15">
            <a:alphaModFix/>
          </a:blip>
          <a:srcRect b="0" l="0" r="0" t="0"/>
          <a:stretch/>
        </p:blipFill>
        <p:spPr>
          <a:xfrm>
            <a:off x="9633495" y="1171575"/>
            <a:ext cx="85725" cy="114300"/>
          </a:xfrm>
          <a:prstGeom prst="rect">
            <a:avLst/>
          </a:prstGeom>
          <a:noFill/>
          <a:ln>
            <a:noFill/>
          </a:ln>
        </p:spPr>
      </p:pic>
      <p:sp>
        <p:nvSpPr>
          <p:cNvPr id="297" name="Google Shape;297;p19"/>
          <p:cNvSpPr txBox="1"/>
          <p:nvPr/>
        </p:nvSpPr>
        <p:spPr>
          <a:xfrm>
            <a:off x="657225" y="1152525"/>
            <a:ext cx="23763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7145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rPr>
              <a:t>Vista Lógica</a:t>
            </a:r>
            <a:endParaRPr/>
          </a:p>
        </p:txBody>
      </p:sp>
      <p:sp>
        <p:nvSpPr>
          <p:cNvPr id="298" name="Google Shape;298;p19"/>
          <p:cNvSpPr txBox="1"/>
          <p:nvPr/>
        </p:nvSpPr>
        <p:spPr>
          <a:xfrm>
            <a:off x="657225" y="1333500"/>
            <a:ext cx="1996500" cy="291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993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25" u="none" cap="none" strike="noStrik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Usuarios, Productos, Categorías, Stock, Carrito y Compras.</a:t>
            </a:r>
            <a:endParaRPr/>
          </a:p>
        </p:txBody>
      </p:sp>
      <p:sp>
        <p:nvSpPr>
          <p:cNvPr id="299" name="Google Shape;299;p19"/>
          <p:cNvSpPr txBox="1"/>
          <p:nvPr/>
        </p:nvSpPr>
        <p:spPr>
          <a:xfrm>
            <a:off x="2901255" y="1152525"/>
            <a:ext cx="23763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80975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rPr>
              <a:t>Vista Desarrollo</a:t>
            </a:r>
            <a:endParaRPr/>
          </a:p>
        </p:txBody>
      </p:sp>
      <p:sp>
        <p:nvSpPr>
          <p:cNvPr id="300" name="Google Shape;300;p19"/>
          <p:cNvSpPr txBox="1"/>
          <p:nvPr/>
        </p:nvSpPr>
        <p:spPr>
          <a:xfrm>
            <a:off x="2901255" y="1333500"/>
            <a:ext cx="1996500" cy="291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993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25" u="none" cap="none" strike="noStrik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Presentación → Lógica → Datos → Externos.</a:t>
            </a:r>
            <a:endParaRPr/>
          </a:p>
        </p:txBody>
      </p:sp>
      <p:sp>
        <p:nvSpPr>
          <p:cNvPr id="301" name="Google Shape;301;p19"/>
          <p:cNvSpPr txBox="1"/>
          <p:nvPr/>
        </p:nvSpPr>
        <p:spPr>
          <a:xfrm>
            <a:off x="5145285" y="1152525"/>
            <a:ext cx="23766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80975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rPr>
              <a:t>Vista Procesos</a:t>
            </a:r>
            <a:endParaRPr/>
          </a:p>
        </p:txBody>
      </p:sp>
      <p:sp>
        <p:nvSpPr>
          <p:cNvPr id="302" name="Google Shape;302;p19"/>
          <p:cNvSpPr txBox="1"/>
          <p:nvPr/>
        </p:nvSpPr>
        <p:spPr>
          <a:xfrm>
            <a:off x="5145285" y="1333500"/>
            <a:ext cx="1996500" cy="291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993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25" u="none" cap="none" strike="noStrik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Web/Móvil → API REST → Lógica → Datos/Servicios.</a:t>
            </a:r>
            <a:endParaRPr/>
          </a:p>
        </p:txBody>
      </p:sp>
      <p:sp>
        <p:nvSpPr>
          <p:cNvPr id="303" name="Google Shape;303;p19"/>
          <p:cNvSpPr txBox="1"/>
          <p:nvPr/>
        </p:nvSpPr>
        <p:spPr>
          <a:xfrm>
            <a:off x="7389465" y="1152525"/>
            <a:ext cx="23763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5240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rPr>
              <a:t>Vista Física</a:t>
            </a:r>
            <a:endParaRPr/>
          </a:p>
        </p:txBody>
      </p:sp>
      <p:sp>
        <p:nvSpPr>
          <p:cNvPr id="304" name="Google Shape;304;p19"/>
          <p:cNvSpPr txBox="1"/>
          <p:nvPr/>
        </p:nvSpPr>
        <p:spPr>
          <a:xfrm>
            <a:off x="7389465" y="1333500"/>
            <a:ext cx="1996500" cy="291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993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25" u="none" cap="none" strike="noStrik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Dispositivos → Render → Neon + Servicios externos.</a:t>
            </a:r>
            <a:endParaRPr/>
          </a:p>
        </p:txBody>
      </p:sp>
      <p:sp>
        <p:nvSpPr>
          <p:cNvPr id="305" name="Google Shape;305;p19"/>
          <p:cNvSpPr txBox="1"/>
          <p:nvPr/>
        </p:nvSpPr>
        <p:spPr>
          <a:xfrm>
            <a:off x="9633495" y="1152525"/>
            <a:ext cx="23766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23825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92400E"/>
                </a:solidFill>
                <a:latin typeface="Inter"/>
                <a:ea typeface="Inter"/>
                <a:cs typeface="Inter"/>
                <a:sym typeface="Inter"/>
              </a:rPr>
              <a:t>+1 Escenarios</a:t>
            </a:r>
            <a:endParaRPr/>
          </a:p>
        </p:txBody>
      </p:sp>
      <p:sp>
        <p:nvSpPr>
          <p:cNvPr id="306" name="Google Shape;306;p19"/>
          <p:cNvSpPr txBox="1"/>
          <p:nvPr/>
        </p:nvSpPr>
        <p:spPr>
          <a:xfrm>
            <a:off x="9633495" y="1333500"/>
            <a:ext cx="1996500" cy="291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993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25" u="none" cap="none" strike="noStrike">
                <a:solidFill>
                  <a:srgbClr val="B45309"/>
                </a:solidFill>
                <a:latin typeface="Inter"/>
                <a:ea typeface="Inter"/>
                <a:cs typeface="Inter"/>
                <a:sym typeface="Inter"/>
              </a:rPr>
              <a:t>Registrar cuenta, consultar productos, carrito y compra.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10" name="Shape 3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1" name="Google Shape;311;p20"/>
          <p:cNvSpPr/>
          <p:nvPr/>
        </p:nvSpPr>
        <p:spPr>
          <a:xfrm>
            <a:off x="762000" y="1438275"/>
            <a:ext cx="5181600" cy="4886325"/>
          </a:xfrm>
          <a:prstGeom prst="roundRect">
            <a:avLst>
              <a:gd fmla="val 2339" name="adj"/>
            </a:avLst>
          </a:prstGeom>
          <a:solidFill>
            <a:srgbClr val="F8FAFC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2" name="Google Shape;312;p20"/>
          <p:cNvSpPr/>
          <p:nvPr/>
        </p:nvSpPr>
        <p:spPr>
          <a:xfrm>
            <a:off x="6248400" y="1438275"/>
            <a:ext cx="5181600" cy="4886325"/>
          </a:xfrm>
          <a:prstGeom prst="roundRect">
            <a:avLst>
              <a:gd fmla="val 2339" name="adj"/>
            </a:avLst>
          </a:prstGeom>
          <a:solidFill>
            <a:srgbClr val="F8FAFC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3" name="Google Shape;313;p20"/>
          <p:cNvSpPr/>
          <p:nvPr/>
        </p:nvSpPr>
        <p:spPr>
          <a:xfrm>
            <a:off x="1038225" y="1714500"/>
            <a:ext cx="4629150" cy="3619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4" name="Google Shape;314;p20"/>
          <p:cNvSpPr/>
          <p:nvPr/>
        </p:nvSpPr>
        <p:spPr>
          <a:xfrm>
            <a:off x="6524625" y="1714500"/>
            <a:ext cx="4629150" cy="3619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5" name="Google Shape;315;p20"/>
          <p:cNvSpPr/>
          <p:nvPr/>
        </p:nvSpPr>
        <p:spPr>
          <a:xfrm>
            <a:off x="1038225" y="2057400"/>
            <a:ext cx="4629150" cy="1905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6" name="Google Shape;316;p20"/>
          <p:cNvSpPr/>
          <p:nvPr/>
        </p:nvSpPr>
        <p:spPr>
          <a:xfrm>
            <a:off x="6524625" y="2057400"/>
            <a:ext cx="4629150" cy="1905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317" name="Google Shape;317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38225" y="1724025"/>
            <a:ext cx="209550" cy="2095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18" name="Google Shape;318;p2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524625" y="1724025"/>
            <a:ext cx="209550" cy="2095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19" name="Google Shape;319;p2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038225" y="2286000"/>
            <a:ext cx="123825" cy="1428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20" name="Google Shape;320;p2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038225" y="2600325"/>
            <a:ext cx="123825" cy="1428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21" name="Google Shape;321;p2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038225" y="2914650"/>
            <a:ext cx="123825" cy="1428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22" name="Google Shape;322;p2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038225" y="3228975"/>
            <a:ext cx="123825" cy="1428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23" name="Google Shape;323;p2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038225" y="3543300"/>
            <a:ext cx="123825" cy="1428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24" name="Google Shape;324;p20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524625" y="2286000"/>
            <a:ext cx="123825" cy="1428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25" name="Google Shape;325;p20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524625" y="2581275"/>
            <a:ext cx="123825" cy="1428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26" name="Google Shape;326;p20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524625" y="2876550"/>
            <a:ext cx="123825" cy="1428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27" name="Google Shape;327;p20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524625" y="3171825"/>
            <a:ext cx="123825" cy="1428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28" name="Google Shape;328;p20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524625" y="3467100"/>
            <a:ext cx="123825" cy="1428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29" name="Google Shape;329;p20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524625" y="3762375"/>
            <a:ext cx="123825" cy="1428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30" name="Google Shape;330;p20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524625" y="4057650"/>
            <a:ext cx="123825" cy="142875"/>
          </a:xfrm>
          <a:prstGeom prst="rect">
            <a:avLst/>
          </a:prstGeom>
          <a:noFill/>
          <a:ln>
            <a:noFill/>
          </a:ln>
        </p:spPr>
      </p:pic>
      <p:sp>
        <p:nvSpPr>
          <p:cNvPr id="331" name="Google Shape;331;p20"/>
          <p:cNvSpPr txBox="1"/>
          <p:nvPr/>
        </p:nvSpPr>
        <p:spPr>
          <a:xfrm>
            <a:off x="762000" y="533400"/>
            <a:ext cx="11430000" cy="161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D97706"/>
                </a:solidFill>
                <a:latin typeface="Inter"/>
                <a:ea typeface="Inter"/>
                <a:cs typeface="Inter"/>
                <a:sym typeface="Inter"/>
              </a:rPr>
              <a:t>SEGUIMIENTO DEL PROYECTO</a:t>
            </a:r>
            <a:endParaRPr/>
          </a:p>
        </p:txBody>
      </p:sp>
      <p:sp>
        <p:nvSpPr>
          <p:cNvPr id="332" name="Google Shape;332;p20"/>
          <p:cNvSpPr txBox="1"/>
          <p:nvPr/>
        </p:nvSpPr>
        <p:spPr>
          <a:xfrm>
            <a:off x="762000" y="752475"/>
            <a:ext cx="11430000" cy="419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700" u="none" cap="none" strike="noStrike">
                <a:solidFill>
                  <a:srgbClr val="1C1917"/>
                </a:solidFill>
                <a:latin typeface="Inter"/>
                <a:ea typeface="Inter"/>
                <a:cs typeface="Inter"/>
                <a:sym typeface="Inter"/>
              </a:rPr>
              <a:t>Estado Actual — Semana 8</a:t>
            </a:r>
            <a:endParaRPr/>
          </a:p>
        </p:txBody>
      </p:sp>
      <p:sp>
        <p:nvSpPr>
          <p:cNvPr id="333" name="Google Shape;333;p20"/>
          <p:cNvSpPr txBox="1"/>
          <p:nvPr/>
        </p:nvSpPr>
        <p:spPr>
          <a:xfrm>
            <a:off x="1343025" y="1714500"/>
            <a:ext cx="3150393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rPr>
              <a:t>COMPLETADO / DEFINIDO</a:t>
            </a:r>
            <a:endParaRPr/>
          </a:p>
        </p:txBody>
      </p:sp>
      <p:sp>
        <p:nvSpPr>
          <p:cNvPr id="334" name="Google Shape;334;p20"/>
          <p:cNvSpPr txBox="1"/>
          <p:nvPr/>
        </p:nvSpPr>
        <p:spPr>
          <a:xfrm>
            <a:off x="1038225" y="2266950"/>
            <a:ext cx="5786437" cy="1809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219075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Modelo de datos definido.</a:t>
            </a:r>
            <a:endParaRPr/>
          </a:p>
        </p:txBody>
      </p:sp>
      <p:sp>
        <p:nvSpPr>
          <p:cNvPr id="335" name="Google Shape;335;p20"/>
          <p:cNvSpPr txBox="1"/>
          <p:nvPr/>
        </p:nvSpPr>
        <p:spPr>
          <a:xfrm>
            <a:off x="1038225" y="2581275"/>
            <a:ext cx="5786437" cy="1809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219075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Casos de uso definidos.</a:t>
            </a:r>
            <a:endParaRPr/>
          </a:p>
        </p:txBody>
      </p:sp>
      <p:sp>
        <p:nvSpPr>
          <p:cNvPr id="336" name="Google Shape;336;p20"/>
          <p:cNvSpPr txBox="1"/>
          <p:nvPr/>
        </p:nvSpPr>
        <p:spPr>
          <a:xfrm>
            <a:off x="1038225" y="2895600"/>
            <a:ext cx="5786437" cy="1809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219075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Arquitectura definida.</a:t>
            </a:r>
            <a:endParaRPr/>
          </a:p>
        </p:txBody>
      </p:sp>
      <p:sp>
        <p:nvSpPr>
          <p:cNvPr id="337" name="Google Shape;337;p20"/>
          <p:cNvSpPr txBox="1"/>
          <p:nvPr/>
        </p:nvSpPr>
        <p:spPr>
          <a:xfrm>
            <a:off x="1038225" y="3209925"/>
            <a:ext cx="5786437" cy="1809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219075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Desarrollo del sistema avanzado.</a:t>
            </a:r>
            <a:endParaRPr/>
          </a:p>
        </p:txBody>
      </p:sp>
      <p:sp>
        <p:nvSpPr>
          <p:cNvPr id="338" name="Google Shape;338;p20"/>
          <p:cNvSpPr txBox="1"/>
          <p:nvPr/>
        </p:nvSpPr>
        <p:spPr>
          <a:xfrm>
            <a:off x="1038225" y="3524250"/>
            <a:ext cx="5786437" cy="1809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219075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Casos de prueba documentados.</a:t>
            </a:r>
            <a:endParaRPr/>
          </a:p>
        </p:txBody>
      </p:sp>
      <p:sp>
        <p:nvSpPr>
          <p:cNvPr id="339" name="Google Shape;339;p20"/>
          <p:cNvSpPr txBox="1"/>
          <p:nvPr/>
        </p:nvSpPr>
        <p:spPr>
          <a:xfrm>
            <a:off x="6829425" y="1714500"/>
            <a:ext cx="2250281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rPr>
              <a:t>PRÓXIMOS PASOS</a:t>
            </a:r>
            <a:endParaRPr/>
          </a:p>
        </p:txBody>
      </p:sp>
      <p:sp>
        <p:nvSpPr>
          <p:cNvPr id="340" name="Google Shape;340;p20"/>
          <p:cNvSpPr txBox="1"/>
          <p:nvPr/>
        </p:nvSpPr>
        <p:spPr>
          <a:xfrm>
            <a:off x="6524625" y="2266950"/>
            <a:ext cx="5667375" cy="1809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219075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Continuar desarrollo Web / Mobile.</a:t>
            </a:r>
            <a:endParaRPr/>
          </a:p>
        </p:txBody>
      </p:sp>
      <p:sp>
        <p:nvSpPr>
          <p:cNvPr id="341" name="Google Shape;341;p20"/>
          <p:cNvSpPr txBox="1"/>
          <p:nvPr/>
        </p:nvSpPr>
        <p:spPr>
          <a:xfrm>
            <a:off x="6524625" y="2562225"/>
            <a:ext cx="5667375" cy="1809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219075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Integración de componentes.</a:t>
            </a:r>
            <a:endParaRPr/>
          </a:p>
        </p:txBody>
      </p:sp>
      <p:sp>
        <p:nvSpPr>
          <p:cNvPr id="342" name="Google Shape;342;p20"/>
          <p:cNvSpPr txBox="1"/>
          <p:nvPr/>
        </p:nvSpPr>
        <p:spPr>
          <a:xfrm>
            <a:off x="6524625" y="2857500"/>
            <a:ext cx="5667375" cy="1809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219075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Integración API REST.</a:t>
            </a:r>
            <a:endParaRPr/>
          </a:p>
        </p:txBody>
      </p:sp>
      <p:sp>
        <p:nvSpPr>
          <p:cNvPr id="343" name="Google Shape;343;p20"/>
          <p:cNvSpPr txBox="1"/>
          <p:nvPr/>
        </p:nvSpPr>
        <p:spPr>
          <a:xfrm>
            <a:off x="6524625" y="3152775"/>
            <a:ext cx="5667375" cy="1809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219075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Ejecución de pruebas QA.</a:t>
            </a:r>
            <a:endParaRPr/>
          </a:p>
        </p:txBody>
      </p:sp>
      <p:sp>
        <p:nvSpPr>
          <p:cNvPr id="344" name="Google Shape;344;p20"/>
          <p:cNvSpPr txBox="1"/>
          <p:nvPr/>
        </p:nvSpPr>
        <p:spPr>
          <a:xfrm>
            <a:off x="6524625" y="3448050"/>
            <a:ext cx="5667375" cy="1809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219075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Corrección de errores.</a:t>
            </a:r>
            <a:endParaRPr/>
          </a:p>
        </p:txBody>
      </p:sp>
      <p:sp>
        <p:nvSpPr>
          <p:cNvPr id="345" name="Google Shape;345;p20"/>
          <p:cNvSpPr txBox="1"/>
          <p:nvPr/>
        </p:nvSpPr>
        <p:spPr>
          <a:xfrm>
            <a:off x="6524625" y="3743325"/>
            <a:ext cx="5667375" cy="1809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219075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Despliegue final.</a:t>
            </a:r>
            <a:endParaRPr/>
          </a:p>
        </p:txBody>
      </p:sp>
      <p:sp>
        <p:nvSpPr>
          <p:cNvPr id="346" name="Google Shape;346;p20"/>
          <p:cNvSpPr txBox="1"/>
          <p:nvPr/>
        </p:nvSpPr>
        <p:spPr>
          <a:xfrm>
            <a:off x="6524625" y="4038600"/>
            <a:ext cx="5667375" cy="1809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219075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Presentación y cierre.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C1917"/>
        </a:solidFill>
      </p:bgPr>
    </p:bg>
    <p:spTree>
      <p:nvGrpSpPr>
        <p:cNvPr id="350" name="Shape 3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1" name="Google Shape;351;p21"/>
          <p:cNvSpPr/>
          <p:nvPr/>
        </p:nvSpPr>
        <p:spPr>
          <a:xfrm>
            <a:off x="6124575" y="3562350"/>
            <a:ext cx="9525" cy="381000"/>
          </a:xfrm>
          <a:prstGeom prst="rect">
            <a:avLst/>
          </a:prstGeom>
          <a:solidFill>
            <a:srgbClr val="FFFFFF">
              <a:alpha val="20000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2" name="Google Shape;352;p21"/>
          <p:cNvSpPr txBox="1"/>
          <p:nvPr/>
        </p:nvSpPr>
        <p:spPr>
          <a:xfrm>
            <a:off x="3958232" y="1809750"/>
            <a:ext cx="4275534" cy="647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200" u="none" cap="none" strike="noStrike">
                <a:solidFill>
                  <a:srgbClr val="FAFAF9"/>
                </a:solidFill>
                <a:latin typeface="Inter"/>
                <a:ea typeface="Inter"/>
                <a:cs typeface="Inter"/>
                <a:sym typeface="Inter"/>
              </a:rPr>
              <a:t>FerreMundo</a:t>
            </a:r>
            <a:endParaRPr/>
          </a:p>
        </p:txBody>
      </p:sp>
      <p:sp>
        <p:nvSpPr>
          <p:cNvPr id="353" name="Google Shape;353;p21"/>
          <p:cNvSpPr txBox="1"/>
          <p:nvPr/>
        </p:nvSpPr>
        <p:spPr>
          <a:xfrm>
            <a:off x="1928812" y="2609850"/>
            <a:ext cx="8334375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D6D3D1"/>
                </a:solidFill>
                <a:latin typeface="Inter"/>
                <a:ea typeface="Inter"/>
                <a:cs typeface="Inter"/>
                <a:sym typeface="Inter"/>
              </a:rPr>
              <a:t>Sistema integrado para la gestión y comercialización de productos de la Ferretería ConstruMax.</a:t>
            </a:r>
            <a:endParaRPr/>
          </a:p>
        </p:txBody>
      </p:sp>
      <p:sp>
        <p:nvSpPr>
          <p:cNvPr id="354" name="Google Shape;354;p21"/>
          <p:cNvSpPr txBox="1"/>
          <p:nvPr/>
        </p:nvSpPr>
        <p:spPr>
          <a:xfrm>
            <a:off x="3140273" y="4400550"/>
            <a:ext cx="5911453" cy="161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78716C"/>
                </a:solidFill>
                <a:latin typeface="Inter"/>
                <a:ea typeface="Inter"/>
                <a:cs typeface="Inter"/>
                <a:sym typeface="Inter"/>
              </a:rPr>
              <a:t>CAPSTONE_011V — INGENIERÍA EN INFORMÁTICA • DUOC UC</a:t>
            </a:r>
            <a:endParaRPr/>
          </a:p>
        </p:txBody>
      </p:sp>
      <p:sp>
        <p:nvSpPr>
          <p:cNvPr id="355" name="Google Shape;355;p21"/>
          <p:cNvSpPr txBox="1"/>
          <p:nvPr/>
        </p:nvSpPr>
        <p:spPr>
          <a:xfrm>
            <a:off x="5202138" y="4676775"/>
            <a:ext cx="1787723" cy="3714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F59E0B"/>
                </a:solidFill>
                <a:latin typeface="Inter"/>
                <a:ea typeface="Inter"/>
                <a:cs typeface="Inter"/>
                <a:sym typeface="Inter"/>
              </a:rPr>
              <a:t>¡Gracias!</a:t>
            </a:r>
            <a:endParaRPr/>
          </a:p>
        </p:txBody>
      </p:sp>
      <p:sp>
        <p:nvSpPr>
          <p:cNvPr id="356" name="Google Shape;356;p21"/>
          <p:cNvSpPr txBox="1"/>
          <p:nvPr/>
        </p:nvSpPr>
        <p:spPr>
          <a:xfrm>
            <a:off x="4533900" y="3562350"/>
            <a:ext cx="1428900" cy="346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b="1" lang="en-US" sz="1125">
                <a:solidFill>
                  <a:srgbClr val="FAFAF9"/>
                </a:solidFill>
                <a:latin typeface="Inter"/>
                <a:ea typeface="Inter"/>
                <a:cs typeface="Inter"/>
                <a:sym typeface="Inter"/>
              </a:rPr>
              <a:t>Alan Cruz</a:t>
            </a:r>
            <a:endParaRPr>
              <a:solidFill>
                <a:schemeClr val="dk1"/>
              </a:solidFill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125">
              <a:solidFill>
                <a:srgbClr val="FAFAF9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357" name="Google Shape;357;p21"/>
          <p:cNvSpPr txBox="1"/>
          <p:nvPr/>
        </p:nvSpPr>
        <p:spPr>
          <a:xfrm>
            <a:off x="4533900" y="3781425"/>
            <a:ext cx="1428900" cy="1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>
                <a:solidFill>
                  <a:srgbClr val="A8A29E"/>
                </a:solidFill>
                <a:latin typeface="Inter"/>
                <a:ea typeface="Inter"/>
                <a:cs typeface="Inter"/>
                <a:sym typeface="Inter"/>
              </a:rPr>
              <a:t>Jefe de Proyecto</a:t>
            </a:r>
            <a:endParaRPr/>
          </a:p>
        </p:txBody>
      </p:sp>
      <p:sp>
        <p:nvSpPr>
          <p:cNvPr id="358" name="Google Shape;358;p21"/>
          <p:cNvSpPr txBox="1"/>
          <p:nvPr/>
        </p:nvSpPr>
        <p:spPr>
          <a:xfrm>
            <a:off x="6296025" y="3562350"/>
            <a:ext cx="1362000" cy="17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125">
                <a:solidFill>
                  <a:srgbClr val="FAFAF9"/>
                </a:solidFill>
                <a:latin typeface="Inter"/>
                <a:ea typeface="Inter"/>
                <a:cs typeface="Inter"/>
                <a:sym typeface="Inter"/>
              </a:rPr>
              <a:t>Jonatan Gordillo</a:t>
            </a:r>
            <a:endParaRPr/>
          </a:p>
        </p:txBody>
      </p:sp>
      <p:sp>
        <p:nvSpPr>
          <p:cNvPr id="359" name="Google Shape;359;p21"/>
          <p:cNvSpPr txBox="1"/>
          <p:nvPr/>
        </p:nvSpPr>
        <p:spPr>
          <a:xfrm>
            <a:off x="6296025" y="3781425"/>
            <a:ext cx="13620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-US" sz="1050">
                <a:solidFill>
                  <a:srgbClr val="A8A29E"/>
                </a:solidFill>
                <a:latin typeface="Inter"/>
                <a:ea typeface="Inter"/>
                <a:cs typeface="Inter"/>
                <a:sym typeface="Inter"/>
              </a:rPr>
              <a:t>Desarrollo &amp; QA</a:t>
            </a:r>
            <a:endParaRPr>
              <a:solidFill>
                <a:schemeClr val="dk1"/>
              </a:solidFill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50">
              <a:solidFill>
                <a:srgbClr val="A8A29E"/>
              </a:solidFill>
              <a:latin typeface="Inter"/>
              <a:ea typeface="Inter"/>
              <a:cs typeface="Inter"/>
              <a:sym typeface="Inter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