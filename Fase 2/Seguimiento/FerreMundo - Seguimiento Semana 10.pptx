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Inter"/>
      <p:regular r:id="rId16"/>
      <p:bold r:id="rId17"/>
      <p:italic r:id="rId18"/>
      <p:boldItalic r:id="rId19"/>
    </p:embeddedFont>
    <p:embeddedFont>
      <p:font typeface="Tahom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RoeZvdBh2TwtWit4r2GRDxRij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4A8B90-62B0-47FE-B39C-982F7566EF79}">
  <a:tblStyle styleId="{104A8B90-62B0-47FE-B39C-982F7566EF7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regular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Tahoma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5fec9c797b8852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h5fec9c797b8852b1_0_0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5fec9c797b8852b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h5fec9c797b8852b1_0_93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09600" y="4021335"/>
            <a:ext cx="8572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609600" y="4021335"/>
            <a:ext cx="8572500" cy="9525"/>
          </a:xfrm>
          <a:prstGeom prst="rect">
            <a:avLst/>
          </a:prstGeom>
          <a:solidFill>
            <a:srgbClr val="444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6021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612" y="207451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609600" y="2569815"/>
            <a:ext cx="11251406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FerreMundo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09600" y="3354585"/>
            <a:ext cx="107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6D3D1"/>
                </a:solidFill>
                <a:latin typeface="Inter"/>
                <a:ea typeface="Inter"/>
                <a:cs typeface="Inter"/>
                <a:sym typeface="Inter"/>
              </a:rPr>
              <a:t>Seguimiento Semana </a:t>
            </a:r>
            <a:r>
              <a:rPr lang="en-US" sz="2100">
                <a:solidFill>
                  <a:srgbClr val="D6D3D1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181100" y="2088802"/>
            <a:ext cx="708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CAPSTONE 011V</a:t>
            </a:r>
            <a:r>
              <a:rPr b="1" i="0" lang="en-US" sz="13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 — INGENIERÍA EN INFORMÁTICA • DUOC UC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09600" y="4297560"/>
            <a:ext cx="3524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INTEGRANTES DEL EQUIPO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09600" y="4497585"/>
            <a:ext cx="3524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Jonatan Gordillo </a:t>
            </a:r>
            <a:r>
              <a:rPr b="0" i="0" lang="en-US" sz="13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(Desarrollo &amp; QA)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609600" y="4697610"/>
            <a:ext cx="3524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Alan Cruz </a:t>
            </a:r>
            <a:r>
              <a:rPr b="0" i="0" lang="en-US" sz="13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(Jefe de Proyecto)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3886200" y="4297560"/>
            <a:ext cx="406003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PROFESOR GUÍA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3886200" y="4497585"/>
            <a:ext cx="40600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Fernando Gonzalo Herrera Francesconi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5fec9c797b8852b1_0_0"/>
          <p:cNvSpPr txBox="1"/>
          <p:nvPr/>
        </p:nvSpPr>
        <p:spPr>
          <a:xfrm>
            <a:off x="673734" y="474090"/>
            <a:ext cx="14331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MARCO DE TRABAJO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01" name="Google Shape;101;h5fec9c797b8852b1_0_0"/>
          <p:cNvSpPr txBox="1"/>
          <p:nvPr>
            <p:ph type="title"/>
          </p:nvPr>
        </p:nvSpPr>
        <p:spPr>
          <a:xfrm>
            <a:off x="673734" y="693356"/>
            <a:ext cx="71100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1C1817"/>
                </a:solidFill>
              </a:rPr>
              <a:t>Metodología Waterfall (Cascada tradicional)</a:t>
            </a:r>
            <a:endParaRPr sz="2550"/>
          </a:p>
        </p:txBody>
      </p:sp>
      <p:grpSp>
        <p:nvGrpSpPr>
          <p:cNvPr id="102" name="Google Shape;102;h5fec9c797b8852b1_0_0"/>
          <p:cNvGrpSpPr/>
          <p:nvPr/>
        </p:nvGrpSpPr>
        <p:grpSpPr>
          <a:xfrm>
            <a:off x="685800" y="1333499"/>
            <a:ext cx="10820400" cy="1047751"/>
            <a:chOff x="685800" y="1333499"/>
            <a:chExt cx="10820400" cy="1047751"/>
          </a:xfrm>
        </p:grpSpPr>
        <p:sp>
          <p:nvSpPr>
            <p:cNvPr id="103" name="Google Shape;103;h5fec9c797b8852b1_0_0"/>
            <p:cNvSpPr/>
            <p:nvPr/>
          </p:nvSpPr>
          <p:spPr>
            <a:xfrm>
              <a:off x="685800" y="1333500"/>
              <a:ext cx="10820400" cy="1047750"/>
            </a:xfrm>
            <a:custGeom>
              <a:rect b="b" l="l" r="r" t="t"/>
              <a:pathLst>
                <a:path extrusionOk="0" h="1047750" w="10820400">
                  <a:moveTo>
                    <a:pt x="10743946" y="0"/>
                  </a:moveTo>
                  <a:lnTo>
                    <a:pt x="76479" y="0"/>
                  </a:lnTo>
                  <a:lnTo>
                    <a:pt x="46709" y="6016"/>
                  </a:lnTo>
                  <a:lnTo>
                    <a:pt x="22399" y="22415"/>
                  </a:lnTo>
                  <a:lnTo>
                    <a:pt x="6009" y="46720"/>
                  </a:lnTo>
                  <a:lnTo>
                    <a:pt x="0" y="76453"/>
                  </a:lnTo>
                  <a:lnTo>
                    <a:pt x="0" y="971296"/>
                  </a:lnTo>
                  <a:lnTo>
                    <a:pt x="6009" y="1001029"/>
                  </a:lnTo>
                  <a:lnTo>
                    <a:pt x="22399" y="1025334"/>
                  </a:lnTo>
                  <a:lnTo>
                    <a:pt x="46709" y="1041733"/>
                  </a:lnTo>
                  <a:lnTo>
                    <a:pt x="76479" y="1047750"/>
                  </a:lnTo>
                  <a:lnTo>
                    <a:pt x="10743946" y="1047750"/>
                  </a:lnTo>
                  <a:lnTo>
                    <a:pt x="10773679" y="1041733"/>
                  </a:lnTo>
                  <a:lnTo>
                    <a:pt x="10797984" y="1025334"/>
                  </a:lnTo>
                  <a:lnTo>
                    <a:pt x="10814383" y="1001029"/>
                  </a:lnTo>
                  <a:lnTo>
                    <a:pt x="10820400" y="971296"/>
                  </a:lnTo>
                  <a:lnTo>
                    <a:pt x="10820400" y="76453"/>
                  </a:lnTo>
                  <a:lnTo>
                    <a:pt x="10814383" y="46720"/>
                  </a:lnTo>
                  <a:lnTo>
                    <a:pt x="10797984" y="22415"/>
                  </a:lnTo>
                  <a:lnTo>
                    <a:pt x="10773679" y="6016"/>
                  </a:lnTo>
                  <a:lnTo>
                    <a:pt x="10743946" y="0"/>
                  </a:lnTo>
                  <a:close/>
                </a:path>
              </a:pathLst>
            </a:custGeom>
            <a:solidFill>
              <a:srgbClr val="FFFA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h5fec9c797b8852b1_0_0"/>
            <p:cNvSpPr/>
            <p:nvPr/>
          </p:nvSpPr>
          <p:spPr>
            <a:xfrm>
              <a:off x="685800" y="1333499"/>
              <a:ext cx="10820400" cy="1047750"/>
            </a:xfrm>
            <a:custGeom>
              <a:rect b="b" l="l" r="r" t="t"/>
              <a:pathLst>
                <a:path extrusionOk="0" h="1047750" w="10820400">
                  <a:moveTo>
                    <a:pt x="10820400" y="1038225"/>
                  </a:moveTo>
                  <a:lnTo>
                    <a:pt x="0" y="1038225"/>
                  </a:lnTo>
                  <a:lnTo>
                    <a:pt x="0" y="1047750"/>
                  </a:lnTo>
                  <a:lnTo>
                    <a:pt x="10820400" y="1047750"/>
                  </a:lnTo>
                  <a:lnTo>
                    <a:pt x="10820400" y="1038225"/>
                  </a:lnTo>
                  <a:close/>
                </a:path>
                <a:path extrusionOk="0" h="1047750" w="10820400">
                  <a:moveTo>
                    <a:pt x="108204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0820400" y="9525"/>
                  </a:lnTo>
                  <a:lnTo>
                    <a:pt x="10820400" y="0"/>
                  </a:lnTo>
                  <a:close/>
                </a:path>
              </a:pathLst>
            </a:custGeom>
            <a:solidFill>
              <a:srgbClr val="FCE68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h5fec9c797b8852b1_0_0"/>
            <p:cNvSpPr/>
            <p:nvPr/>
          </p:nvSpPr>
          <p:spPr>
            <a:xfrm>
              <a:off x="685800" y="1333500"/>
              <a:ext cx="47625" cy="1047750"/>
            </a:xfrm>
            <a:custGeom>
              <a:rect b="b" l="l" r="r" t="t"/>
              <a:pathLst>
                <a:path extrusionOk="0" h="1047750" w="47625">
                  <a:moveTo>
                    <a:pt x="47625" y="0"/>
                  </a:moveTo>
                  <a:lnTo>
                    <a:pt x="0" y="0"/>
                  </a:lnTo>
                  <a:lnTo>
                    <a:pt x="0" y="1047750"/>
                  </a:lnTo>
                  <a:lnTo>
                    <a:pt x="47625" y="104775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D9770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h5fec9c797b8852b1_0_0"/>
            <p:cNvSpPr/>
            <p:nvPr/>
          </p:nvSpPr>
          <p:spPr>
            <a:xfrm>
              <a:off x="11496675" y="1333500"/>
              <a:ext cx="9525" cy="1047750"/>
            </a:xfrm>
            <a:custGeom>
              <a:rect b="b" l="l" r="r" t="t"/>
              <a:pathLst>
                <a:path extrusionOk="0" h="1047750" w="9525">
                  <a:moveTo>
                    <a:pt x="9525" y="0"/>
                  </a:moveTo>
                  <a:lnTo>
                    <a:pt x="0" y="0"/>
                  </a:lnTo>
                  <a:lnTo>
                    <a:pt x="0" y="1047750"/>
                  </a:lnTo>
                  <a:lnTo>
                    <a:pt x="9525" y="104775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CE68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h5fec9c797b8852b1_0_0"/>
          <p:cNvSpPr txBox="1"/>
          <p:nvPr/>
        </p:nvSpPr>
        <p:spPr>
          <a:xfrm>
            <a:off x="949960" y="1461445"/>
            <a:ext cx="75216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DEFINICIÓN METODOLÓGICA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78350E"/>
                </a:solidFill>
                <a:latin typeface="Tahoma"/>
                <a:ea typeface="Tahoma"/>
                <a:cs typeface="Tahoma"/>
                <a:sym typeface="Tahoma"/>
              </a:rPr>
              <a:t>“Waterfall es una metodología de desarrollo secuencial, donde cada etapa se planifica y completa</a:t>
            </a:r>
            <a:endParaRPr sz="12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78350E"/>
                </a:solidFill>
                <a:latin typeface="Tahoma"/>
                <a:ea typeface="Tahoma"/>
                <a:cs typeface="Tahoma"/>
                <a:sym typeface="Tahoma"/>
              </a:rPr>
              <a:t>antes de avanzar a la siguiente”.</a:t>
            </a:r>
            <a:endParaRPr sz="12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8" name="Google Shape;108;h5fec9c797b8852b1_0_0"/>
          <p:cNvGrpSpPr/>
          <p:nvPr/>
        </p:nvGrpSpPr>
        <p:grpSpPr>
          <a:xfrm>
            <a:off x="9301226" y="1547875"/>
            <a:ext cx="1971695" cy="285750"/>
            <a:chOff x="9301226" y="1547875"/>
            <a:chExt cx="1971695" cy="285750"/>
          </a:xfrm>
        </p:grpSpPr>
        <p:sp>
          <p:nvSpPr>
            <p:cNvPr id="109" name="Google Shape;109;h5fec9c797b8852b1_0_0"/>
            <p:cNvSpPr/>
            <p:nvPr/>
          </p:nvSpPr>
          <p:spPr>
            <a:xfrm>
              <a:off x="9301246" y="1547875"/>
              <a:ext cx="1971675" cy="285750"/>
            </a:xfrm>
            <a:custGeom>
              <a:rect b="b" l="l" r="r" t="t"/>
              <a:pathLst>
                <a:path extrusionOk="0" h="285750" w="1971675">
                  <a:moveTo>
                    <a:pt x="1828779" y="0"/>
                  </a:moveTo>
                  <a:lnTo>
                    <a:pt x="142854" y="0"/>
                  </a:lnTo>
                  <a:lnTo>
                    <a:pt x="97661" y="7275"/>
                  </a:lnTo>
                  <a:lnTo>
                    <a:pt x="58437" y="27541"/>
                  </a:lnTo>
                  <a:lnTo>
                    <a:pt x="27521" y="58457"/>
                  </a:lnTo>
                  <a:lnTo>
                    <a:pt x="7255" y="97682"/>
                  </a:lnTo>
                  <a:lnTo>
                    <a:pt x="0" y="142875"/>
                  </a:lnTo>
                  <a:lnTo>
                    <a:pt x="7288" y="188018"/>
                  </a:lnTo>
                  <a:lnTo>
                    <a:pt x="27548" y="227237"/>
                  </a:lnTo>
                  <a:lnTo>
                    <a:pt x="58452" y="258171"/>
                  </a:lnTo>
                  <a:lnTo>
                    <a:pt x="97668" y="278462"/>
                  </a:lnTo>
                  <a:lnTo>
                    <a:pt x="142854" y="285750"/>
                  </a:lnTo>
                  <a:lnTo>
                    <a:pt x="1828779" y="285750"/>
                  </a:lnTo>
                  <a:lnTo>
                    <a:pt x="1873923" y="278462"/>
                  </a:lnTo>
                  <a:lnTo>
                    <a:pt x="1913142" y="258171"/>
                  </a:lnTo>
                  <a:lnTo>
                    <a:pt x="1944076" y="227237"/>
                  </a:lnTo>
                  <a:lnTo>
                    <a:pt x="1964366" y="188018"/>
                  </a:lnTo>
                  <a:lnTo>
                    <a:pt x="1971654" y="142875"/>
                  </a:lnTo>
                  <a:lnTo>
                    <a:pt x="1964366" y="97682"/>
                  </a:lnTo>
                  <a:lnTo>
                    <a:pt x="1944076" y="58457"/>
                  </a:lnTo>
                  <a:lnTo>
                    <a:pt x="1913142" y="27541"/>
                  </a:lnTo>
                  <a:lnTo>
                    <a:pt x="1873923" y="7275"/>
                  </a:lnTo>
                  <a:lnTo>
                    <a:pt x="1828779" y="0"/>
                  </a:lnTo>
                  <a:close/>
                </a:path>
              </a:pathLst>
            </a:custGeom>
            <a:solidFill>
              <a:srgbClr val="FDF3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h5fec9c797b8852b1_0_0"/>
            <p:cNvSpPr/>
            <p:nvPr/>
          </p:nvSpPr>
          <p:spPr>
            <a:xfrm>
              <a:off x="9301226" y="1547875"/>
              <a:ext cx="1971675" cy="285750"/>
            </a:xfrm>
            <a:custGeom>
              <a:rect b="b" l="l" r="r" t="t"/>
              <a:pathLst>
                <a:path extrusionOk="0" h="285750" w="1971675">
                  <a:moveTo>
                    <a:pt x="0" y="142875"/>
                  </a:moveTo>
                  <a:lnTo>
                    <a:pt x="7275" y="97682"/>
                  </a:lnTo>
                  <a:lnTo>
                    <a:pt x="27541" y="58457"/>
                  </a:lnTo>
                  <a:lnTo>
                    <a:pt x="58457" y="27541"/>
                  </a:lnTo>
                  <a:lnTo>
                    <a:pt x="97682" y="7275"/>
                  </a:lnTo>
                  <a:lnTo>
                    <a:pt x="142875" y="0"/>
                  </a:lnTo>
                  <a:lnTo>
                    <a:pt x="1828800" y="0"/>
                  </a:lnTo>
                  <a:lnTo>
                    <a:pt x="1873943" y="7275"/>
                  </a:lnTo>
                  <a:lnTo>
                    <a:pt x="1913162" y="27541"/>
                  </a:lnTo>
                  <a:lnTo>
                    <a:pt x="1944096" y="58457"/>
                  </a:lnTo>
                  <a:lnTo>
                    <a:pt x="1964387" y="97682"/>
                  </a:lnTo>
                  <a:lnTo>
                    <a:pt x="1971675" y="142875"/>
                  </a:lnTo>
                  <a:lnTo>
                    <a:pt x="1964387" y="188018"/>
                  </a:lnTo>
                  <a:lnTo>
                    <a:pt x="1944096" y="227237"/>
                  </a:lnTo>
                  <a:lnTo>
                    <a:pt x="1913162" y="258171"/>
                  </a:lnTo>
                  <a:lnTo>
                    <a:pt x="1873943" y="278462"/>
                  </a:lnTo>
                  <a:lnTo>
                    <a:pt x="1828800" y="285750"/>
                  </a:lnTo>
                  <a:lnTo>
                    <a:pt x="142875" y="285750"/>
                  </a:lnTo>
                  <a:lnTo>
                    <a:pt x="97682" y="278461"/>
                  </a:lnTo>
                  <a:lnTo>
                    <a:pt x="58457" y="258163"/>
                  </a:lnTo>
                  <a:lnTo>
                    <a:pt x="27541" y="227210"/>
                  </a:lnTo>
                  <a:lnTo>
                    <a:pt x="7275" y="187953"/>
                  </a:lnTo>
                  <a:lnTo>
                    <a:pt x="0" y="142748"/>
                  </a:lnTo>
                  <a:close/>
                </a:path>
              </a:pathLst>
            </a:custGeom>
            <a:noFill/>
            <a:ln cap="flat" cmpd="sng" w="9525">
              <a:solidFill>
                <a:srgbClr val="F59E0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h5fec9c797b8852b1_0_0"/>
          <p:cNvSpPr txBox="1"/>
          <p:nvPr/>
        </p:nvSpPr>
        <p:spPr>
          <a:xfrm>
            <a:off x="9456166" y="1587436"/>
            <a:ext cx="16764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92400D"/>
                </a:solidFill>
                <a:latin typeface="Arial"/>
                <a:ea typeface="Arial"/>
                <a:cs typeface="Arial"/>
                <a:sym typeface="Arial"/>
              </a:rPr>
              <a:t>Duración total: 18 semanas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h5fec9c797b8852b1_0_0"/>
          <p:cNvGrpSpPr/>
          <p:nvPr/>
        </p:nvGrpSpPr>
        <p:grpSpPr>
          <a:xfrm>
            <a:off x="8796401" y="1890776"/>
            <a:ext cx="2476520" cy="285750"/>
            <a:chOff x="8796401" y="1890776"/>
            <a:chExt cx="2476520" cy="285750"/>
          </a:xfrm>
        </p:grpSpPr>
        <p:sp>
          <p:nvSpPr>
            <p:cNvPr id="113" name="Google Shape;113;h5fec9c797b8852b1_0_0"/>
            <p:cNvSpPr/>
            <p:nvPr/>
          </p:nvSpPr>
          <p:spPr>
            <a:xfrm>
              <a:off x="8796421" y="1890776"/>
              <a:ext cx="2476500" cy="285750"/>
            </a:xfrm>
            <a:custGeom>
              <a:rect b="b" l="l" r="r" t="t"/>
              <a:pathLst>
                <a:path extrusionOk="0" h="285750" w="2476500">
                  <a:moveTo>
                    <a:pt x="2333604" y="0"/>
                  </a:moveTo>
                  <a:lnTo>
                    <a:pt x="142854" y="0"/>
                  </a:lnTo>
                  <a:lnTo>
                    <a:pt x="97661" y="7275"/>
                  </a:lnTo>
                  <a:lnTo>
                    <a:pt x="58437" y="27541"/>
                  </a:lnTo>
                  <a:lnTo>
                    <a:pt x="27521" y="58457"/>
                  </a:lnTo>
                  <a:lnTo>
                    <a:pt x="7255" y="97682"/>
                  </a:lnTo>
                  <a:lnTo>
                    <a:pt x="0" y="142875"/>
                  </a:lnTo>
                  <a:lnTo>
                    <a:pt x="7288" y="188018"/>
                  </a:lnTo>
                  <a:lnTo>
                    <a:pt x="27548" y="227237"/>
                  </a:lnTo>
                  <a:lnTo>
                    <a:pt x="58452" y="258171"/>
                  </a:lnTo>
                  <a:lnTo>
                    <a:pt x="97668" y="278462"/>
                  </a:lnTo>
                  <a:lnTo>
                    <a:pt x="142854" y="285750"/>
                  </a:lnTo>
                  <a:lnTo>
                    <a:pt x="2333477" y="285750"/>
                  </a:lnTo>
                  <a:lnTo>
                    <a:pt x="2378683" y="278462"/>
                  </a:lnTo>
                  <a:lnTo>
                    <a:pt x="2417939" y="258171"/>
                  </a:lnTo>
                  <a:lnTo>
                    <a:pt x="2448893" y="227237"/>
                  </a:lnTo>
                  <a:lnTo>
                    <a:pt x="2469190" y="188018"/>
                  </a:lnTo>
                  <a:lnTo>
                    <a:pt x="2476479" y="142875"/>
                  </a:lnTo>
                  <a:lnTo>
                    <a:pt x="2469191" y="97682"/>
                  </a:lnTo>
                  <a:lnTo>
                    <a:pt x="2448901" y="58457"/>
                  </a:lnTo>
                  <a:lnTo>
                    <a:pt x="2417967" y="27541"/>
                  </a:lnTo>
                  <a:lnTo>
                    <a:pt x="2378748" y="7275"/>
                  </a:lnTo>
                  <a:lnTo>
                    <a:pt x="23336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h5fec9c797b8852b1_0_0"/>
            <p:cNvSpPr/>
            <p:nvPr/>
          </p:nvSpPr>
          <p:spPr>
            <a:xfrm>
              <a:off x="8796401" y="1890776"/>
              <a:ext cx="2476500" cy="285750"/>
            </a:xfrm>
            <a:custGeom>
              <a:rect b="b" l="l" r="r" t="t"/>
              <a:pathLst>
                <a:path extrusionOk="0" h="285750" w="2476500">
                  <a:moveTo>
                    <a:pt x="0" y="142875"/>
                  </a:moveTo>
                  <a:lnTo>
                    <a:pt x="7275" y="97682"/>
                  </a:lnTo>
                  <a:lnTo>
                    <a:pt x="27541" y="58457"/>
                  </a:lnTo>
                  <a:lnTo>
                    <a:pt x="58457" y="27541"/>
                  </a:lnTo>
                  <a:lnTo>
                    <a:pt x="97682" y="7275"/>
                  </a:lnTo>
                  <a:lnTo>
                    <a:pt x="142875" y="0"/>
                  </a:lnTo>
                  <a:lnTo>
                    <a:pt x="2333625" y="0"/>
                  </a:lnTo>
                  <a:lnTo>
                    <a:pt x="2378768" y="7275"/>
                  </a:lnTo>
                  <a:lnTo>
                    <a:pt x="2417987" y="27541"/>
                  </a:lnTo>
                  <a:lnTo>
                    <a:pt x="2448921" y="58457"/>
                  </a:lnTo>
                  <a:lnTo>
                    <a:pt x="2469212" y="97682"/>
                  </a:lnTo>
                  <a:lnTo>
                    <a:pt x="2476500" y="142875"/>
                  </a:lnTo>
                  <a:lnTo>
                    <a:pt x="2469211" y="188018"/>
                  </a:lnTo>
                  <a:lnTo>
                    <a:pt x="2448913" y="227237"/>
                  </a:lnTo>
                  <a:lnTo>
                    <a:pt x="2417960" y="258171"/>
                  </a:lnTo>
                  <a:lnTo>
                    <a:pt x="2378703" y="278462"/>
                  </a:lnTo>
                  <a:lnTo>
                    <a:pt x="2333498" y="285750"/>
                  </a:lnTo>
                  <a:lnTo>
                    <a:pt x="142875" y="285750"/>
                  </a:lnTo>
                  <a:lnTo>
                    <a:pt x="97682" y="278461"/>
                  </a:lnTo>
                  <a:lnTo>
                    <a:pt x="58457" y="258163"/>
                  </a:lnTo>
                  <a:lnTo>
                    <a:pt x="27541" y="227210"/>
                  </a:lnTo>
                  <a:lnTo>
                    <a:pt x="7275" y="187953"/>
                  </a:lnTo>
                  <a:lnTo>
                    <a:pt x="0" y="142748"/>
                  </a:lnTo>
                  <a:close/>
                </a:path>
              </a:pathLst>
            </a:custGeom>
            <a:noFill/>
            <a:ln cap="flat" cmpd="sng" w="9525">
              <a:solidFill>
                <a:srgbClr val="FCE6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h5fec9c797b8852b1_0_0"/>
          <p:cNvSpPr txBox="1"/>
          <p:nvPr/>
        </p:nvSpPr>
        <p:spPr>
          <a:xfrm>
            <a:off x="8873235" y="1931415"/>
            <a:ext cx="2257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78350E"/>
                </a:solidFill>
                <a:latin typeface="Arial"/>
                <a:ea typeface="Arial"/>
                <a:cs typeface="Arial"/>
                <a:sym typeface="Arial"/>
              </a:rPr>
              <a:t>Fecha actual: </a:t>
            </a:r>
            <a:r>
              <a:rPr b="1" lang="en-US" sz="950">
                <a:solidFill>
                  <a:srgbClr val="78350E"/>
                </a:solidFill>
              </a:rPr>
              <a:t>16</a:t>
            </a:r>
            <a:r>
              <a:rPr b="1" lang="en-US" sz="950">
                <a:solidFill>
                  <a:srgbClr val="78350E"/>
                </a:solidFill>
                <a:latin typeface="Arial"/>
                <a:ea typeface="Arial"/>
                <a:cs typeface="Arial"/>
                <a:sym typeface="Arial"/>
              </a:rPr>
              <a:t> de octubre de 2026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h5fec9c797b8852b1_0_0"/>
          <p:cNvSpPr txBox="1"/>
          <p:nvPr/>
        </p:nvSpPr>
        <p:spPr>
          <a:xfrm>
            <a:off x="673734" y="2663507"/>
            <a:ext cx="32970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65469"/>
                </a:solidFill>
                <a:latin typeface="Arial"/>
                <a:ea typeface="Arial"/>
                <a:cs typeface="Arial"/>
                <a:sym typeface="Arial"/>
              </a:rPr>
              <a:t>SECUENCIA DE LAS 6 ETAPAS DEL PROYECTO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h5fec9c797b8852b1_0_0"/>
          <p:cNvSpPr/>
          <p:nvPr/>
        </p:nvSpPr>
        <p:spPr>
          <a:xfrm>
            <a:off x="685800" y="3038475"/>
            <a:ext cx="1514475" cy="847725"/>
          </a:xfrm>
          <a:custGeom>
            <a:rect b="b" l="l" r="r" t="t"/>
            <a:pathLst>
              <a:path extrusionOk="0" h="847725" w="1514475">
                <a:moveTo>
                  <a:pt x="1438275" y="0"/>
                </a:moveTo>
                <a:lnTo>
                  <a:pt x="76200" y="0"/>
                </a:lnTo>
                <a:lnTo>
                  <a:pt x="46537" y="5994"/>
                </a:lnTo>
                <a:lnTo>
                  <a:pt x="22317" y="22336"/>
                </a:lnTo>
                <a:lnTo>
                  <a:pt x="5987" y="46559"/>
                </a:lnTo>
                <a:lnTo>
                  <a:pt x="0" y="76200"/>
                </a:lnTo>
                <a:lnTo>
                  <a:pt x="0" y="771525"/>
                </a:lnTo>
                <a:lnTo>
                  <a:pt x="5987" y="801165"/>
                </a:lnTo>
                <a:lnTo>
                  <a:pt x="22317" y="825388"/>
                </a:lnTo>
                <a:lnTo>
                  <a:pt x="46537" y="841730"/>
                </a:lnTo>
                <a:lnTo>
                  <a:pt x="76200" y="847725"/>
                </a:lnTo>
                <a:lnTo>
                  <a:pt x="1438275" y="847725"/>
                </a:lnTo>
                <a:lnTo>
                  <a:pt x="1467915" y="841730"/>
                </a:lnTo>
                <a:lnTo>
                  <a:pt x="1492138" y="825388"/>
                </a:lnTo>
                <a:lnTo>
                  <a:pt x="1508480" y="801165"/>
                </a:lnTo>
                <a:lnTo>
                  <a:pt x="1514475" y="771525"/>
                </a:lnTo>
                <a:lnTo>
                  <a:pt x="1514475" y="76200"/>
                </a:lnTo>
                <a:lnTo>
                  <a:pt x="1508480" y="46559"/>
                </a:lnTo>
                <a:lnTo>
                  <a:pt x="1492138" y="22336"/>
                </a:lnTo>
                <a:lnTo>
                  <a:pt x="1467915" y="5994"/>
                </a:lnTo>
                <a:lnTo>
                  <a:pt x="1438275" y="0"/>
                </a:lnTo>
                <a:close/>
              </a:path>
            </a:pathLst>
          </a:custGeom>
          <a:solidFill>
            <a:srgbClr val="F0F5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h5fec9c797b8852b1_0_0"/>
          <p:cNvSpPr txBox="1"/>
          <p:nvPr/>
        </p:nvSpPr>
        <p:spPr>
          <a:xfrm>
            <a:off x="815022" y="3188017"/>
            <a:ext cx="1265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34154"/>
                </a:solidFill>
                <a:latin typeface="Arial"/>
                <a:ea typeface="Arial"/>
                <a:cs typeface="Arial"/>
                <a:sym typeface="Arial"/>
              </a:rPr>
              <a:t>1. Levantamiento 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marR="635" rtl="0" algn="ctr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34154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Completado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.png" id="119" name="Google Shape;119;h5fec9c797b8852b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5050" y="3381375"/>
            <a:ext cx="857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h5fec9c797b8852b1_0_0"/>
          <p:cNvSpPr/>
          <p:nvPr/>
        </p:nvSpPr>
        <p:spPr>
          <a:xfrm>
            <a:off x="2486025" y="3114675"/>
            <a:ext cx="1514475" cy="685800"/>
          </a:xfrm>
          <a:custGeom>
            <a:rect b="b" l="l" r="r" t="t"/>
            <a:pathLst>
              <a:path extrusionOk="0" h="685800" w="1514475">
                <a:moveTo>
                  <a:pt x="1438275" y="0"/>
                </a:moveTo>
                <a:lnTo>
                  <a:pt x="76200" y="0"/>
                </a:ln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0" y="609600"/>
                </a:lnTo>
                <a:lnTo>
                  <a:pt x="5994" y="639240"/>
                </a:lnTo>
                <a:lnTo>
                  <a:pt x="22336" y="663463"/>
                </a:lnTo>
                <a:lnTo>
                  <a:pt x="46559" y="679805"/>
                </a:lnTo>
                <a:lnTo>
                  <a:pt x="76200" y="685800"/>
                </a:lnTo>
                <a:lnTo>
                  <a:pt x="1438275" y="685800"/>
                </a:lnTo>
                <a:lnTo>
                  <a:pt x="1467915" y="679805"/>
                </a:lnTo>
                <a:lnTo>
                  <a:pt x="1492138" y="663463"/>
                </a:lnTo>
                <a:lnTo>
                  <a:pt x="1508480" y="639240"/>
                </a:lnTo>
                <a:lnTo>
                  <a:pt x="1514475" y="609600"/>
                </a:lnTo>
                <a:lnTo>
                  <a:pt x="1514475" y="76200"/>
                </a:lnTo>
                <a:lnTo>
                  <a:pt x="1508480" y="46559"/>
                </a:lnTo>
                <a:lnTo>
                  <a:pt x="1492138" y="22336"/>
                </a:lnTo>
                <a:lnTo>
                  <a:pt x="1467915" y="5994"/>
                </a:lnTo>
                <a:lnTo>
                  <a:pt x="1438275" y="0"/>
                </a:lnTo>
                <a:close/>
              </a:path>
            </a:pathLst>
          </a:custGeom>
          <a:solidFill>
            <a:srgbClr val="F0F5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h5fec9c797b8852b1_0_0"/>
          <p:cNvSpPr txBox="1"/>
          <p:nvPr/>
        </p:nvSpPr>
        <p:spPr>
          <a:xfrm>
            <a:off x="2810891" y="3211385"/>
            <a:ext cx="8700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34154"/>
                </a:solidFill>
                <a:latin typeface="Arial"/>
                <a:ea typeface="Arial"/>
                <a:cs typeface="Arial"/>
                <a:sym typeface="Arial"/>
              </a:rPr>
              <a:t>2. Desarrollo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10668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Completado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.png" id="122" name="Google Shape;122;h5fec9c797b8852b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5275" y="3381375"/>
            <a:ext cx="85725" cy="142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h5fec9c797b8852b1_0_0"/>
          <p:cNvGrpSpPr/>
          <p:nvPr/>
        </p:nvGrpSpPr>
        <p:grpSpPr>
          <a:xfrm>
            <a:off x="4286250" y="3086100"/>
            <a:ext cx="1819275" cy="752475"/>
            <a:chOff x="4286250" y="3086100"/>
            <a:chExt cx="1819275" cy="752475"/>
          </a:xfrm>
        </p:grpSpPr>
        <p:sp>
          <p:nvSpPr>
            <p:cNvPr id="124" name="Google Shape;124;h5fec9c797b8852b1_0_0"/>
            <p:cNvSpPr/>
            <p:nvPr/>
          </p:nvSpPr>
          <p:spPr>
            <a:xfrm>
              <a:off x="4286250" y="3086100"/>
              <a:ext cx="1819275" cy="752475"/>
            </a:xfrm>
            <a:custGeom>
              <a:rect b="b" l="l" r="r" t="t"/>
              <a:pathLst>
                <a:path extrusionOk="0" h="752475" w="1819275">
                  <a:moveTo>
                    <a:pt x="1743075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676275"/>
                  </a:lnTo>
                  <a:lnTo>
                    <a:pt x="5994" y="705915"/>
                  </a:lnTo>
                  <a:lnTo>
                    <a:pt x="22336" y="730138"/>
                  </a:lnTo>
                  <a:lnTo>
                    <a:pt x="46559" y="746480"/>
                  </a:lnTo>
                  <a:lnTo>
                    <a:pt x="76200" y="752475"/>
                  </a:lnTo>
                  <a:lnTo>
                    <a:pt x="1743075" y="752475"/>
                  </a:lnTo>
                  <a:lnTo>
                    <a:pt x="1772715" y="746480"/>
                  </a:lnTo>
                  <a:lnTo>
                    <a:pt x="1796938" y="730138"/>
                  </a:lnTo>
                  <a:lnTo>
                    <a:pt x="1813280" y="705915"/>
                  </a:lnTo>
                  <a:lnTo>
                    <a:pt x="1819275" y="676275"/>
                  </a:lnTo>
                  <a:lnTo>
                    <a:pt x="1819275" y="76200"/>
                  </a:lnTo>
                  <a:lnTo>
                    <a:pt x="1813280" y="46559"/>
                  </a:lnTo>
                  <a:lnTo>
                    <a:pt x="1796938" y="22336"/>
                  </a:lnTo>
                  <a:lnTo>
                    <a:pt x="1772715" y="5994"/>
                  </a:lnTo>
                  <a:lnTo>
                    <a:pt x="1743075" y="0"/>
                  </a:lnTo>
                  <a:close/>
                </a:path>
              </a:pathLst>
            </a:custGeom>
            <a:solidFill>
              <a:srgbClr val="FDF3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h5fec9c797b8852b1_0_0"/>
            <p:cNvSpPr/>
            <p:nvPr/>
          </p:nvSpPr>
          <p:spPr>
            <a:xfrm>
              <a:off x="4286250" y="3086100"/>
              <a:ext cx="1819275" cy="752475"/>
            </a:xfrm>
            <a:custGeom>
              <a:rect b="b" l="l" r="r" t="t"/>
              <a:pathLst>
                <a:path extrusionOk="0" h="752475" w="1819275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1743075" y="0"/>
                  </a:lnTo>
                  <a:lnTo>
                    <a:pt x="1772715" y="5994"/>
                  </a:lnTo>
                  <a:lnTo>
                    <a:pt x="1796938" y="22336"/>
                  </a:lnTo>
                  <a:lnTo>
                    <a:pt x="1813280" y="46559"/>
                  </a:lnTo>
                  <a:lnTo>
                    <a:pt x="1819275" y="76200"/>
                  </a:lnTo>
                  <a:lnTo>
                    <a:pt x="1819275" y="676275"/>
                  </a:lnTo>
                  <a:lnTo>
                    <a:pt x="1813280" y="705915"/>
                  </a:lnTo>
                  <a:lnTo>
                    <a:pt x="1796938" y="730138"/>
                  </a:lnTo>
                  <a:lnTo>
                    <a:pt x="1772715" y="746480"/>
                  </a:lnTo>
                  <a:lnTo>
                    <a:pt x="1743075" y="752475"/>
                  </a:lnTo>
                  <a:lnTo>
                    <a:pt x="76200" y="752475"/>
                  </a:lnTo>
                  <a:lnTo>
                    <a:pt x="46559" y="746480"/>
                  </a:lnTo>
                  <a:lnTo>
                    <a:pt x="22336" y="730138"/>
                  </a:lnTo>
                  <a:lnTo>
                    <a:pt x="5994" y="705915"/>
                  </a:lnTo>
                  <a:lnTo>
                    <a:pt x="0" y="676275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cap="flat" cmpd="sng" w="19050">
              <a:solidFill>
                <a:srgbClr val="F59E0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h5fec9c797b8852b1_0_0"/>
          <p:cNvSpPr txBox="1"/>
          <p:nvPr/>
        </p:nvSpPr>
        <p:spPr>
          <a:xfrm>
            <a:off x="4601590" y="3171729"/>
            <a:ext cx="1197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2400D"/>
                </a:solidFill>
                <a:latin typeface="Arial"/>
                <a:ea typeface="Arial"/>
                <a:cs typeface="Arial"/>
                <a:sym typeface="Arial"/>
              </a:rPr>
              <a:t>3. Integración ★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6350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B45209"/>
                </a:solidFill>
                <a:latin typeface="Arial"/>
                <a:ea typeface="Arial"/>
                <a:cs typeface="Arial"/>
                <a:sym typeface="Arial"/>
              </a:rPr>
              <a:t>Semana 1</a:t>
            </a:r>
            <a:r>
              <a:rPr b="1" lang="en-US" sz="900">
                <a:solidFill>
                  <a:srgbClr val="B45209"/>
                </a:solidFill>
              </a:rPr>
              <a:t>0</a:t>
            </a:r>
            <a:r>
              <a:rPr b="1" lang="en-US" sz="900">
                <a:solidFill>
                  <a:srgbClr val="B45209"/>
                </a:solidFill>
                <a:latin typeface="Arial"/>
                <a:ea typeface="Arial"/>
                <a:cs typeface="Arial"/>
                <a:sym typeface="Arial"/>
              </a:rPr>
              <a:t> (Actual)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7" name="Google Shape;127;h5fec9c797b8852b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9824" y="3381375"/>
            <a:ext cx="76198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h5fec9c797b8852b1_0_0"/>
          <p:cNvSpPr/>
          <p:nvPr/>
        </p:nvSpPr>
        <p:spPr>
          <a:xfrm>
            <a:off x="6391275" y="3114675"/>
            <a:ext cx="1514475" cy="685800"/>
          </a:xfrm>
          <a:custGeom>
            <a:rect b="b" l="l" r="r" t="t"/>
            <a:pathLst>
              <a:path extrusionOk="0" h="685800" w="1514475">
                <a:moveTo>
                  <a:pt x="1438275" y="0"/>
                </a:moveTo>
                <a:lnTo>
                  <a:pt x="76200" y="0"/>
                </a:ln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0" y="609600"/>
                </a:lnTo>
                <a:lnTo>
                  <a:pt x="5994" y="639240"/>
                </a:lnTo>
                <a:lnTo>
                  <a:pt x="22336" y="663463"/>
                </a:lnTo>
                <a:lnTo>
                  <a:pt x="46559" y="679805"/>
                </a:lnTo>
                <a:lnTo>
                  <a:pt x="76200" y="685800"/>
                </a:lnTo>
                <a:lnTo>
                  <a:pt x="1438275" y="685800"/>
                </a:lnTo>
                <a:lnTo>
                  <a:pt x="1467915" y="679805"/>
                </a:lnTo>
                <a:lnTo>
                  <a:pt x="1492138" y="663463"/>
                </a:lnTo>
                <a:lnTo>
                  <a:pt x="1508480" y="639240"/>
                </a:lnTo>
                <a:lnTo>
                  <a:pt x="1514475" y="609600"/>
                </a:lnTo>
                <a:lnTo>
                  <a:pt x="1514475" y="76200"/>
                </a:lnTo>
                <a:lnTo>
                  <a:pt x="1508480" y="46559"/>
                </a:lnTo>
                <a:lnTo>
                  <a:pt x="1492138" y="22336"/>
                </a:lnTo>
                <a:lnTo>
                  <a:pt x="1467915" y="5994"/>
                </a:lnTo>
                <a:lnTo>
                  <a:pt x="1438275" y="0"/>
                </a:lnTo>
                <a:close/>
              </a:path>
            </a:pathLst>
          </a:custGeom>
          <a:solidFill>
            <a:srgbClr val="F0F5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h5fec9c797b8852b1_0_0"/>
          <p:cNvSpPr txBox="1"/>
          <p:nvPr/>
        </p:nvSpPr>
        <p:spPr>
          <a:xfrm>
            <a:off x="6609968" y="3211385"/>
            <a:ext cx="10821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34154"/>
                </a:solidFill>
                <a:latin typeface="Arial"/>
                <a:ea typeface="Arial"/>
                <a:cs typeface="Arial"/>
                <a:sym typeface="Arial"/>
              </a:rPr>
              <a:t>4. QA y pruebas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24511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Planificado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.png" id="130" name="Google Shape;130;h5fec9c797b8852b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0050" y="3381375"/>
            <a:ext cx="76198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h5fec9c797b8852b1_0_0"/>
          <p:cNvSpPr/>
          <p:nvPr/>
        </p:nvSpPr>
        <p:spPr>
          <a:xfrm>
            <a:off x="8191500" y="3114675"/>
            <a:ext cx="1514475" cy="685800"/>
          </a:xfrm>
          <a:custGeom>
            <a:rect b="b" l="l" r="r" t="t"/>
            <a:pathLst>
              <a:path extrusionOk="0" h="685800" w="1514475">
                <a:moveTo>
                  <a:pt x="1438275" y="0"/>
                </a:moveTo>
                <a:lnTo>
                  <a:pt x="76200" y="0"/>
                </a:ln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0" y="609600"/>
                </a:lnTo>
                <a:lnTo>
                  <a:pt x="5994" y="639240"/>
                </a:lnTo>
                <a:lnTo>
                  <a:pt x="22336" y="663463"/>
                </a:lnTo>
                <a:lnTo>
                  <a:pt x="46559" y="679805"/>
                </a:lnTo>
                <a:lnTo>
                  <a:pt x="76200" y="685800"/>
                </a:lnTo>
                <a:lnTo>
                  <a:pt x="1438275" y="685800"/>
                </a:lnTo>
                <a:lnTo>
                  <a:pt x="1467915" y="679805"/>
                </a:lnTo>
                <a:lnTo>
                  <a:pt x="1492138" y="663463"/>
                </a:lnTo>
                <a:lnTo>
                  <a:pt x="1508480" y="639240"/>
                </a:lnTo>
                <a:lnTo>
                  <a:pt x="1514475" y="609600"/>
                </a:lnTo>
                <a:lnTo>
                  <a:pt x="1514475" y="76200"/>
                </a:lnTo>
                <a:lnTo>
                  <a:pt x="1508480" y="46559"/>
                </a:lnTo>
                <a:lnTo>
                  <a:pt x="1492138" y="22336"/>
                </a:lnTo>
                <a:lnTo>
                  <a:pt x="1467915" y="5994"/>
                </a:lnTo>
                <a:lnTo>
                  <a:pt x="1438275" y="0"/>
                </a:lnTo>
                <a:close/>
              </a:path>
            </a:pathLst>
          </a:custGeom>
          <a:solidFill>
            <a:srgbClr val="F0F5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h5fec9c797b8852b1_0_0"/>
          <p:cNvSpPr txBox="1"/>
          <p:nvPr/>
        </p:nvSpPr>
        <p:spPr>
          <a:xfrm>
            <a:off x="8490584" y="3211385"/>
            <a:ext cx="9336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34154"/>
                </a:solidFill>
                <a:latin typeface="Arial"/>
                <a:ea typeface="Arial"/>
                <a:cs typeface="Arial"/>
                <a:sym typeface="Arial"/>
              </a:rPr>
              <a:t>5. Despliegue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16637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Planificado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.png" id="133" name="Google Shape;133;h5fec9c797b8852b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0275" y="3381375"/>
            <a:ext cx="76198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h5fec9c797b8852b1_0_0"/>
          <p:cNvSpPr/>
          <p:nvPr/>
        </p:nvSpPr>
        <p:spPr>
          <a:xfrm>
            <a:off x="9991725" y="3114675"/>
            <a:ext cx="1514475" cy="685800"/>
          </a:xfrm>
          <a:custGeom>
            <a:rect b="b" l="l" r="r" t="t"/>
            <a:pathLst>
              <a:path extrusionOk="0" h="685800" w="1514475">
                <a:moveTo>
                  <a:pt x="1438275" y="0"/>
                </a:moveTo>
                <a:lnTo>
                  <a:pt x="76200" y="0"/>
                </a:ln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0" y="609600"/>
                </a:lnTo>
                <a:lnTo>
                  <a:pt x="5994" y="639240"/>
                </a:lnTo>
                <a:lnTo>
                  <a:pt x="22336" y="663463"/>
                </a:lnTo>
                <a:lnTo>
                  <a:pt x="46559" y="679805"/>
                </a:lnTo>
                <a:lnTo>
                  <a:pt x="76200" y="685800"/>
                </a:lnTo>
                <a:lnTo>
                  <a:pt x="1438275" y="685800"/>
                </a:lnTo>
                <a:lnTo>
                  <a:pt x="1467915" y="679805"/>
                </a:lnTo>
                <a:lnTo>
                  <a:pt x="1492138" y="663463"/>
                </a:lnTo>
                <a:lnTo>
                  <a:pt x="1508480" y="639240"/>
                </a:lnTo>
                <a:lnTo>
                  <a:pt x="1514475" y="609600"/>
                </a:lnTo>
                <a:lnTo>
                  <a:pt x="1514475" y="76200"/>
                </a:lnTo>
                <a:lnTo>
                  <a:pt x="1508480" y="46559"/>
                </a:lnTo>
                <a:lnTo>
                  <a:pt x="1492138" y="22336"/>
                </a:lnTo>
                <a:lnTo>
                  <a:pt x="1467915" y="5994"/>
                </a:lnTo>
                <a:lnTo>
                  <a:pt x="1438275" y="0"/>
                </a:lnTo>
                <a:close/>
              </a:path>
            </a:pathLst>
          </a:custGeom>
          <a:solidFill>
            <a:srgbClr val="F0F5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h5fec9c797b8852b1_0_0"/>
          <p:cNvSpPr txBox="1"/>
          <p:nvPr/>
        </p:nvSpPr>
        <p:spPr>
          <a:xfrm>
            <a:off x="10446384" y="3211385"/>
            <a:ext cx="6186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24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34154"/>
                </a:solidFill>
                <a:latin typeface="Arial"/>
                <a:ea typeface="Arial"/>
                <a:cs typeface="Arial"/>
                <a:sym typeface="Arial"/>
              </a:rPr>
              <a:t>6. Cierre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Planificado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6" name="Google Shape;136;h5fec9c797b8852b1_0_0"/>
          <p:cNvGrpSpPr/>
          <p:nvPr/>
        </p:nvGrpSpPr>
        <p:grpSpPr>
          <a:xfrm>
            <a:off x="690562" y="5624512"/>
            <a:ext cx="5296535" cy="742950"/>
            <a:chOff x="690562" y="5624512"/>
            <a:chExt cx="5296535" cy="742950"/>
          </a:xfrm>
        </p:grpSpPr>
        <p:sp>
          <p:nvSpPr>
            <p:cNvPr id="137" name="Google Shape;137;h5fec9c797b8852b1_0_0"/>
            <p:cNvSpPr/>
            <p:nvPr/>
          </p:nvSpPr>
          <p:spPr>
            <a:xfrm>
              <a:off x="690562" y="5624512"/>
              <a:ext cx="5296535" cy="742950"/>
            </a:xfrm>
            <a:custGeom>
              <a:rect b="b" l="l" r="r" t="t"/>
              <a:pathLst>
                <a:path extrusionOk="0" h="742950" w="5296535">
                  <a:moveTo>
                    <a:pt x="5219763" y="0"/>
                  </a:moveTo>
                  <a:lnTo>
                    <a:pt x="76200" y="0"/>
                  </a:lnTo>
                  <a:lnTo>
                    <a:pt x="46537" y="5987"/>
                  </a:lnTo>
                  <a:lnTo>
                    <a:pt x="22317" y="22317"/>
                  </a:lnTo>
                  <a:lnTo>
                    <a:pt x="5987" y="46537"/>
                  </a:lnTo>
                  <a:lnTo>
                    <a:pt x="0" y="76200"/>
                  </a:lnTo>
                  <a:lnTo>
                    <a:pt x="0" y="666750"/>
                  </a:lnTo>
                  <a:lnTo>
                    <a:pt x="5987" y="696412"/>
                  </a:lnTo>
                  <a:lnTo>
                    <a:pt x="22317" y="720632"/>
                  </a:lnTo>
                  <a:lnTo>
                    <a:pt x="46537" y="736962"/>
                  </a:lnTo>
                  <a:lnTo>
                    <a:pt x="76200" y="742950"/>
                  </a:lnTo>
                  <a:lnTo>
                    <a:pt x="5219763" y="742950"/>
                  </a:lnTo>
                  <a:lnTo>
                    <a:pt x="5249404" y="736962"/>
                  </a:lnTo>
                  <a:lnTo>
                    <a:pt x="5273627" y="720632"/>
                  </a:lnTo>
                  <a:lnTo>
                    <a:pt x="5289968" y="696412"/>
                  </a:lnTo>
                  <a:lnTo>
                    <a:pt x="5295963" y="666750"/>
                  </a:lnTo>
                  <a:lnTo>
                    <a:pt x="5295963" y="76200"/>
                  </a:lnTo>
                  <a:lnTo>
                    <a:pt x="5289968" y="46537"/>
                  </a:lnTo>
                  <a:lnTo>
                    <a:pt x="5273627" y="22317"/>
                  </a:lnTo>
                  <a:lnTo>
                    <a:pt x="5249404" y="5987"/>
                  </a:lnTo>
                  <a:lnTo>
                    <a:pt x="5219763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h5fec9c797b8852b1_0_0"/>
            <p:cNvSpPr/>
            <p:nvPr/>
          </p:nvSpPr>
          <p:spPr>
            <a:xfrm>
              <a:off x="690562" y="5624512"/>
              <a:ext cx="5296535" cy="742950"/>
            </a:xfrm>
            <a:custGeom>
              <a:rect b="b" l="l" r="r" t="t"/>
              <a:pathLst>
                <a:path extrusionOk="0" h="742950" w="5296535">
                  <a:moveTo>
                    <a:pt x="0" y="76200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200" y="0"/>
                  </a:lnTo>
                  <a:lnTo>
                    <a:pt x="5219763" y="0"/>
                  </a:lnTo>
                  <a:lnTo>
                    <a:pt x="5249404" y="5987"/>
                  </a:lnTo>
                  <a:lnTo>
                    <a:pt x="5273627" y="22317"/>
                  </a:lnTo>
                  <a:lnTo>
                    <a:pt x="5289968" y="46537"/>
                  </a:lnTo>
                  <a:lnTo>
                    <a:pt x="5295963" y="76200"/>
                  </a:lnTo>
                  <a:lnTo>
                    <a:pt x="5295963" y="666750"/>
                  </a:lnTo>
                  <a:lnTo>
                    <a:pt x="5289968" y="696412"/>
                  </a:lnTo>
                  <a:lnTo>
                    <a:pt x="5273627" y="720632"/>
                  </a:lnTo>
                  <a:lnTo>
                    <a:pt x="5249404" y="736962"/>
                  </a:lnTo>
                  <a:lnTo>
                    <a:pt x="5219763" y="742950"/>
                  </a:lnTo>
                  <a:lnTo>
                    <a:pt x="76200" y="742950"/>
                  </a:lnTo>
                  <a:lnTo>
                    <a:pt x="46537" y="736962"/>
                  </a:lnTo>
                  <a:lnTo>
                    <a:pt x="22317" y="720632"/>
                  </a:lnTo>
                  <a:lnTo>
                    <a:pt x="5987" y="696412"/>
                  </a:lnTo>
                  <a:lnTo>
                    <a:pt x="0" y="666750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cap="flat" cmpd="sng" w="9525">
              <a:solidFill>
                <a:srgbClr val="E1E8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139" name="Google Shape;139;h5fec9c797b8852b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5819775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h5fec9c797b8852b1_0_0"/>
          <p:cNvSpPr txBox="1"/>
          <p:nvPr/>
        </p:nvSpPr>
        <p:spPr>
          <a:xfrm>
            <a:off x="911860" y="5735387"/>
            <a:ext cx="4487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0" lvl="0" marL="193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293A"/>
                </a:solidFill>
                <a:latin typeface="Arial"/>
                <a:ea typeface="Arial"/>
                <a:cs typeface="Arial"/>
                <a:sym typeface="Arial"/>
              </a:rPr>
              <a:t>Control Secuencial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Validación documental obligatoria antes de avanzar a la siguiente fase.</a:t>
            </a:r>
            <a:endParaRPr sz="10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1" name="Google Shape;141;h5fec9c797b8852b1_0_0"/>
          <p:cNvGrpSpPr/>
          <p:nvPr/>
        </p:nvGrpSpPr>
        <p:grpSpPr>
          <a:xfrm>
            <a:off x="6215126" y="5624512"/>
            <a:ext cx="5295900" cy="742950"/>
            <a:chOff x="6215126" y="5624512"/>
            <a:chExt cx="5295900" cy="742950"/>
          </a:xfrm>
        </p:grpSpPr>
        <p:sp>
          <p:nvSpPr>
            <p:cNvPr id="142" name="Google Shape;142;h5fec9c797b8852b1_0_0"/>
            <p:cNvSpPr/>
            <p:nvPr/>
          </p:nvSpPr>
          <p:spPr>
            <a:xfrm>
              <a:off x="6215126" y="5624512"/>
              <a:ext cx="5295900" cy="742950"/>
            </a:xfrm>
            <a:custGeom>
              <a:rect b="b" l="l" r="r" t="t"/>
              <a:pathLst>
                <a:path extrusionOk="0" h="742950" w="5295900">
                  <a:moveTo>
                    <a:pt x="5219700" y="0"/>
                  </a:moveTo>
                  <a:lnTo>
                    <a:pt x="76073" y="0"/>
                  </a:lnTo>
                  <a:lnTo>
                    <a:pt x="46452" y="5987"/>
                  </a:lnTo>
                  <a:lnTo>
                    <a:pt x="22272" y="22317"/>
                  </a:lnTo>
                  <a:lnTo>
                    <a:pt x="5974" y="46537"/>
                  </a:lnTo>
                  <a:lnTo>
                    <a:pt x="0" y="76200"/>
                  </a:lnTo>
                  <a:lnTo>
                    <a:pt x="0" y="666750"/>
                  </a:lnTo>
                  <a:lnTo>
                    <a:pt x="5974" y="696412"/>
                  </a:lnTo>
                  <a:lnTo>
                    <a:pt x="22272" y="720632"/>
                  </a:lnTo>
                  <a:lnTo>
                    <a:pt x="46452" y="736962"/>
                  </a:lnTo>
                  <a:lnTo>
                    <a:pt x="76073" y="742950"/>
                  </a:lnTo>
                  <a:lnTo>
                    <a:pt x="5219700" y="742950"/>
                  </a:lnTo>
                  <a:lnTo>
                    <a:pt x="5249340" y="736962"/>
                  </a:lnTo>
                  <a:lnTo>
                    <a:pt x="5273563" y="720632"/>
                  </a:lnTo>
                  <a:lnTo>
                    <a:pt x="5289905" y="696412"/>
                  </a:lnTo>
                  <a:lnTo>
                    <a:pt x="5295900" y="666750"/>
                  </a:lnTo>
                  <a:lnTo>
                    <a:pt x="5295900" y="76200"/>
                  </a:lnTo>
                  <a:lnTo>
                    <a:pt x="5289905" y="46537"/>
                  </a:lnTo>
                  <a:lnTo>
                    <a:pt x="5273563" y="22317"/>
                  </a:lnTo>
                  <a:lnTo>
                    <a:pt x="5249340" y="5987"/>
                  </a:lnTo>
                  <a:lnTo>
                    <a:pt x="5219700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h5fec9c797b8852b1_0_0"/>
            <p:cNvSpPr/>
            <p:nvPr/>
          </p:nvSpPr>
          <p:spPr>
            <a:xfrm>
              <a:off x="6215126" y="5624512"/>
              <a:ext cx="5295900" cy="742950"/>
            </a:xfrm>
            <a:custGeom>
              <a:rect b="b" l="l" r="r" t="t"/>
              <a:pathLst>
                <a:path extrusionOk="0" h="742950" w="5295900">
                  <a:moveTo>
                    <a:pt x="0" y="76200"/>
                  </a:moveTo>
                  <a:lnTo>
                    <a:pt x="5974" y="46537"/>
                  </a:lnTo>
                  <a:lnTo>
                    <a:pt x="22272" y="22317"/>
                  </a:lnTo>
                  <a:lnTo>
                    <a:pt x="46452" y="5987"/>
                  </a:lnTo>
                  <a:lnTo>
                    <a:pt x="76073" y="0"/>
                  </a:lnTo>
                  <a:lnTo>
                    <a:pt x="5219700" y="0"/>
                  </a:lnTo>
                  <a:lnTo>
                    <a:pt x="5249340" y="5987"/>
                  </a:lnTo>
                  <a:lnTo>
                    <a:pt x="5273563" y="22317"/>
                  </a:lnTo>
                  <a:lnTo>
                    <a:pt x="5289905" y="46537"/>
                  </a:lnTo>
                  <a:lnTo>
                    <a:pt x="5295900" y="76200"/>
                  </a:lnTo>
                  <a:lnTo>
                    <a:pt x="5295900" y="666750"/>
                  </a:lnTo>
                  <a:lnTo>
                    <a:pt x="5289905" y="696412"/>
                  </a:lnTo>
                  <a:lnTo>
                    <a:pt x="5273563" y="720632"/>
                  </a:lnTo>
                  <a:lnTo>
                    <a:pt x="5249340" y="736962"/>
                  </a:lnTo>
                  <a:lnTo>
                    <a:pt x="5219700" y="742950"/>
                  </a:lnTo>
                  <a:lnTo>
                    <a:pt x="76073" y="742950"/>
                  </a:lnTo>
                  <a:lnTo>
                    <a:pt x="46452" y="736962"/>
                  </a:lnTo>
                  <a:lnTo>
                    <a:pt x="22272" y="720632"/>
                  </a:lnTo>
                  <a:lnTo>
                    <a:pt x="5974" y="696412"/>
                  </a:lnTo>
                  <a:lnTo>
                    <a:pt x="0" y="666750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cap="flat" cmpd="sng" w="9525">
              <a:solidFill>
                <a:srgbClr val="E1E8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144" name="Google Shape;144;h5fec9c797b8852b1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581977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h5fec9c797b8852b1_0_0"/>
          <p:cNvSpPr txBox="1"/>
          <p:nvPr/>
        </p:nvSpPr>
        <p:spPr>
          <a:xfrm>
            <a:off x="6440804" y="5735387"/>
            <a:ext cx="4279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0" lvl="0" marL="23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293A"/>
                </a:solidFill>
                <a:latin typeface="Arial"/>
                <a:ea typeface="Arial"/>
                <a:cs typeface="Arial"/>
                <a:sym typeface="Arial"/>
              </a:rPr>
              <a:t>Trazabilidad del Proyecto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Alineación estricta entre ERS, Modelos UML/BD y Casos de Prueba.</a:t>
            </a:r>
            <a:endParaRPr sz="105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/>
          <p:nvPr/>
        </p:nvSpPr>
        <p:spPr>
          <a:xfrm>
            <a:off x="609600" y="533400"/>
            <a:ext cx="1952625" cy="276225"/>
          </a:xfrm>
          <a:prstGeom prst="roundRect">
            <a:avLst>
              <a:gd fmla="val 20689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609600" y="4083248"/>
            <a:ext cx="10972800" cy="1238250"/>
          </a:xfrm>
          <a:prstGeom prst="roundRect">
            <a:avLst>
              <a:gd fmla="val 9230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09600" y="2559248"/>
            <a:ext cx="2072580" cy="1333500"/>
          </a:xfrm>
          <a:prstGeom prst="roundRect">
            <a:avLst>
              <a:gd fmla="val 8571" name="adj"/>
            </a:avLst>
          </a:prstGeom>
          <a:solidFill>
            <a:srgbClr val="F9F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2834580" y="2559248"/>
            <a:ext cx="2072580" cy="1333500"/>
          </a:xfrm>
          <a:prstGeom prst="roundRect">
            <a:avLst>
              <a:gd fmla="val 8571" name="adj"/>
            </a:avLst>
          </a:prstGeom>
          <a:solidFill>
            <a:srgbClr val="F9F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5059560" y="2559248"/>
            <a:ext cx="2072729" cy="1333500"/>
          </a:xfrm>
          <a:prstGeom prst="roundRect">
            <a:avLst>
              <a:gd fmla="val 8571" name="adj"/>
            </a:avLst>
          </a:prstGeom>
          <a:solidFill>
            <a:srgbClr val="FFF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7284690" y="2559248"/>
            <a:ext cx="2072580" cy="1333500"/>
          </a:xfrm>
          <a:prstGeom prst="roundRect">
            <a:avLst>
              <a:gd fmla="val 8571" name="adj"/>
            </a:avLst>
          </a:prstGeom>
          <a:solidFill>
            <a:srgbClr val="F9F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9509670" y="2559248"/>
            <a:ext cx="2072729" cy="1333500"/>
          </a:xfrm>
          <a:prstGeom prst="roundRect">
            <a:avLst>
              <a:gd fmla="val 8571" name="adj"/>
            </a:avLst>
          </a:prstGeom>
          <a:solidFill>
            <a:srgbClr val="F9F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609600" y="3883223"/>
            <a:ext cx="20725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609600" y="2559248"/>
            <a:ext cx="20725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609600" y="2559248"/>
            <a:ext cx="9525" cy="1333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2672655" y="2559248"/>
            <a:ext cx="9525" cy="1333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2834580" y="3883223"/>
            <a:ext cx="20725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2834580" y="2559248"/>
            <a:ext cx="20725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2834580" y="2559248"/>
            <a:ext cx="9525" cy="1333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4897635" y="2559248"/>
            <a:ext cx="9525" cy="1333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5059560" y="3883223"/>
            <a:ext cx="2072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5059560" y="2559248"/>
            <a:ext cx="2072729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5059560" y="2559248"/>
            <a:ext cx="9525" cy="1333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7122765" y="2559248"/>
            <a:ext cx="9525" cy="1333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7284690" y="3883223"/>
            <a:ext cx="207258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7284690" y="2559248"/>
            <a:ext cx="2072580" cy="38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7284690" y="2559248"/>
            <a:ext cx="9525" cy="1333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9347745" y="2559248"/>
            <a:ext cx="9525" cy="1333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9509670" y="3883223"/>
            <a:ext cx="20727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9509670" y="2559248"/>
            <a:ext cx="2072729" cy="38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9509670" y="2559248"/>
            <a:ext cx="9525" cy="1333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11572875" y="2559248"/>
            <a:ext cx="9525" cy="1333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742950" y="590550"/>
            <a:ext cx="17811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PLANIFICACIÓN GENERAL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609600" y="9620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Roadmap — Planificación y Avance del Proyecto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809625" y="4283273"/>
            <a:ext cx="11382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Hitos Clave del Cronograma (S1 a S18)</a:t>
            </a:r>
            <a:endParaRPr/>
          </a:p>
        </p:txBody>
      </p:sp>
      <p:sp>
        <p:nvSpPr>
          <p:cNvPr id="180" name="Google Shape;180;p3"/>
          <p:cNvSpPr txBox="1"/>
          <p:nvPr/>
        </p:nvSpPr>
        <p:spPr>
          <a:xfrm>
            <a:off x="847725" y="2825948"/>
            <a:ext cx="199541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F1 (S1–S4)</a:t>
            </a:r>
            <a:endParaRPr/>
          </a:p>
        </p:txBody>
      </p:sp>
      <p:sp>
        <p:nvSpPr>
          <p:cNvPr id="181" name="Google Shape;181;p3"/>
          <p:cNvSpPr txBox="1"/>
          <p:nvPr/>
        </p:nvSpPr>
        <p:spPr>
          <a:xfrm>
            <a:off x="847725" y="3045023"/>
            <a:ext cx="169158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Levantamiento y Diseño</a:t>
            </a:r>
            <a:endParaRPr/>
          </a:p>
        </p:txBody>
      </p:sp>
      <p:sp>
        <p:nvSpPr>
          <p:cNvPr id="182" name="Google Shape;182;p3"/>
          <p:cNvSpPr txBox="1"/>
          <p:nvPr/>
        </p:nvSpPr>
        <p:spPr>
          <a:xfrm>
            <a:off x="847725" y="3483173"/>
            <a:ext cx="199541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✓ Completado</a:t>
            </a:r>
            <a:endParaRPr/>
          </a:p>
        </p:txBody>
      </p:sp>
      <p:sp>
        <p:nvSpPr>
          <p:cNvPr id="183" name="Google Shape;183;p3"/>
          <p:cNvSpPr txBox="1"/>
          <p:nvPr/>
        </p:nvSpPr>
        <p:spPr>
          <a:xfrm>
            <a:off x="3072705" y="2825948"/>
            <a:ext cx="199541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F2 (S5–S8)</a:t>
            </a:r>
            <a:endParaRPr/>
          </a:p>
        </p:txBody>
      </p:sp>
      <p:sp>
        <p:nvSpPr>
          <p:cNvPr id="184" name="Google Shape;184;p3"/>
          <p:cNvSpPr txBox="1"/>
          <p:nvPr/>
        </p:nvSpPr>
        <p:spPr>
          <a:xfrm>
            <a:off x="3072705" y="3045023"/>
            <a:ext cx="169158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Backend, API REST &amp; BD</a:t>
            </a:r>
            <a:endParaRPr/>
          </a:p>
        </p:txBody>
      </p:sp>
      <p:sp>
        <p:nvSpPr>
          <p:cNvPr id="185" name="Google Shape;185;p3"/>
          <p:cNvSpPr txBox="1"/>
          <p:nvPr/>
        </p:nvSpPr>
        <p:spPr>
          <a:xfrm>
            <a:off x="3072705" y="3483173"/>
            <a:ext cx="199541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✓ Completado</a:t>
            </a:r>
            <a:endParaRPr/>
          </a:p>
        </p:txBody>
      </p:sp>
      <p:sp>
        <p:nvSpPr>
          <p:cNvPr id="186" name="Google Shape;186;p3"/>
          <p:cNvSpPr txBox="1"/>
          <p:nvPr/>
        </p:nvSpPr>
        <p:spPr>
          <a:xfrm>
            <a:off x="5297685" y="2825948"/>
            <a:ext cx="19955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F3 (S9–S13)</a:t>
            </a:r>
            <a:endParaRPr/>
          </a:p>
        </p:txBody>
      </p:sp>
      <p:sp>
        <p:nvSpPr>
          <p:cNvPr id="187" name="Google Shape;187;p3"/>
          <p:cNvSpPr txBox="1"/>
          <p:nvPr/>
        </p:nvSpPr>
        <p:spPr>
          <a:xfrm>
            <a:off x="5297685" y="3045023"/>
            <a:ext cx="169172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Desarrollo Web y Móvil</a:t>
            </a:r>
            <a:endParaRPr/>
          </a:p>
        </p:txBody>
      </p:sp>
      <p:sp>
        <p:nvSpPr>
          <p:cNvPr id="188" name="Google Shape;188;p3"/>
          <p:cNvSpPr txBox="1"/>
          <p:nvPr/>
        </p:nvSpPr>
        <p:spPr>
          <a:xfrm>
            <a:off x="5297685" y="3483173"/>
            <a:ext cx="199559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★ Semana Actual (S10)</a:t>
            </a:r>
            <a:endParaRPr/>
          </a:p>
        </p:txBody>
      </p:sp>
      <p:sp>
        <p:nvSpPr>
          <p:cNvPr id="189" name="Google Shape;189;p3"/>
          <p:cNvSpPr txBox="1"/>
          <p:nvPr/>
        </p:nvSpPr>
        <p:spPr>
          <a:xfrm>
            <a:off x="7522815" y="2825948"/>
            <a:ext cx="199541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F4 (S14–S16)</a:t>
            </a:r>
            <a:endParaRPr/>
          </a:p>
        </p:txBody>
      </p:sp>
      <p:sp>
        <p:nvSpPr>
          <p:cNvPr id="190" name="Google Shape;190;p3"/>
          <p:cNvSpPr txBox="1"/>
          <p:nvPr/>
        </p:nvSpPr>
        <p:spPr>
          <a:xfrm>
            <a:off x="7522815" y="3045023"/>
            <a:ext cx="169158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Compras y Administración</a:t>
            </a:r>
            <a:endParaRPr/>
          </a:p>
        </p:txBody>
      </p:sp>
      <p:sp>
        <p:nvSpPr>
          <p:cNvPr id="191" name="Google Shape;191;p3"/>
          <p:cNvSpPr txBox="1"/>
          <p:nvPr/>
        </p:nvSpPr>
        <p:spPr>
          <a:xfrm>
            <a:off x="7522815" y="3483173"/>
            <a:ext cx="199541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Planificado</a:t>
            </a:r>
            <a:endParaRPr/>
          </a:p>
        </p:txBody>
      </p:sp>
      <p:sp>
        <p:nvSpPr>
          <p:cNvPr id="192" name="Google Shape;192;p3"/>
          <p:cNvSpPr txBox="1"/>
          <p:nvPr/>
        </p:nvSpPr>
        <p:spPr>
          <a:xfrm>
            <a:off x="9747795" y="2825948"/>
            <a:ext cx="19955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F5 (S16–S18)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9747795" y="3045023"/>
            <a:ext cx="169172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Cierre, QA e Implementación</a:t>
            </a:r>
            <a:endParaRPr/>
          </a:p>
        </p:txBody>
      </p:sp>
      <p:sp>
        <p:nvSpPr>
          <p:cNvPr id="194" name="Google Shape;194;p3"/>
          <p:cNvSpPr txBox="1"/>
          <p:nvPr/>
        </p:nvSpPr>
        <p:spPr>
          <a:xfrm>
            <a:off x="9747795" y="3483173"/>
            <a:ext cx="199559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Planificado</a:t>
            </a:r>
            <a:endParaRPr/>
          </a:p>
        </p:txBody>
      </p:sp>
      <p:sp>
        <p:nvSpPr>
          <p:cNvPr id="195" name="Google Shape;195;p3"/>
          <p:cNvSpPr txBox="1"/>
          <p:nvPr/>
        </p:nvSpPr>
        <p:spPr>
          <a:xfrm>
            <a:off x="809625" y="4578548"/>
            <a:ext cx="4278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S1–S3:</a:t>
            </a: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Alcance, Acta y ERS inicial.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809625" y="4759523"/>
            <a:ext cx="4278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S4–S5:</a:t>
            </a: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ERS final y Modelamiento BD.</a:t>
            </a: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809625" y="4940498"/>
            <a:ext cx="42783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800">
                <a:solidFill>
                  <a:srgbClr val="63748A"/>
                </a:solidFill>
              </a:rPr>
              <a:t>COMPLETADO: </a:t>
            </a:r>
            <a:r>
              <a:rPr lang="en-US" sz="8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S1 a S8 (F1 Levantamiento + F2 Backend)</a:t>
            </a:r>
            <a:endParaRPr sz="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3"/>
          <p:cNvSpPr txBox="1"/>
          <p:nvPr/>
        </p:nvSpPr>
        <p:spPr>
          <a:xfrm>
            <a:off x="4384625" y="4578548"/>
            <a:ext cx="4278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S9–S10:</a:t>
            </a: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UI/UX Figma y </a:t>
            </a:r>
            <a:r>
              <a:rPr b="1" i="0" lang="en-US" sz="112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Desr. Web/Móvil (S10)</a:t>
            </a: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99" name="Google Shape;199;p3"/>
          <p:cNvSpPr txBox="1"/>
          <p:nvPr/>
        </p:nvSpPr>
        <p:spPr>
          <a:xfrm>
            <a:off x="4384625" y="4759523"/>
            <a:ext cx="4278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S11–S13:</a:t>
            </a: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Continuación Web/Móvil e Integración.</a:t>
            </a:r>
            <a:endParaRPr/>
          </a:p>
        </p:txBody>
      </p:sp>
      <p:sp>
        <p:nvSpPr>
          <p:cNvPr id="200" name="Google Shape;200;p3"/>
          <p:cNvSpPr txBox="1"/>
          <p:nvPr/>
        </p:nvSpPr>
        <p:spPr>
          <a:xfrm>
            <a:off x="4384625" y="4940498"/>
            <a:ext cx="427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"/>
          <p:cNvSpPr txBox="1"/>
          <p:nvPr/>
        </p:nvSpPr>
        <p:spPr>
          <a:xfrm>
            <a:off x="7959625" y="4578548"/>
            <a:ext cx="423237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S15:</a:t>
            </a: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Checkout en entorno de prueba.</a:t>
            </a:r>
            <a:endParaRPr/>
          </a:p>
        </p:txBody>
      </p:sp>
      <p:sp>
        <p:nvSpPr>
          <p:cNvPr id="202" name="Google Shape;202;p3"/>
          <p:cNvSpPr txBox="1"/>
          <p:nvPr/>
        </p:nvSpPr>
        <p:spPr>
          <a:xfrm>
            <a:off x="7959625" y="4759523"/>
            <a:ext cx="423237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S16:</a:t>
            </a: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Admin CRUD y Pruebas QA.</a:t>
            </a:r>
            <a:endParaRPr/>
          </a:p>
        </p:txBody>
      </p:sp>
      <p:sp>
        <p:nvSpPr>
          <p:cNvPr id="203" name="Google Shape;203;p3"/>
          <p:cNvSpPr txBox="1"/>
          <p:nvPr/>
        </p:nvSpPr>
        <p:spPr>
          <a:xfrm>
            <a:off x="7959625" y="4940498"/>
            <a:ext cx="423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3" title="Hoja de ruta Gantt con S10 resalt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525" y="1480100"/>
            <a:ext cx="11382374" cy="455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/>
          <p:cNvSpPr/>
          <p:nvPr/>
        </p:nvSpPr>
        <p:spPr>
          <a:xfrm>
            <a:off x="609600" y="533400"/>
            <a:ext cx="2505075" cy="276225"/>
          </a:xfrm>
          <a:prstGeom prst="roundRect">
            <a:avLst>
              <a:gd fmla="val 20689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609600" y="1768673"/>
            <a:ext cx="10972800" cy="3429000"/>
          </a:xfrm>
          <a:prstGeom prst="roundRect">
            <a:avLst>
              <a:gd fmla="val 3333" name="adj"/>
            </a:avLst>
          </a:prstGeom>
          <a:solidFill>
            <a:srgbClr val="E5E7EB"/>
          </a:solidFill>
          <a:ln cap="flat" cmpd="sng" w="1905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609600" y="5388173"/>
            <a:ext cx="10972800" cy="723900"/>
          </a:xfrm>
          <a:prstGeom prst="roundRect">
            <a:avLst>
              <a:gd fmla="val 15789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2" name="Google Shape;2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5975" y="295453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"/>
          <p:cNvSpPr txBox="1"/>
          <p:nvPr/>
        </p:nvSpPr>
        <p:spPr>
          <a:xfrm>
            <a:off x="742950" y="590550"/>
            <a:ext cx="2333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ARQUITECTURA DE PERSISTENCIA</a:t>
            </a:r>
            <a:endParaRPr/>
          </a:p>
        </p:txBody>
      </p:sp>
      <p:sp>
        <p:nvSpPr>
          <p:cNvPr id="214" name="Google Shape;214;p4"/>
          <p:cNvSpPr txBox="1"/>
          <p:nvPr/>
        </p:nvSpPr>
        <p:spPr>
          <a:xfrm>
            <a:off x="609600" y="9620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Modelo de Datos</a:t>
            </a:r>
            <a:endParaRPr/>
          </a:p>
        </p:txBody>
      </p:sp>
      <p:sp>
        <p:nvSpPr>
          <p:cNvPr id="215" name="Google Shape;215;p4"/>
          <p:cNvSpPr txBox="1"/>
          <p:nvPr/>
        </p:nvSpPr>
        <p:spPr>
          <a:xfrm>
            <a:off x="2518171" y="3526035"/>
            <a:ext cx="71556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[ INSERTAR AQUÍ IMAGEN DEL MODELO ENTIDAD-RELACIÓN ]</a:t>
            </a:r>
            <a:endParaRPr/>
          </a:p>
        </p:txBody>
      </p:sp>
      <p:sp>
        <p:nvSpPr>
          <p:cNvPr id="216" name="Google Shape;216;p4"/>
          <p:cNvSpPr txBox="1"/>
          <p:nvPr/>
        </p:nvSpPr>
        <p:spPr>
          <a:xfrm>
            <a:off x="3184921" y="3830835"/>
            <a:ext cx="58221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Espacio reservado para el MER normalizado del sistema FerreMundo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771525" y="5550098"/>
            <a:ext cx="114204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Modelo Entidad-Relación Normalizado — Entidades Oficiales:</a:t>
            </a:r>
            <a:endParaRPr/>
          </a:p>
        </p:txBody>
      </p:sp>
      <p:sp>
        <p:nvSpPr>
          <p:cNvPr id="218" name="Google Shape;218;p4"/>
          <p:cNvSpPr txBox="1"/>
          <p:nvPr/>
        </p:nvSpPr>
        <p:spPr>
          <a:xfrm>
            <a:off x="771525" y="5769173"/>
            <a:ext cx="11420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CLIENTE</a:t>
            </a: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| </a:t>
            </a:r>
            <a:r>
              <a:rPr b="1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CARRITO</a:t>
            </a: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| </a:t>
            </a:r>
            <a:r>
              <a:rPr b="1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ITEM_CARRITO</a:t>
            </a: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| </a:t>
            </a:r>
            <a:r>
              <a:rPr b="1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PRODUCTO</a:t>
            </a: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| </a:t>
            </a:r>
            <a:r>
              <a:rPr b="1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CATEGORIA</a:t>
            </a: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| </a:t>
            </a:r>
            <a:r>
              <a:rPr b="1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BOLETA</a:t>
            </a: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| </a:t>
            </a:r>
            <a:r>
              <a:rPr b="1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DETALLE_BOLETA</a:t>
            </a: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| </a:t>
            </a:r>
            <a:r>
              <a:rPr b="1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CODIGO_RECUPERACION</a:t>
            </a:r>
            <a:endParaRPr/>
          </a:p>
        </p:txBody>
      </p:sp>
      <p:pic>
        <p:nvPicPr>
          <p:cNvPr id="219" name="Google Shape;21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250" y="1409425"/>
            <a:ext cx="11049651" cy="3903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"/>
          <p:cNvSpPr/>
          <p:nvPr/>
        </p:nvSpPr>
        <p:spPr>
          <a:xfrm>
            <a:off x="609600" y="533400"/>
            <a:ext cx="2190750" cy="276225"/>
          </a:xfrm>
          <a:prstGeom prst="roundRect">
            <a:avLst>
              <a:gd fmla="val 20689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609600" y="1763017"/>
            <a:ext cx="10972800" cy="3048000"/>
          </a:xfrm>
          <a:prstGeom prst="roundRect">
            <a:avLst>
              <a:gd fmla="val 3750" name="adj"/>
            </a:avLst>
          </a:prstGeom>
          <a:solidFill>
            <a:srgbClr val="E5E7EB"/>
          </a:solidFill>
          <a:ln cap="flat" cmpd="sng" w="1905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556900" y="5484467"/>
            <a:ext cx="5391300" cy="1116300"/>
          </a:xfrm>
          <a:prstGeom prst="roundRect">
            <a:avLst>
              <a:gd fmla="val 10240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6138550" y="5484467"/>
            <a:ext cx="5391300" cy="1116300"/>
          </a:xfrm>
          <a:prstGeom prst="roundRect">
            <a:avLst>
              <a:gd fmla="val 10240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8" name="Google Shape;2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8825" y="275838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025" y="574164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6675" y="5741642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 txBox="1"/>
          <p:nvPr/>
        </p:nvSpPr>
        <p:spPr>
          <a:xfrm>
            <a:off x="742950" y="590550"/>
            <a:ext cx="2019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ESPECIFICACIÓN FUNCIONAL</a:t>
            </a:r>
            <a:endParaRPr/>
          </a:p>
        </p:txBody>
      </p:sp>
      <p:sp>
        <p:nvSpPr>
          <p:cNvPr id="232" name="Google Shape;232;p5"/>
          <p:cNvSpPr txBox="1"/>
          <p:nvPr/>
        </p:nvSpPr>
        <p:spPr>
          <a:xfrm>
            <a:off x="609600" y="9620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Casos de Uso</a:t>
            </a:r>
            <a:endParaRPr/>
          </a:p>
        </p:txBody>
      </p:sp>
      <p:sp>
        <p:nvSpPr>
          <p:cNvPr id="233" name="Google Shape;233;p5"/>
          <p:cNvSpPr txBox="1"/>
          <p:nvPr/>
        </p:nvSpPr>
        <p:spPr>
          <a:xfrm>
            <a:off x="2470546" y="3329880"/>
            <a:ext cx="72509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[ INSERTAR AQUÍ IMAGEN DEL DIAGRAMA DE CASOS DE USO ]</a:t>
            </a:r>
            <a:endParaRPr/>
          </a:p>
        </p:txBody>
      </p:sp>
      <p:sp>
        <p:nvSpPr>
          <p:cNvPr id="234" name="Google Shape;234;p5"/>
          <p:cNvSpPr txBox="1"/>
          <p:nvPr/>
        </p:nvSpPr>
        <p:spPr>
          <a:xfrm>
            <a:off x="2917031" y="3634680"/>
            <a:ext cx="6357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Diagrama general de casos de uso para los actores Cliente y Administrador</a:t>
            </a:r>
            <a:endParaRPr/>
          </a:p>
        </p:txBody>
      </p:sp>
      <p:sp>
        <p:nvSpPr>
          <p:cNvPr id="235" name="Google Shape;235;p5"/>
          <p:cNvSpPr txBox="1"/>
          <p:nvPr/>
        </p:nvSpPr>
        <p:spPr>
          <a:xfrm>
            <a:off x="795025" y="5722592"/>
            <a:ext cx="614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Actor CLIENTE</a:t>
            </a:r>
            <a:endParaRPr/>
          </a:p>
        </p:txBody>
      </p:sp>
      <p:sp>
        <p:nvSpPr>
          <p:cNvPr id="236" name="Google Shape;236;p5"/>
          <p:cNvSpPr txBox="1"/>
          <p:nvPr/>
        </p:nvSpPr>
        <p:spPr>
          <a:xfrm>
            <a:off x="795025" y="5989292"/>
            <a:ext cx="5010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Registrar cuenta, Iniciar sesión, Consultar productos, Gestionar carrito, Realizar compra, Historial de compras, Actualizar perfil, Recuperar contraseña.</a:t>
            </a:r>
            <a:endParaRPr/>
          </a:p>
        </p:txBody>
      </p:sp>
      <p:sp>
        <p:nvSpPr>
          <p:cNvPr id="237" name="Google Shape;237;p5"/>
          <p:cNvSpPr txBox="1"/>
          <p:nvPr/>
        </p:nvSpPr>
        <p:spPr>
          <a:xfrm>
            <a:off x="6376675" y="5722592"/>
            <a:ext cx="576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Actor ADMINISTRADOR</a:t>
            </a:r>
            <a:endParaRPr/>
          </a:p>
        </p:txBody>
      </p:sp>
      <p:sp>
        <p:nvSpPr>
          <p:cNvPr id="238" name="Google Shape;238;p5"/>
          <p:cNvSpPr txBox="1"/>
          <p:nvPr/>
        </p:nvSpPr>
        <p:spPr>
          <a:xfrm>
            <a:off x="6376675" y="5989292"/>
            <a:ext cx="5762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Gestionar productos, Gestionar categorías, Gestionar stock de inventario.</a:t>
            </a:r>
            <a:endParaRPr/>
          </a:p>
        </p:txBody>
      </p:sp>
      <p:pic>
        <p:nvPicPr>
          <p:cNvPr id="239" name="Google Shape;239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150" y="1340975"/>
            <a:ext cx="11091248" cy="4098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5fec9c797b8852b1_0_93"/>
          <p:cNvSpPr txBox="1"/>
          <p:nvPr/>
        </p:nvSpPr>
        <p:spPr>
          <a:xfrm>
            <a:off x="521017" y="368617"/>
            <a:ext cx="1929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245" name="Google Shape;245;h5fec9c797b8852b1_0_93"/>
          <p:cNvSpPr txBox="1"/>
          <p:nvPr>
            <p:ph type="title"/>
          </p:nvPr>
        </p:nvSpPr>
        <p:spPr>
          <a:xfrm>
            <a:off x="521017" y="530605"/>
            <a:ext cx="3495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1C1817"/>
                </a:solidFill>
              </a:rPr>
              <a:t>Plan de pruebas funcionales</a:t>
            </a:r>
            <a:endParaRPr sz="1950"/>
          </a:p>
        </p:txBody>
      </p:sp>
      <p:graphicFrame>
        <p:nvGraphicFramePr>
          <p:cNvPr id="246" name="Google Shape;246;h5fec9c797b8852b1_0_93"/>
          <p:cNvGraphicFramePr/>
          <p:nvPr/>
        </p:nvGraphicFramePr>
        <p:xfrm>
          <a:off x="533400" y="9619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{104A8B90-62B0-47FE-B39C-982F7566EF79}</a:tableStyleId>
              </a:tblPr>
              <a:tblGrid>
                <a:gridCol w="575300"/>
                <a:gridCol w="2103125"/>
                <a:gridCol w="8448050"/>
              </a:tblGrid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Código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350" marB="0" marR="0" marL="0">
                    <a:solidFill>
                      <a:srgbClr val="1E29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Caso de prueba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350" marB="0" marR="0" marL="0">
                    <a:solidFill>
                      <a:srgbClr val="1E29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Requisitos asociados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350" marB="0" marR="0" marL="0">
                    <a:solidFill>
                      <a:srgbClr val="1E293A"/>
                    </a:solidFill>
                  </a:tcPr>
                </a:tc>
              </a:tr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CP-01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97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Registro de usuario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97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RF-01: Registro de usuario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3975" marB="0" marR="0" marL="0">
                    <a:solidFill>
                      <a:srgbClr val="F8F9FB"/>
                    </a:solidFill>
                  </a:tcPr>
                </a:tc>
              </a:tr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CP-02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6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Inicio de sesión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6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RF-02: Inicio de sesión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600" marB="0" marR="0" marL="0"/>
                </a:tc>
              </a:tr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CP-03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5250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Consulta y búsqueda de productos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5250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RF-04: Consulta de productos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5250" marB="0" marR="0" marL="0">
                    <a:solidFill>
                      <a:srgbClr val="F8F9FB"/>
                    </a:solidFill>
                  </a:tcPr>
                </a:tc>
              </a:tr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CP-04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58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Gestión del carrito y cálculo del total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58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RF-0</a:t>
                      </a:r>
                      <a:r>
                        <a:rPr lang="en-US" sz="750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8</a:t>
                      </a: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: Agregar producto s al carrito; RF-0</a:t>
                      </a:r>
                      <a:r>
                        <a:rPr lang="en-US" sz="750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8</a:t>
                      </a: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: Modificar cantidades; RF-</a:t>
                      </a:r>
                      <a:r>
                        <a:rPr lang="en-US" sz="750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09</a:t>
                      </a: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: </a:t>
                      </a:r>
                      <a:r>
                        <a:rPr lang="en-US" sz="750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Eliminar</a:t>
                      </a: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750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productos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5875" marB="0" marR="0" marL="0"/>
                </a:tc>
              </a:tr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CP-05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52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Realización</a:t>
                      </a: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compra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52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RF-1</a:t>
                      </a:r>
                      <a:r>
                        <a:rPr lang="en-US" sz="750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: Realizar compra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6525" marB="0" marR="0" marL="0">
                    <a:solidFill>
                      <a:srgbClr val="F8F9FB"/>
                    </a:solidFill>
                  </a:tcPr>
                </a:tc>
              </a:tr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CP-06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Consulta del historial de compras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RF-</a:t>
                      </a:r>
                      <a:r>
                        <a:rPr lang="en-US" sz="750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05</a:t>
                      </a: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: Consultar historial de compras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7150" marB="0" marR="0" marL="0"/>
                </a:tc>
              </a:tr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CP-07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77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Gestión de productos por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administrador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667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RF-</a:t>
                      </a:r>
                      <a:r>
                        <a:rPr lang="en-US" sz="750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</a:t>
                      </a: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: Crear productos; RF-</a:t>
                      </a:r>
                      <a:r>
                        <a:rPr lang="en-US" sz="750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21</a:t>
                      </a: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: Consultar</a:t>
                      </a:r>
                      <a:r>
                        <a:rPr lang="en-US" sz="750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, RF-22</a:t>
                      </a: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modificar; RF-</a:t>
                      </a:r>
                      <a:r>
                        <a:rPr lang="en-US" sz="750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23</a:t>
                      </a: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: Eliminar productos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7775" marB="0" marR="0" marL="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10666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CP-08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7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10666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Recuperación</a:t>
                      </a: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contraseña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7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10666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Solicitar codigo de recuperacion RF:16, Validar Codigo RF:17, Restablecer contraseña RF:18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7775" marB="0" marR="0" marL="0"/>
                </a:tc>
              </a:tr>
            </a:tbl>
          </a:graphicData>
        </a:graphic>
      </p:graphicFrame>
      <p:grpSp>
        <p:nvGrpSpPr>
          <p:cNvPr id="247" name="Google Shape;247;h5fec9c797b8852b1_0_93"/>
          <p:cNvGrpSpPr/>
          <p:nvPr/>
        </p:nvGrpSpPr>
        <p:grpSpPr>
          <a:xfrm>
            <a:off x="533400" y="6124575"/>
            <a:ext cx="11125200" cy="352425"/>
            <a:chOff x="533400" y="6124575"/>
            <a:chExt cx="11125200" cy="352425"/>
          </a:xfrm>
        </p:grpSpPr>
        <p:sp>
          <p:nvSpPr>
            <p:cNvPr id="248" name="Google Shape;248;h5fec9c797b8852b1_0_93"/>
            <p:cNvSpPr/>
            <p:nvPr/>
          </p:nvSpPr>
          <p:spPr>
            <a:xfrm>
              <a:off x="533400" y="6124575"/>
              <a:ext cx="11125200" cy="352425"/>
            </a:xfrm>
            <a:custGeom>
              <a:rect b="b" l="l" r="r" t="t"/>
              <a:pathLst>
                <a:path extrusionOk="0" h="352425" w="11125200">
                  <a:moveTo>
                    <a:pt x="11125200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11125200" y="352425"/>
                  </a:lnTo>
                  <a:lnTo>
                    <a:pt x="11125200" y="0"/>
                  </a:lnTo>
                  <a:close/>
                </a:path>
              </a:pathLst>
            </a:custGeom>
            <a:solidFill>
              <a:srgbClr val="FFFA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h5fec9c797b8852b1_0_93"/>
            <p:cNvSpPr/>
            <p:nvPr/>
          </p:nvSpPr>
          <p:spPr>
            <a:xfrm>
              <a:off x="533400" y="6124575"/>
              <a:ext cx="38100" cy="352425"/>
            </a:xfrm>
            <a:custGeom>
              <a:rect b="b" l="l" r="r" t="t"/>
              <a:pathLst>
                <a:path extrusionOk="0" h="352425" w="38100">
                  <a:moveTo>
                    <a:pt x="38100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38100" y="35242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9770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" name="Google Shape;250;h5fec9c797b8852b1_0_93"/>
          <p:cNvSpPr txBox="1"/>
          <p:nvPr/>
        </p:nvSpPr>
        <p:spPr>
          <a:xfrm>
            <a:off x="571500" y="6246495"/>
            <a:ext cx="110871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8350E"/>
                </a:solidFill>
                <a:latin typeface="Arial"/>
                <a:ea typeface="Arial"/>
                <a:cs typeface="Arial"/>
                <a:sym typeface="Arial"/>
              </a:rPr>
              <a:t>Nota: “Los casos de prueba están documentados. Su ejecución y registro de resultados se realizarán durante la etapa de QA, según la planificación del proyecto”.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h5fec9c797b8852b1_0_93"/>
          <p:cNvSpPr/>
          <p:nvPr/>
        </p:nvSpPr>
        <p:spPr>
          <a:xfrm>
            <a:off x="571500" y="252275"/>
            <a:ext cx="2257500" cy="276300"/>
          </a:xfrm>
          <a:prstGeom prst="roundRect">
            <a:avLst>
              <a:gd fmla="val 20689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h5fec9c797b8852b1_0_93"/>
          <p:cNvSpPr txBox="1"/>
          <p:nvPr/>
        </p:nvSpPr>
        <p:spPr>
          <a:xfrm>
            <a:off x="609600" y="309575"/>
            <a:ext cx="2085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ASEGURAMIENTO DE CALIDAD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"/>
          <p:cNvSpPr/>
          <p:nvPr/>
        </p:nvSpPr>
        <p:spPr>
          <a:xfrm>
            <a:off x="609600" y="533400"/>
            <a:ext cx="2286000" cy="276225"/>
          </a:xfrm>
          <a:prstGeom prst="roundRect">
            <a:avLst>
              <a:gd fmla="val 20689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09600" y="3587948"/>
            <a:ext cx="10972800" cy="1666875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09600" y="2625923"/>
            <a:ext cx="2103090" cy="771525"/>
          </a:xfrm>
          <a:prstGeom prst="roundRect">
            <a:avLst>
              <a:gd fmla="val 14814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2826990" y="2625923"/>
            <a:ext cx="2103090" cy="771525"/>
          </a:xfrm>
          <a:prstGeom prst="roundRect">
            <a:avLst>
              <a:gd fmla="val 14814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5044380" y="2625923"/>
            <a:ext cx="2103090" cy="771525"/>
          </a:xfrm>
          <a:prstGeom prst="roundRect">
            <a:avLst>
              <a:gd fmla="val 14814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7261770" y="2625923"/>
            <a:ext cx="2103090" cy="771525"/>
          </a:xfrm>
          <a:prstGeom prst="roundRect">
            <a:avLst>
              <a:gd fmla="val 14814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9479160" y="2625923"/>
            <a:ext cx="2103239" cy="771525"/>
          </a:xfrm>
          <a:prstGeom prst="roundRect">
            <a:avLst>
              <a:gd fmla="val 14814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809625" y="4769048"/>
            <a:ext cx="10572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742950" y="590550"/>
            <a:ext cx="21145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ARQUITECTURA DE SOFTWARE</a:t>
            </a:r>
            <a:endParaRPr/>
          </a:p>
        </p:txBody>
      </p:sp>
      <p:sp>
        <p:nvSpPr>
          <p:cNvPr id="266" name="Google Shape;266;p7"/>
          <p:cNvSpPr txBox="1"/>
          <p:nvPr/>
        </p:nvSpPr>
        <p:spPr>
          <a:xfrm>
            <a:off x="609600" y="9620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Modelo 4+1 — Arquitectura y Tecnologías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809625" y="3787973"/>
            <a:ext cx="11382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Stack Tecnológico e Infraestructura Integrada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809625" y="4883348"/>
            <a:ext cx="1066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Servicios Integrados:</a:t>
            </a: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Cloudinary (Imágenes) • Google Cloud (Recup. Contraseña) • Mercado Pago Sandbox (Pagos)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752475" y="2768798"/>
            <a:ext cx="22716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Vista Lógica</a:t>
            </a:r>
            <a:endParaRPr/>
          </a:p>
        </p:txBody>
      </p:sp>
      <p:sp>
        <p:nvSpPr>
          <p:cNvPr id="270" name="Google Shape;270;p7"/>
          <p:cNvSpPr txBox="1"/>
          <p:nvPr/>
        </p:nvSpPr>
        <p:spPr>
          <a:xfrm>
            <a:off x="752475" y="2968823"/>
            <a:ext cx="19125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Usuarios, Productos, Categorías, Stock, Carrito y Compras.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2969865" y="2768798"/>
            <a:ext cx="22716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Desarrollo</a:t>
            </a:r>
            <a:endParaRPr/>
          </a:p>
        </p:txBody>
      </p:sp>
      <p:sp>
        <p:nvSpPr>
          <p:cNvPr id="272" name="Google Shape;272;p7"/>
          <p:cNvSpPr txBox="1"/>
          <p:nvPr/>
        </p:nvSpPr>
        <p:spPr>
          <a:xfrm>
            <a:off x="2969865" y="2968823"/>
            <a:ext cx="19125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Presentación → Lógica → Datos → Externos.</a:t>
            </a:r>
            <a:endParaRPr/>
          </a:p>
        </p:txBody>
      </p:sp>
      <p:sp>
        <p:nvSpPr>
          <p:cNvPr id="273" name="Google Shape;273;p7"/>
          <p:cNvSpPr txBox="1"/>
          <p:nvPr/>
        </p:nvSpPr>
        <p:spPr>
          <a:xfrm>
            <a:off x="5187255" y="2768798"/>
            <a:ext cx="22716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Procesos</a:t>
            </a:r>
            <a:endParaRPr/>
          </a:p>
        </p:txBody>
      </p:sp>
      <p:sp>
        <p:nvSpPr>
          <p:cNvPr id="274" name="Google Shape;274;p7"/>
          <p:cNvSpPr txBox="1"/>
          <p:nvPr/>
        </p:nvSpPr>
        <p:spPr>
          <a:xfrm>
            <a:off x="5187255" y="2968823"/>
            <a:ext cx="19125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Web/Móvil → API REST → Lógica → Datos/Servicios.</a:t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7404645" y="2768798"/>
            <a:ext cx="22716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Vista Física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7404645" y="2968823"/>
            <a:ext cx="19125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Dispositivos → Render → Neon + Servicios externos.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9622035" y="2768798"/>
            <a:ext cx="227186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+1 Escenarios</a:t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>
            <a:off x="9622035" y="2968823"/>
            <a:ext cx="19127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Registro, consulta productos, carrito y compra.</a:t>
            </a:r>
            <a:endParaRPr/>
          </a:p>
        </p:txBody>
      </p:sp>
      <p:sp>
        <p:nvSpPr>
          <p:cNvPr id="279" name="Google Shape;279;p7"/>
          <p:cNvSpPr txBox="1"/>
          <p:nvPr/>
        </p:nvSpPr>
        <p:spPr>
          <a:xfrm>
            <a:off x="809625" y="4092773"/>
            <a:ext cx="4278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1. Plataformas de Usuario</a:t>
            </a:r>
            <a:endParaRPr/>
          </a:p>
        </p:txBody>
      </p:sp>
      <p:sp>
        <p:nvSpPr>
          <p:cNvPr id="280" name="Google Shape;280;p7"/>
          <p:cNvSpPr txBox="1"/>
          <p:nvPr/>
        </p:nvSpPr>
        <p:spPr>
          <a:xfrm>
            <a:off x="809625" y="4292798"/>
            <a:ext cx="3517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Sitio Web + App Móvil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Ionic • Angular • Capacitor • HTML/CSS/JS</a:t>
            </a:r>
            <a:endParaRPr/>
          </a:p>
        </p:txBody>
      </p:sp>
      <p:sp>
        <p:nvSpPr>
          <p:cNvPr id="281" name="Google Shape;281;p7"/>
          <p:cNvSpPr txBox="1"/>
          <p:nvPr/>
        </p:nvSpPr>
        <p:spPr>
          <a:xfrm>
            <a:off x="4384625" y="4092773"/>
            <a:ext cx="4278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2. Backend &amp; API REST</a:t>
            </a:r>
            <a:endParaRPr/>
          </a:p>
        </p:txBody>
      </p:sp>
      <p:sp>
        <p:nvSpPr>
          <p:cNvPr id="282" name="Google Shape;282;p7"/>
          <p:cNvSpPr txBox="1"/>
          <p:nvPr/>
        </p:nvSpPr>
        <p:spPr>
          <a:xfrm>
            <a:off x="4384625" y="4292798"/>
            <a:ext cx="3517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Lógica central de negocio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Python • Django • Django REST Framework</a:t>
            </a:r>
            <a:endParaRPr/>
          </a:p>
        </p:txBody>
      </p:sp>
      <p:sp>
        <p:nvSpPr>
          <p:cNvPr id="283" name="Google Shape;283;p7"/>
          <p:cNvSpPr txBox="1"/>
          <p:nvPr/>
        </p:nvSpPr>
        <p:spPr>
          <a:xfrm>
            <a:off x="7959625" y="4092773"/>
            <a:ext cx="423237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3. Base de Datos &amp; Cloud</a:t>
            </a:r>
            <a:endParaRPr/>
          </a:p>
        </p:txBody>
      </p:sp>
      <p:sp>
        <p:nvSpPr>
          <p:cNvPr id="284" name="Google Shape;284;p7"/>
          <p:cNvSpPr txBox="1"/>
          <p:nvPr/>
        </p:nvSpPr>
        <p:spPr>
          <a:xfrm>
            <a:off x="7959625" y="4292798"/>
            <a:ext cx="35179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Persistencia y Despliegue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PostgreSQL (Neon) • Render (Cloud)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"/>
          <p:cNvSpPr/>
          <p:nvPr/>
        </p:nvSpPr>
        <p:spPr>
          <a:xfrm>
            <a:off x="609600" y="533400"/>
            <a:ext cx="2238375" cy="276225"/>
          </a:xfrm>
          <a:prstGeom prst="roundRect">
            <a:avLst>
              <a:gd fmla="val 20689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609600" y="1556295"/>
            <a:ext cx="5372100" cy="4768304"/>
          </a:xfrm>
          <a:prstGeom prst="roundRect">
            <a:avLst>
              <a:gd fmla="val 2397" name="adj"/>
            </a:avLst>
          </a:prstGeom>
          <a:solidFill>
            <a:srgbClr val="ECFDF5"/>
          </a:solidFill>
          <a:ln cap="flat" cmpd="sng" w="9525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210300" y="1556295"/>
            <a:ext cx="5372100" cy="4768304"/>
          </a:xfrm>
          <a:prstGeom prst="roundRect">
            <a:avLst>
              <a:gd fmla="val 2397" name="adj"/>
            </a:avLst>
          </a:prstGeom>
          <a:solidFill>
            <a:srgbClr val="FFFBEB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2" name="Google Shape;2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97358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307836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332601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361176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389751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418326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446901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475476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343078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373558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404038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434518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464998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8"/>
          <p:cNvSpPr txBox="1"/>
          <p:nvPr/>
        </p:nvSpPr>
        <p:spPr>
          <a:xfrm>
            <a:off x="742950" y="590550"/>
            <a:ext cx="2066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SEGUIMIENTO DEL PROYECTO</a:t>
            </a:r>
            <a:endParaRPr/>
          </a:p>
        </p:txBody>
      </p:sp>
      <p:sp>
        <p:nvSpPr>
          <p:cNvPr id="306" name="Google Shape;306;p8"/>
          <p:cNvSpPr txBox="1"/>
          <p:nvPr/>
        </p:nvSpPr>
        <p:spPr>
          <a:xfrm>
            <a:off x="609600" y="9620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Estado Actual — Semana 10</a:t>
            </a:r>
            <a:endParaRPr/>
          </a:p>
        </p:txBody>
      </p:sp>
      <p:sp>
        <p:nvSpPr>
          <p:cNvPr id="307" name="Google Shape;307;p8"/>
          <p:cNvSpPr txBox="1"/>
          <p:nvPr/>
        </p:nvSpPr>
        <p:spPr>
          <a:xfrm>
            <a:off x="847725" y="2954535"/>
            <a:ext cx="6119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Completado / Avanzado</a:t>
            </a:r>
            <a:endParaRPr/>
          </a:p>
        </p:txBody>
      </p:sp>
      <p:sp>
        <p:nvSpPr>
          <p:cNvPr id="308" name="Google Shape;308;p8"/>
          <p:cNvSpPr txBox="1"/>
          <p:nvPr/>
        </p:nvSpPr>
        <p:spPr>
          <a:xfrm>
            <a:off x="6448425" y="3059310"/>
            <a:ext cx="5743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En Desarrollo / Próximos Pasos</a:t>
            </a:r>
            <a:endParaRPr/>
          </a:p>
        </p:txBody>
      </p:sp>
      <p:sp>
        <p:nvSpPr>
          <p:cNvPr id="309" name="Google Shape;309;p8"/>
          <p:cNvSpPr txBox="1"/>
          <p:nvPr/>
        </p:nvSpPr>
        <p:spPr>
          <a:xfrm>
            <a:off x="847725" y="3306960"/>
            <a:ext cx="61198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rPr>
              <a:t>Levantamiento de requisitos y planificación Waterfall.</a:t>
            </a:r>
            <a:endParaRPr/>
          </a:p>
        </p:txBody>
      </p:sp>
      <p:sp>
        <p:nvSpPr>
          <p:cNvPr id="310" name="Google Shape;310;p8"/>
          <p:cNvSpPr txBox="1"/>
          <p:nvPr/>
        </p:nvSpPr>
        <p:spPr>
          <a:xfrm>
            <a:off x="847725" y="3592710"/>
            <a:ext cx="61198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rPr>
              <a:t>Modelo de datos (MER) y casos de uso definidos.</a:t>
            </a:r>
            <a:endParaRPr/>
          </a:p>
        </p:txBody>
      </p:sp>
      <p:sp>
        <p:nvSpPr>
          <p:cNvPr id="311" name="Google Shape;311;p8"/>
          <p:cNvSpPr txBox="1"/>
          <p:nvPr/>
        </p:nvSpPr>
        <p:spPr>
          <a:xfrm>
            <a:off x="847725" y="3878460"/>
            <a:ext cx="61198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rPr>
              <a:t>Backend Django y API REST desarrollados en fase previa.</a:t>
            </a:r>
            <a:endParaRPr/>
          </a:p>
        </p:txBody>
      </p:sp>
      <p:sp>
        <p:nvSpPr>
          <p:cNvPr id="312" name="Google Shape;312;p8"/>
          <p:cNvSpPr txBox="1"/>
          <p:nvPr/>
        </p:nvSpPr>
        <p:spPr>
          <a:xfrm>
            <a:off x="847725" y="4164210"/>
            <a:ext cx="61198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rPr>
              <a:t>Desarrollo avanzado de la plataforma web.</a:t>
            </a:r>
            <a:endParaRPr/>
          </a:p>
        </p:txBody>
      </p:sp>
      <p:sp>
        <p:nvSpPr>
          <p:cNvPr id="313" name="Google Shape;313;p8"/>
          <p:cNvSpPr txBox="1"/>
          <p:nvPr/>
        </p:nvSpPr>
        <p:spPr>
          <a:xfrm>
            <a:off x="847725" y="4449960"/>
            <a:ext cx="61198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rPr>
              <a:t>Aplicación móvil compilada y pantallas principales listas.</a:t>
            </a:r>
            <a:endParaRPr/>
          </a:p>
        </p:txBody>
      </p:sp>
      <p:sp>
        <p:nvSpPr>
          <p:cNvPr id="314" name="Google Shape;314;p8"/>
          <p:cNvSpPr txBox="1"/>
          <p:nvPr/>
        </p:nvSpPr>
        <p:spPr>
          <a:xfrm>
            <a:off x="847725" y="4735710"/>
            <a:ext cx="61198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rPr>
              <a:t>Casos de prueba documentados (CP-01 a CP-08).</a:t>
            </a:r>
            <a:endParaRPr/>
          </a:p>
        </p:txBody>
      </p:sp>
      <p:sp>
        <p:nvSpPr>
          <p:cNvPr id="315" name="Google Shape;315;p8"/>
          <p:cNvSpPr txBox="1"/>
          <p:nvPr/>
        </p:nvSpPr>
        <p:spPr>
          <a:xfrm>
            <a:off x="6448425" y="3411735"/>
            <a:ext cx="5743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Continuar el desarrollo de las plataformas Web y Móvil.</a:t>
            </a:r>
            <a:endParaRPr/>
          </a:p>
        </p:txBody>
      </p:sp>
      <p:sp>
        <p:nvSpPr>
          <p:cNvPr id="316" name="Google Shape;316;p8"/>
          <p:cNvSpPr txBox="1"/>
          <p:nvPr/>
        </p:nvSpPr>
        <p:spPr>
          <a:xfrm>
            <a:off x="6448425" y="3716535"/>
            <a:ext cx="5743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Completar funcionalidades pendientes de negocio.</a:t>
            </a:r>
            <a:endParaRPr/>
          </a:p>
        </p:txBody>
      </p:sp>
      <p:sp>
        <p:nvSpPr>
          <p:cNvPr id="317" name="Google Shape;317;p8"/>
          <p:cNvSpPr txBox="1"/>
          <p:nvPr/>
        </p:nvSpPr>
        <p:spPr>
          <a:xfrm>
            <a:off x="6448425" y="4021335"/>
            <a:ext cx="5743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Avanzar en la integración robusta con la API REST.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6448425" y="4326135"/>
            <a:ext cx="5743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Preparar ejecución formal de pruebas QA (Semana 16).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6448425" y="4630935"/>
            <a:ext cx="5743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Despliegue final en la nube y presentación final (S17-S18).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"/>
          <p:cNvSpPr/>
          <p:nvPr/>
        </p:nvSpPr>
        <p:spPr>
          <a:xfrm>
            <a:off x="2286000" y="395094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2286000" y="4703415"/>
            <a:ext cx="7620000" cy="9525"/>
          </a:xfrm>
          <a:prstGeom prst="rect">
            <a:avLst/>
          </a:prstGeom>
          <a:solidFill>
            <a:srgbClr val="444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2286000" y="3950940"/>
            <a:ext cx="7620000" cy="9525"/>
          </a:xfrm>
          <a:prstGeom prst="rect">
            <a:avLst/>
          </a:prstGeom>
          <a:solidFill>
            <a:srgbClr val="444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7" name="Google Shape;3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383059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4550" y="1535459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1"/>
          <p:cNvSpPr txBox="1"/>
          <p:nvPr/>
        </p:nvSpPr>
        <p:spPr>
          <a:xfrm>
            <a:off x="1095375" y="2221259"/>
            <a:ext cx="10001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FerreMundo</a:t>
            </a:r>
            <a:endParaRPr/>
          </a:p>
        </p:txBody>
      </p:sp>
      <p:sp>
        <p:nvSpPr>
          <p:cNvPr id="330" name="Google Shape;330;p11"/>
          <p:cNvSpPr txBox="1"/>
          <p:nvPr/>
        </p:nvSpPr>
        <p:spPr>
          <a:xfrm>
            <a:off x="1333500" y="3021359"/>
            <a:ext cx="9525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6D3D1"/>
                </a:solidFill>
                <a:latin typeface="Inter"/>
                <a:ea typeface="Inter"/>
                <a:cs typeface="Inter"/>
                <a:sym typeface="Inter"/>
              </a:rPr>
              <a:t>Sistema integrado para la gestión y comercialización de productos de la Ferretería ConstruMax.</a:t>
            </a:r>
            <a:endParaRPr/>
          </a:p>
        </p:txBody>
      </p:sp>
      <p:sp>
        <p:nvSpPr>
          <p:cNvPr id="331" name="Google Shape;331;p11"/>
          <p:cNvSpPr txBox="1"/>
          <p:nvPr/>
        </p:nvSpPr>
        <p:spPr>
          <a:xfrm>
            <a:off x="1095375" y="5055840"/>
            <a:ext cx="10001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¡Gracias!</a:t>
            </a:r>
            <a:endParaRPr/>
          </a:p>
        </p:txBody>
      </p:sp>
      <p:sp>
        <p:nvSpPr>
          <p:cNvPr id="332" name="Google Shape;332;p11"/>
          <p:cNvSpPr txBox="1"/>
          <p:nvPr/>
        </p:nvSpPr>
        <p:spPr>
          <a:xfrm>
            <a:off x="3521868" y="4150965"/>
            <a:ext cx="16906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DESARROLLO &amp; QA</a:t>
            </a:r>
            <a:endParaRPr/>
          </a:p>
        </p:txBody>
      </p:sp>
      <p:sp>
        <p:nvSpPr>
          <p:cNvPr id="333" name="Google Shape;333;p11"/>
          <p:cNvSpPr txBox="1"/>
          <p:nvPr/>
        </p:nvSpPr>
        <p:spPr>
          <a:xfrm>
            <a:off x="3521868" y="4312890"/>
            <a:ext cx="1690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Jonatan Gordillo</a:t>
            </a:r>
            <a:endParaRPr/>
          </a:p>
        </p:txBody>
      </p:sp>
      <p:sp>
        <p:nvSpPr>
          <p:cNvPr id="334" name="Google Shape;334;p11"/>
          <p:cNvSpPr txBox="1"/>
          <p:nvPr/>
        </p:nvSpPr>
        <p:spPr>
          <a:xfrm>
            <a:off x="5263753" y="4150965"/>
            <a:ext cx="160734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/>
          </a:p>
        </p:txBody>
      </p:sp>
      <p:sp>
        <p:nvSpPr>
          <p:cNvPr id="335" name="Google Shape;335;p11"/>
          <p:cNvSpPr txBox="1"/>
          <p:nvPr/>
        </p:nvSpPr>
        <p:spPr>
          <a:xfrm>
            <a:off x="5263753" y="4312890"/>
            <a:ext cx="16073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Alan Cruz</a:t>
            </a:r>
            <a:endParaRPr/>
          </a:p>
        </p:txBody>
      </p:sp>
      <p:sp>
        <p:nvSpPr>
          <p:cNvPr id="336" name="Google Shape;336;p11"/>
          <p:cNvSpPr txBox="1"/>
          <p:nvPr/>
        </p:nvSpPr>
        <p:spPr>
          <a:xfrm>
            <a:off x="6915150" y="4150965"/>
            <a:ext cx="17621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ASIGNATURA</a:t>
            </a:r>
            <a:endParaRPr/>
          </a:p>
        </p:txBody>
      </p:sp>
      <p:sp>
        <p:nvSpPr>
          <p:cNvPr id="337" name="Google Shape;337;p11"/>
          <p:cNvSpPr txBox="1"/>
          <p:nvPr/>
        </p:nvSpPr>
        <p:spPr>
          <a:xfrm>
            <a:off x="6915150" y="4312890"/>
            <a:ext cx="1762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CAPSTONE_011V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